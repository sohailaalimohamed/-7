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XM Traffic Bold" charset="1" panose="02000803080000020004"/>
      <p:regular r:id="rId15"/>
    </p:embeddedFont>
    <p:embeddedFont>
      <p:font typeface="XM Traffic" charset="1" panose="02000503080000020004"/>
      <p:regular r:id="rId16"/>
    </p:embeddedFont>
    <p:embeddedFont>
      <p:font typeface="Arial Bold" charset="1" panose="020B0704020202020204"/>
      <p:regular r:id="rId17"/>
    </p:embeddedFont>
    <p:embeddedFont>
      <p:font typeface="Arial" charset="1" panose="020B060402020202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notesSlides/notesSlide2.xml" Type="http://schemas.openxmlformats.org/officeDocument/2006/relationships/notesSlide"/><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مزرعة نخيل واسعة، يظهر فيها هب بتصميم طبيعي مع جلسات ومقهى وأكشاك للمنتجات المحلية.</a:t>
            </a:r>
          </a:p>
          <a:p>
            <a:r>
              <a:rPr lang="en-US"/>
              <a:t>(تصور تطويري مقترح وليس مشروعًا منفذًا)</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مسار وسط النخيل مع دراجات هوائية ودبابات مخصصة للجولات المنظمة ونقطة استراحة طبيعية.</a:t>
            </a:r>
          </a:p>
          <a:p>
            <a:r>
              <a:rPr lang="en-US"/>
              <a:t>(تصور تطويري مقترح وليس مشروعًا منفذًا)</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مخيم أنيق في الطبيعة، بخيام وجلسات خارجية وإضاءة مسائية دافئة، مع إبراز الخصوصية والهدوء.</a:t>
            </a:r>
          </a:p>
          <a:p>
            <a:r>
              <a:rPr lang="en-US"/>
              <a:t>(تصور تطويري مقترح وليس مشروعًا منفذًا)</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لمساحة استجمام بتصميم طبيعي، مع منطقة عناية وأرفف منتجات وإضاءة دافئة.</a:t>
            </a:r>
          </a:p>
          <a:p>
            <a:r>
              <a:rPr lang="en-US"/>
              <a:t>(تصور تطويري مقترح وليس مشروعًا منفذًا)</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صورة لسوق حليوة أو سوق المجلس في شقراء، مع تصور بصري لتحسين الإضاءة واللوحات والتنظيم.</a:t>
            </a:r>
          </a:p>
          <a:p>
            <a:r>
              <a:rPr lang="en-US"/>
              <a:t>(تصور تطويري مقترح وليس مشروعًا منفذًا)</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الصورة المقترحة: تصور متكامل للمنتزه يضم منطقة طعام خارجية، وألعاب أطفال، وجلسات عائلية، وأكشاك منتجات محلية، مع إبراز الإطلالة.</a:t>
            </a:r>
          </a:p>
          <a:p>
            <a:r>
              <a:rPr lang="en-US"/>
              <a:t>(تصور تطويري مقترح وليس مشروعًا منفذًا)</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jpeg" Type="http://schemas.openxmlformats.org/officeDocument/2006/relationships/image"/><Relationship Id="rId11" Target="../media/image14.png" Type="http://schemas.openxmlformats.org/officeDocument/2006/relationships/image"/><Relationship Id="rId2" Target="../notesSlides/notesSlide1.xml" Type="http://schemas.openxmlformats.org/officeDocument/2006/relationships/notesSlide"/><Relationship Id="rId3" Target="../media/image10.png" Type="http://schemas.openxmlformats.org/officeDocument/2006/relationships/image"/><Relationship Id="rId4" Target="../media/image4.jpeg" Type="http://schemas.openxmlformats.org/officeDocument/2006/relationships/image"/><Relationship Id="rId5" Target="../media/image11.jpeg" Type="http://schemas.openxmlformats.org/officeDocument/2006/relationships/image"/><Relationship Id="rId6" Target="../media/image12.png" Type="http://schemas.openxmlformats.org/officeDocument/2006/relationships/image"/><Relationship Id="rId7" Target="https://www.google.com/maps/search/?api=1&amp;query=%D9%85%D8%B2%D8%A7%D8%B1%D8%B9%20%D8%A7%D9%84%D8%AC%D9%88%20%D8%A7%D9%84%D9%85%D8%AC%D9%85%D8%B9%D8%A9" TargetMode="External" Type="http://schemas.openxmlformats.org/officeDocument/2006/relationships/hyperlink"/><Relationship Id="rId8" Target="../media/image13.png" Type="http://schemas.openxmlformats.org/officeDocument/2006/relationships/image"/><Relationship Id="rId9" Target="https://maps.app.goo.gl/PcG3u6xeZU9a99fs9?g_st=iw"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11" Target="../media/image17.png" Type="http://schemas.openxmlformats.org/officeDocument/2006/relationships/image"/><Relationship Id="rId2" Target="../notesSlides/notesSlide2.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15.jpeg" Type="http://schemas.openxmlformats.org/officeDocument/2006/relationships/image"/><Relationship Id="rId6" Target="https://www.google.com/maps/search/?api=1&amp;query=%D9%85%D8%B2%D8%A7%D8%B1%D8%B9%20%D8%A7%D9%84%D8%AC%D9%88%20%D8%A7%D9%84%D9%85%D8%AC%D9%85%D8%B9%D8%A9" TargetMode="External" Type="http://schemas.openxmlformats.org/officeDocument/2006/relationships/hyperlink"/><Relationship Id="rId7" Target="../media/image16.png" Type="http://schemas.openxmlformats.org/officeDocument/2006/relationships/image"/><Relationship Id="rId8" Target="https://maps.app.goo.gl/PcG3u6xeZU9a99fs9?g_st=iw" TargetMode="External" Type="http://schemas.openxmlformats.org/officeDocument/2006/relationships/hyperlink"/><Relationship Id="rId9"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jpeg" Type="http://schemas.openxmlformats.org/officeDocument/2006/relationships/image"/><Relationship Id="rId12" Target="../media/image2.jpeg" Type="http://schemas.openxmlformats.org/officeDocument/2006/relationships/image"/><Relationship Id="rId13" Target="../media/image21.png" Type="http://schemas.openxmlformats.org/officeDocument/2006/relationships/image"/><Relationship Id="rId14" Target="../media/image22.png" Type="http://schemas.openxmlformats.org/officeDocument/2006/relationships/image"/><Relationship Id="rId15" Target="../media/image23.png" Type="http://schemas.openxmlformats.org/officeDocument/2006/relationships/image"/><Relationship Id="rId16" Target="../media/image24.png" Type="http://schemas.openxmlformats.org/officeDocument/2006/relationships/image"/><Relationship Id="rId17" Target="../media/image14.png"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18.png" Type="http://schemas.openxmlformats.org/officeDocument/2006/relationships/image"/><Relationship Id="rId5" Target="../media/image4.jpeg" Type="http://schemas.openxmlformats.org/officeDocument/2006/relationships/image"/><Relationship Id="rId6" Target="https://www.google.com/maps/search/?api=1&amp;query=%D8%A7%D9%84%D9%82%D8%B5%D8%A8%20%D8%A7%D9%84%D9%85%D8%AC%D9%85%D8%B9%D8%A9" TargetMode="External" Type="http://schemas.openxmlformats.org/officeDocument/2006/relationships/hyperlink"/><Relationship Id="rId7" Target="../media/image16.png" Type="http://schemas.openxmlformats.org/officeDocument/2006/relationships/image"/><Relationship Id="rId8" Target="https://maps.app.goo.gl/hdbMGtBSv38Tk5o3A?g_st=iw" TargetMode="External" Type="http://schemas.openxmlformats.org/officeDocument/2006/relationships/hyperlink"/><Relationship Id="rId9" Target="https://maps.app.goo.gl/hdbMGtBSv38Tk5o3A?g_st=iw"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https://maps.app.goo.gl/hdbMGtBSv38Tk5o3A?g_st=iw" TargetMode="External" Type="http://schemas.openxmlformats.org/officeDocument/2006/relationships/hyperlink"/><Relationship Id="rId11" Target="../media/image26.jpeg" Type="http://schemas.openxmlformats.org/officeDocument/2006/relationships/image"/><Relationship Id="rId12" Target="../media/image2.jpeg" Type="http://schemas.openxmlformats.org/officeDocument/2006/relationships/image"/><Relationship Id="rId13" Target="../media/image17.png" Type="http://schemas.openxmlformats.org/officeDocument/2006/relationships/image"/><Relationship Id="rId14" Target="../media/image27.png" Type="http://schemas.openxmlformats.org/officeDocument/2006/relationships/image"/><Relationship Id="rId2" Target="../notesSlides/notesSlide4.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25.jpeg" Type="http://schemas.openxmlformats.org/officeDocument/2006/relationships/image"/><Relationship Id="rId6" Target="../media/image18.png" Type="http://schemas.openxmlformats.org/officeDocument/2006/relationships/image"/><Relationship Id="rId7" Target="https://www.google.com/maps/search/?api=1&amp;query=%D8%A7%D9%84%D9%82%D8%B5%D8%A8%20%D8%A7%D9%84%D9%85%D8%AC%D9%85%D8%B9%D8%A9" TargetMode="External" Type="http://schemas.openxmlformats.org/officeDocument/2006/relationships/hyperlink"/><Relationship Id="rId8" Target="../media/image16.png" Type="http://schemas.openxmlformats.org/officeDocument/2006/relationships/image"/><Relationship Id="rId9" Target="https://maps.app.goo.gl/hdbMGtBSv38Tk5o3A?g_st=iw"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https://maps.app.goo.gl/xvrjnFNzScNhKAjUA?g_st=iw" TargetMode="External" Type="http://schemas.openxmlformats.org/officeDocument/2006/relationships/hyperlink"/><Relationship Id="rId11" Target="../media/image2.jpeg" Type="http://schemas.openxmlformats.org/officeDocument/2006/relationships/image"/><Relationship Id="rId12" Target="../media/image8.png" Type="http://schemas.openxmlformats.org/officeDocument/2006/relationships/image"/><Relationship Id="rId13" Target="../media/image14.png" Type="http://schemas.openxmlformats.org/officeDocument/2006/relationships/image"/><Relationship Id="rId2" Target="../media/image1.png" Type="http://schemas.openxmlformats.org/officeDocument/2006/relationships/image"/><Relationship Id="rId3" Target="../media/image4.jpeg" Type="http://schemas.openxmlformats.org/officeDocument/2006/relationships/image"/><Relationship Id="rId4" Target="../media/image28.jpe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https://www.google.com/maps/search/?api=1&amp;query=%D9%85%D9%84%D9%87%D9%85" TargetMode="External" Type="http://schemas.openxmlformats.org/officeDocument/2006/relationships/hyperlink"/><Relationship Id="rId9"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jpeg" Type="http://schemas.openxmlformats.org/officeDocument/2006/relationships/image"/><Relationship Id="rId11" Target="../media/image14.png" Type="http://schemas.openxmlformats.org/officeDocument/2006/relationships/image"/><Relationship Id="rId12" Target="../media/image17.png" Type="http://schemas.openxmlformats.org/officeDocument/2006/relationships/image"/><Relationship Id="rId13" Target="../media/image27.png" Type="http://schemas.openxmlformats.org/officeDocument/2006/relationships/image"/><Relationship Id="rId2" Target="../media/image10.png" Type="http://schemas.openxmlformats.org/officeDocument/2006/relationships/image"/><Relationship Id="rId3" Target="../media/image32.png" Type="http://schemas.openxmlformats.org/officeDocument/2006/relationships/image"/><Relationship Id="rId4" Target="../media/image4.jpeg" Type="http://schemas.openxmlformats.org/officeDocument/2006/relationships/image"/><Relationship Id="rId5" Target="https://www.google.com/maps/search/?api=1&amp;query=%D9%85%D9%84%D9%87%D9%85" TargetMode="External" Type="http://schemas.openxmlformats.org/officeDocument/2006/relationships/hyperlink"/><Relationship Id="rId6" Target="../media/image13.png" Type="http://schemas.openxmlformats.org/officeDocument/2006/relationships/image"/><Relationship Id="rId7" Target="https://maps.app.goo.gl/xvrjnFNzScNhKAjUA?g_st=iw" TargetMode="External" Type="http://schemas.openxmlformats.org/officeDocument/2006/relationships/hyperlink"/><Relationship Id="rId8" Target="../media/image33.jpeg" Type="http://schemas.openxmlformats.org/officeDocument/2006/relationships/image"/><Relationship Id="rId9" Target="../media/image2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png" Type="http://schemas.openxmlformats.org/officeDocument/2006/relationships/image"/><Relationship Id="rId11" Target="../media/image40.png" Type="http://schemas.openxmlformats.org/officeDocument/2006/relationships/image"/><Relationship Id="rId12" Target="https://www.google.com/maps/search/?api=1&amp;query=%D8%B4%D9%82%D8%B1%D8%A7%D8%A1" TargetMode="External" Type="http://schemas.openxmlformats.org/officeDocument/2006/relationships/hyperlink"/><Relationship Id="rId13" Target="../media/image13.png" Type="http://schemas.openxmlformats.org/officeDocument/2006/relationships/image"/><Relationship Id="rId14" Target="https://maps.app.goo.gl/9tJd7FBf5j8e6kVa6?g_st=iw" TargetMode="External" Type="http://schemas.openxmlformats.org/officeDocument/2006/relationships/hyperlink"/><Relationship Id="rId15" Target="https://maps.app.goo.gl/9tJd7FBf5j8e6kVa6?g_st=iw" TargetMode="External" Type="http://schemas.openxmlformats.org/officeDocument/2006/relationships/hyperlink"/><Relationship Id="rId16" Target="https://maps.app.goo.gl/9tJd7FBf5j8e6kVa6?g_st=iw" TargetMode="External" Type="http://schemas.openxmlformats.org/officeDocument/2006/relationships/hyperlink"/><Relationship Id="rId17" Target="../media/image41.jpeg" Type="http://schemas.openxmlformats.org/officeDocument/2006/relationships/image"/><Relationship Id="rId18" Target="../media/image2.jpeg" Type="http://schemas.openxmlformats.org/officeDocument/2006/relationships/image"/><Relationship Id="rId2" Target="../notesSlides/notesSlide5.xml" Type="http://schemas.openxmlformats.org/officeDocument/2006/relationships/notesSlide"/><Relationship Id="rId3" Target="../media/image10.png" Type="http://schemas.openxmlformats.org/officeDocument/2006/relationships/image"/><Relationship Id="rId4" Target="../media/image34.jpeg" Type="http://schemas.openxmlformats.org/officeDocument/2006/relationships/image"/><Relationship Id="rId5" Target="../media/image35.png" Type="http://schemas.openxmlformats.org/officeDocument/2006/relationships/image"/><Relationship Id="rId6" Target="../media/image4.jpe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 Id="rId9" Target="../media/image3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png" Type="http://schemas.openxmlformats.org/officeDocument/2006/relationships/image"/><Relationship Id="rId12" Target="../media/image40.pn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42.png" Type="http://schemas.openxmlformats.org/officeDocument/2006/relationships/image"/><Relationship Id="rId5" Target="../media/image16.png" Type="http://schemas.openxmlformats.org/officeDocument/2006/relationships/image"/><Relationship Id="rId6" Target="../media/image2.jpeg" Type="http://schemas.openxmlformats.org/officeDocument/2006/relationships/image"/><Relationship Id="rId7" Target="../media/image4.jpeg" Type="http://schemas.openxmlformats.org/officeDocument/2006/relationships/image"/><Relationship Id="rId8" Target="../media/image43.png" Type="http://schemas.openxmlformats.org/officeDocument/2006/relationships/image"/><Relationship Id="rId9" Target="../media/image4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4682025" y="1250004"/>
            <a:ext cx="2785586" cy="1000125"/>
          </a:xfrm>
          <a:prstGeom prst="rect">
            <a:avLst/>
          </a:prstGeom>
        </p:spPr>
        <p:txBody>
          <a:bodyPr anchor="t" rtlCol="false" tIns="0" lIns="0" bIns="0" rIns="0">
            <a:spAutoFit/>
          </a:bodyPr>
          <a:lstStyle/>
          <a:p>
            <a:pPr algn="r" rtl="true">
              <a:lnSpc>
                <a:spcPts val="7920"/>
              </a:lnSpc>
            </a:pPr>
            <a:r>
              <a:rPr lang="ar-EG" b="true" sz="6600">
                <a:solidFill>
                  <a:srgbClr val="F3EADB"/>
                </a:solidFill>
                <a:latin typeface="XM Traffic Bold"/>
                <a:ea typeface="XM Traffic Bold"/>
                <a:cs typeface="XM Traffic Bold"/>
                <a:sym typeface="XM Traffic Bold"/>
                <a:rtl val="true"/>
              </a:rPr>
              <a:t>الفهرس</a:t>
            </a:r>
          </a:p>
        </p:txBody>
      </p:sp>
      <p:sp>
        <p:nvSpPr>
          <p:cNvPr name="TextBox 4" id="4"/>
          <p:cNvSpPr txBox="true"/>
          <p:nvPr/>
        </p:nvSpPr>
        <p:spPr>
          <a:xfrm rot="0">
            <a:off x="4000005" y="2329996"/>
            <a:ext cx="13467617" cy="519998"/>
          </a:xfrm>
          <a:prstGeom prst="rect">
            <a:avLst/>
          </a:prstGeom>
        </p:spPr>
        <p:txBody>
          <a:bodyPr anchor="t" rtlCol="false" tIns="0" lIns="0" bIns="0" rIns="0">
            <a:spAutoFit/>
          </a:bodyPr>
          <a:lstStyle/>
          <a:p>
            <a:pPr algn="r" rtl="true">
              <a:lnSpc>
                <a:spcPts val="2700"/>
              </a:lnSpc>
            </a:pPr>
            <a:r>
              <a:rPr lang="ar-EG" sz="2250">
                <a:solidFill>
                  <a:srgbClr val="E3D4BC"/>
                </a:solidFill>
                <a:latin typeface="XM Traffic"/>
                <a:ea typeface="XM Traffic"/>
                <a:cs typeface="XM Traffic"/>
                <a:sym typeface="XM Traffic"/>
                <a:rtl val="true"/>
              </a:rPr>
              <a:t>اضغط على اسم الموقع للانتقال مباشرة إلى شرائحه</a:t>
            </a:r>
          </a:p>
        </p:txBody>
      </p:sp>
      <p:sp>
        <p:nvSpPr>
          <p:cNvPr name="Freeform 5" id="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3"/>
            <a:stretch>
              <a:fillRect l="0" t="-22113" r="0" b="-17967"/>
            </a:stretch>
          </a:blipFill>
        </p:spPr>
      </p:sp>
      <p:grpSp>
        <p:nvGrpSpPr>
          <p:cNvPr name="Group 6" id="6"/>
          <p:cNvGrpSpPr/>
          <p:nvPr/>
        </p:nvGrpSpPr>
        <p:grpSpPr>
          <a:xfrm rot="0">
            <a:off x="901698" y="2926194"/>
            <a:ext cx="16484603" cy="1012955"/>
            <a:chOff x="0" y="0"/>
            <a:chExt cx="21979471" cy="1350607"/>
          </a:xfrm>
        </p:grpSpPr>
        <p:sp>
          <p:nvSpPr>
            <p:cNvPr name="Freeform 7" id="7"/>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F1E6D3"/>
            </a:solidFill>
            <a:ln w="25400" cap="sq">
              <a:solidFill>
                <a:srgbClr val="F1E6D3"/>
              </a:solidFill>
              <a:prstDash val="solid"/>
              <a:miter/>
            </a:ln>
          </p:spPr>
        </p:sp>
      </p:grpSp>
      <p:grpSp>
        <p:nvGrpSpPr>
          <p:cNvPr name="Group 8" id="8"/>
          <p:cNvGrpSpPr/>
          <p:nvPr/>
        </p:nvGrpSpPr>
        <p:grpSpPr>
          <a:xfrm rot="0">
            <a:off x="16044162" y="3054210"/>
            <a:ext cx="756923" cy="756923"/>
            <a:chOff x="0" y="0"/>
            <a:chExt cx="1009231" cy="1009231"/>
          </a:xfrm>
        </p:grpSpPr>
        <p:sp>
          <p:nvSpPr>
            <p:cNvPr name="Freeform 9" id="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7A5230"/>
            </a:solidFill>
            <a:ln w="25400" cap="sq">
              <a:solidFill>
                <a:srgbClr val="7A5230"/>
              </a:solidFill>
              <a:prstDash val="solid"/>
              <a:miter/>
            </a:ln>
          </p:spPr>
        </p:sp>
      </p:grpSp>
      <p:grpSp>
        <p:nvGrpSpPr>
          <p:cNvPr name="Group 10" id="10"/>
          <p:cNvGrpSpPr/>
          <p:nvPr/>
        </p:nvGrpSpPr>
        <p:grpSpPr>
          <a:xfrm rot="0">
            <a:off x="16203163" y="3213211"/>
            <a:ext cx="438912" cy="438912"/>
            <a:chOff x="0" y="0"/>
            <a:chExt cx="585216" cy="585216"/>
          </a:xfrm>
        </p:grpSpPr>
        <p:sp>
          <p:nvSpPr>
            <p:cNvPr name="Freeform 11" id="11"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4"/>
              <a:stretch>
                <a:fillRect l="0" t="0" r="0" b="0"/>
              </a:stretch>
            </a:blipFill>
          </p:spPr>
        </p:sp>
      </p:grpSp>
      <p:grpSp>
        <p:nvGrpSpPr>
          <p:cNvPr name="Group 12" id="12"/>
          <p:cNvGrpSpPr/>
          <p:nvPr/>
        </p:nvGrpSpPr>
        <p:grpSpPr>
          <a:xfrm rot="0">
            <a:off x="5486395" y="2938891"/>
            <a:ext cx="10241280" cy="987552"/>
            <a:chOff x="0" y="0"/>
            <a:chExt cx="13655040" cy="1316736"/>
          </a:xfrm>
        </p:grpSpPr>
        <p:sp>
          <p:nvSpPr>
            <p:cNvPr name="Freeform 13" id="13"/>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14" id="14"/>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مزارع الجو – المجمعة</a:t>
              </a:r>
            </a:p>
          </p:txBody>
        </p:sp>
      </p:grpSp>
      <p:grpSp>
        <p:nvGrpSpPr>
          <p:cNvPr name="Group 15" id="15"/>
          <p:cNvGrpSpPr/>
          <p:nvPr/>
        </p:nvGrpSpPr>
        <p:grpSpPr>
          <a:xfrm rot="0">
            <a:off x="1463035" y="2938891"/>
            <a:ext cx="2926080" cy="987552"/>
            <a:chOff x="0" y="0"/>
            <a:chExt cx="3901440" cy="1316736"/>
          </a:xfrm>
        </p:grpSpPr>
        <p:sp>
          <p:nvSpPr>
            <p:cNvPr name="Freeform 16" id="16"/>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17" id="17"/>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3</a:t>
              </a:r>
            </a:p>
          </p:txBody>
        </p:sp>
      </p:grpSp>
      <p:grpSp>
        <p:nvGrpSpPr>
          <p:cNvPr name="Group 18" id="18"/>
          <p:cNvGrpSpPr/>
          <p:nvPr/>
        </p:nvGrpSpPr>
        <p:grpSpPr>
          <a:xfrm rot="0">
            <a:off x="901698" y="4096626"/>
            <a:ext cx="16484603" cy="1012955"/>
            <a:chOff x="0" y="0"/>
            <a:chExt cx="21979471" cy="1350607"/>
          </a:xfrm>
        </p:grpSpPr>
        <p:sp>
          <p:nvSpPr>
            <p:cNvPr name="Freeform 19" id="19"/>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EEDFC8"/>
            </a:solidFill>
            <a:ln w="25400" cap="sq">
              <a:solidFill>
                <a:srgbClr val="EEDFC8"/>
              </a:solidFill>
              <a:prstDash val="solid"/>
              <a:miter/>
            </a:ln>
          </p:spPr>
        </p:sp>
      </p:grpSp>
      <p:grpSp>
        <p:nvGrpSpPr>
          <p:cNvPr name="Group 20" id="20"/>
          <p:cNvGrpSpPr/>
          <p:nvPr/>
        </p:nvGrpSpPr>
        <p:grpSpPr>
          <a:xfrm rot="0">
            <a:off x="16044162" y="4224642"/>
            <a:ext cx="756923" cy="756923"/>
            <a:chOff x="0" y="0"/>
            <a:chExt cx="1009231" cy="1009231"/>
          </a:xfrm>
        </p:grpSpPr>
        <p:sp>
          <p:nvSpPr>
            <p:cNvPr name="Freeform 21" id="21"/>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9A5B34"/>
            </a:solidFill>
            <a:ln w="25400" cap="sq">
              <a:solidFill>
                <a:srgbClr val="9A5B34"/>
              </a:solidFill>
              <a:prstDash val="solid"/>
              <a:miter/>
            </a:ln>
          </p:spPr>
        </p:sp>
      </p:grpSp>
      <p:grpSp>
        <p:nvGrpSpPr>
          <p:cNvPr name="Group 22" id="22"/>
          <p:cNvGrpSpPr/>
          <p:nvPr/>
        </p:nvGrpSpPr>
        <p:grpSpPr>
          <a:xfrm rot="0">
            <a:off x="16203163" y="4383643"/>
            <a:ext cx="438912" cy="438912"/>
            <a:chOff x="0" y="0"/>
            <a:chExt cx="585216" cy="585216"/>
          </a:xfrm>
        </p:grpSpPr>
        <p:sp>
          <p:nvSpPr>
            <p:cNvPr name="Freeform 23" id="23"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6"/>
              <a:stretch>
                <a:fillRect l="0" t="0" r="0" b="0"/>
              </a:stretch>
            </a:blipFill>
          </p:spPr>
        </p:sp>
      </p:grpSp>
      <p:grpSp>
        <p:nvGrpSpPr>
          <p:cNvPr name="Group 24" id="24"/>
          <p:cNvGrpSpPr/>
          <p:nvPr/>
        </p:nvGrpSpPr>
        <p:grpSpPr>
          <a:xfrm rot="0">
            <a:off x="5486395" y="4109323"/>
            <a:ext cx="10241280" cy="987552"/>
            <a:chOff x="0" y="0"/>
            <a:chExt cx="13655040" cy="1316736"/>
          </a:xfrm>
        </p:grpSpPr>
        <p:sp>
          <p:nvSpPr>
            <p:cNvPr name="Freeform 25" id="25"/>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26" id="26"/>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العقيلات</a:t>
              </a:r>
            </a:p>
          </p:txBody>
        </p:sp>
      </p:grpSp>
      <p:grpSp>
        <p:nvGrpSpPr>
          <p:cNvPr name="Group 27" id="27"/>
          <p:cNvGrpSpPr/>
          <p:nvPr/>
        </p:nvGrpSpPr>
        <p:grpSpPr>
          <a:xfrm rot="0">
            <a:off x="1463035" y="4109323"/>
            <a:ext cx="2926080" cy="987552"/>
            <a:chOff x="0" y="0"/>
            <a:chExt cx="3901440" cy="1316736"/>
          </a:xfrm>
        </p:grpSpPr>
        <p:sp>
          <p:nvSpPr>
            <p:cNvPr name="Freeform 28" id="28"/>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29" id="29"/>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5</a:t>
              </a:r>
            </a:p>
          </p:txBody>
        </p:sp>
      </p:grpSp>
      <p:grpSp>
        <p:nvGrpSpPr>
          <p:cNvPr name="Group 30" id="30"/>
          <p:cNvGrpSpPr/>
          <p:nvPr/>
        </p:nvGrpSpPr>
        <p:grpSpPr>
          <a:xfrm rot="0">
            <a:off x="901698" y="5267058"/>
            <a:ext cx="16484603" cy="1012955"/>
            <a:chOff x="0" y="0"/>
            <a:chExt cx="21979471" cy="1350607"/>
          </a:xfrm>
        </p:grpSpPr>
        <p:sp>
          <p:nvSpPr>
            <p:cNvPr name="Freeform 31" id="31"/>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F4EAD9"/>
            </a:solidFill>
            <a:ln w="25400" cap="sq">
              <a:solidFill>
                <a:srgbClr val="F4EAD9"/>
              </a:solidFill>
              <a:prstDash val="solid"/>
              <a:miter/>
            </a:ln>
          </p:spPr>
        </p:sp>
      </p:grpSp>
      <p:grpSp>
        <p:nvGrpSpPr>
          <p:cNvPr name="Group 32" id="32"/>
          <p:cNvGrpSpPr/>
          <p:nvPr/>
        </p:nvGrpSpPr>
        <p:grpSpPr>
          <a:xfrm rot="0">
            <a:off x="16044162" y="5395074"/>
            <a:ext cx="756923" cy="756923"/>
            <a:chOff x="0" y="0"/>
            <a:chExt cx="1009231" cy="1009231"/>
          </a:xfrm>
        </p:grpSpPr>
        <p:sp>
          <p:nvSpPr>
            <p:cNvPr name="Freeform 33" id="33"/>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A06F36"/>
            </a:solidFill>
            <a:ln w="25400" cap="sq">
              <a:solidFill>
                <a:srgbClr val="A06F36"/>
              </a:solidFill>
              <a:prstDash val="solid"/>
              <a:miter/>
            </a:ln>
          </p:spPr>
        </p:sp>
      </p:grpSp>
      <p:grpSp>
        <p:nvGrpSpPr>
          <p:cNvPr name="Group 34" id="34"/>
          <p:cNvGrpSpPr/>
          <p:nvPr/>
        </p:nvGrpSpPr>
        <p:grpSpPr>
          <a:xfrm rot="0">
            <a:off x="16203163" y="5554075"/>
            <a:ext cx="438912" cy="438912"/>
            <a:chOff x="0" y="0"/>
            <a:chExt cx="585216" cy="585216"/>
          </a:xfrm>
        </p:grpSpPr>
        <p:sp>
          <p:nvSpPr>
            <p:cNvPr name="Freeform 35" id="35"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7"/>
              <a:stretch>
                <a:fillRect l="0" t="0" r="0" b="0"/>
              </a:stretch>
            </a:blipFill>
          </p:spPr>
        </p:sp>
      </p:grpSp>
      <p:grpSp>
        <p:nvGrpSpPr>
          <p:cNvPr name="Group 36" id="36"/>
          <p:cNvGrpSpPr/>
          <p:nvPr/>
        </p:nvGrpSpPr>
        <p:grpSpPr>
          <a:xfrm rot="0">
            <a:off x="5486395" y="5279755"/>
            <a:ext cx="10241280" cy="987552"/>
            <a:chOff x="0" y="0"/>
            <a:chExt cx="13655040" cy="1316736"/>
          </a:xfrm>
        </p:grpSpPr>
        <p:sp>
          <p:nvSpPr>
            <p:cNvPr name="Freeform 37" id="37"/>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38" id="38"/>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صخرة عنترة وعبلة</a:t>
              </a:r>
            </a:p>
          </p:txBody>
        </p:sp>
      </p:grpSp>
      <p:grpSp>
        <p:nvGrpSpPr>
          <p:cNvPr name="Group 39" id="39"/>
          <p:cNvGrpSpPr/>
          <p:nvPr/>
        </p:nvGrpSpPr>
        <p:grpSpPr>
          <a:xfrm rot="0">
            <a:off x="1463035" y="5279755"/>
            <a:ext cx="2926080" cy="987552"/>
            <a:chOff x="0" y="0"/>
            <a:chExt cx="3901440" cy="1316736"/>
          </a:xfrm>
        </p:grpSpPr>
        <p:sp>
          <p:nvSpPr>
            <p:cNvPr name="Freeform 40" id="40"/>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41" id="41"/>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7</a:t>
              </a:r>
            </a:p>
          </p:txBody>
        </p:sp>
      </p:grpSp>
      <p:grpSp>
        <p:nvGrpSpPr>
          <p:cNvPr name="Group 42" id="42"/>
          <p:cNvGrpSpPr/>
          <p:nvPr/>
        </p:nvGrpSpPr>
        <p:grpSpPr>
          <a:xfrm rot="0">
            <a:off x="901698" y="6437490"/>
            <a:ext cx="16484603" cy="1012955"/>
            <a:chOff x="0" y="0"/>
            <a:chExt cx="21979471" cy="1350607"/>
          </a:xfrm>
        </p:grpSpPr>
        <p:sp>
          <p:nvSpPr>
            <p:cNvPr name="Freeform 43" id="43"/>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EADBC4"/>
            </a:solidFill>
            <a:ln w="25400" cap="sq">
              <a:solidFill>
                <a:srgbClr val="EADBC4"/>
              </a:solidFill>
              <a:prstDash val="solid"/>
              <a:miter/>
            </a:ln>
          </p:spPr>
        </p:sp>
      </p:grpSp>
      <p:grpSp>
        <p:nvGrpSpPr>
          <p:cNvPr name="Group 44" id="44"/>
          <p:cNvGrpSpPr/>
          <p:nvPr/>
        </p:nvGrpSpPr>
        <p:grpSpPr>
          <a:xfrm rot="0">
            <a:off x="16044162" y="6565506"/>
            <a:ext cx="756923" cy="756923"/>
            <a:chOff x="0" y="0"/>
            <a:chExt cx="1009231" cy="1009231"/>
          </a:xfrm>
        </p:grpSpPr>
        <p:sp>
          <p:nvSpPr>
            <p:cNvPr name="Freeform 45" id="45"/>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855F45"/>
            </a:solidFill>
            <a:ln w="25400" cap="sq">
              <a:solidFill>
                <a:srgbClr val="855F45"/>
              </a:solidFill>
              <a:prstDash val="solid"/>
              <a:miter/>
            </a:ln>
          </p:spPr>
        </p:sp>
      </p:grpSp>
      <p:grpSp>
        <p:nvGrpSpPr>
          <p:cNvPr name="Group 46" id="46"/>
          <p:cNvGrpSpPr/>
          <p:nvPr/>
        </p:nvGrpSpPr>
        <p:grpSpPr>
          <a:xfrm rot="0">
            <a:off x="16203163" y="6724507"/>
            <a:ext cx="438912" cy="438912"/>
            <a:chOff x="0" y="0"/>
            <a:chExt cx="585216" cy="585216"/>
          </a:xfrm>
        </p:grpSpPr>
        <p:sp>
          <p:nvSpPr>
            <p:cNvPr name="Freeform 47" id="47"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8"/>
              <a:stretch>
                <a:fillRect l="0" t="0" r="0" b="0"/>
              </a:stretch>
            </a:blipFill>
          </p:spPr>
        </p:sp>
      </p:grpSp>
      <p:grpSp>
        <p:nvGrpSpPr>
          <p:cNvPr name="Group 48" id="48"/>
          <p:cNvGrpSpPr/>
          <p:nvPr/>
        </p:nvGrpSpPr>
        <p:grpSpPr>
          <a:xfrm rot="0">
            <a:off x="5486395" y="6450187"/>
            <a:ext cx="10241280" cy="987552"/>
            <a:chOff x="0" y="0"/>
            <a:chExt cx="13655040" cy="1316736"/>
          </a:xfrm>
        </p:grpSpPr>
        <p:sp>
          <p:nvSpPr>
            <p:cNvPr name="Freeform 49" id="49"/>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50" id="50"/>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مملحة المقحم – القصيم</a:t>
              </a:r>
            </a:p>
          </p:txBody>
        </p:sp>
      </p:grpSp>
      <p:grpSp>
        <p:nvGrpSpPr>
          <p:cNvPr name="Group 51" id="51"/>
          <p:cNvGrpSpPr/>
          <p:nvPr/>
        </p:nvGrpSpPr>
        <p:grpSpPr>
          <a:xfrm rot="0">
            <a:off x="1463035" y="6450187"/>
            <a:ext cx="2926080" cy="987552"/>
            <a:chOff x="0" y="0"/>
            <a:chExt cx="3901440" cy="1316736"/>
          </a:xfrm>
        </p:grpSpPr>
        <p:sp>
          <p:nvSpPr>
            <p:cNvPr name="Freeform 52" id="52"/>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53" id="53"/>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9</a:t>
              </a:r>
            </a:p>
          </p:txBody>
        </p:sp>
      </p:grpSp>
      <p:grpSp>
        <p:nvGrpSpPr>
          <p:cNvPr name="Group 54" id="54"/>
          <p:cNvGrpSpPr/>
          <p:nvPr/>
        </p:nvGrpSpPr>
        <p:grpSpPr>
          <a:xfrm rot="0">
            <a:off x="901698" y="7607922"/>
            <a:ext cx="16484603" cy="1012955"/>
            <a:chOff x="0" y="0"/>
            <a:chExt cx="21979471" cy="1350607"/>
          </a:xfrm>
        </p:grpSpPr>
        <p:sp>
          <p:nvSpPr>
            <p:cNvPr name="Freeform 55" id="55"/>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F0E4D2"/>
            </a:solidFill>
            <a:ln w="25400" cap="sq">
              <a:solidFill>
                <a:srgbClr val="F0E4D2"/>
              </a:solidFill>
              <a:prstDash val="solid"/>
              <a:miter/>
            </a:ln>
          </p:spPr>
        </p:sp>
      </p:grpSp>
      <p:grpSp>
        <p:nvGrpSpPr>
          <p:cNvPr name="Group 56" id="56"/>
          <p:cNvGrpSpPr/>
          <p:nvPr/>
        </p:nvGrpSpPr>
        <p:grpSpPr>
          <a:xfrm rot="0">
            <a:off x="16044162" y="7735938"/>
            <a:ext cx="756923" cy="756923"/>
            <a:chOff x="0" y="0"/>
            <a:chExt cx="1009231" cy="1009231"/>
          </a:xfrm>
        </p:grpSpPr>
        <p:sp>
          <p:nvSpPr>
            <p:cNvPr name="Freeform 57" id="5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5C3D2A"/>
            </a:solidFill>
            <a:ln w="25400" cap="sq">
              <a:solidFill>
                <a:srgbClr val="5C3D2A"/>
              </a:solidFill>
              <a:prstDash val="solid"/>
              <a:miter/>
            </a:ln>
          </p:spPr>
        </p:sp>
      </p:grpSp>
      <p:grpSp>
        <p:nvGrpSpPr>
          <p:cNvPr name="Group 58" id="58"/>
          <p:cNvGrpSpPr/>
          <p:nvPr/>
        </p:nvGrpSpPr>
        <p:grpSpPr>
          <a:xfrm rot="0">
            <a:off x="16203163" y="7894939"/>
            <a:ext cx="438912" cy="438912"/>
            <a:chOff x="0" y="0"/>
            <a:chExt cx="585216" cy="585216"/>
          </a:xfrm>
        </p:grpSpPr>
        <p:sp>
          <p:nvSpPr>
            <p:cNvPr name="Freeform 59" id="59"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9"/>
              <a:stretch>
                <a:fillRect l="0" t="0" r="0" b="0"/>
              </a:stretch>
            </a:blipFill>
          </p:spPr>
        </p:sp>
      </p:grpSp>
      <p:grpSp>
        <p:nvGrpSpPr>
          <p:cNvPr name="Group 60" id="60"/>
          <p:cNvGrpSpPr/>
          <p:nvPr/>
        </p:nvGrpSpPr>
        <p:grpSpPr>
          <a:xfrm rot="0">
            <a:off x="5486395" y="7620619"/>
            <a:ext cx="10241280" cy="987552"/>
            <a:chOff x="0" y="0"/>
            <a:chExt cx="13655040" cy="1316736"/>
          </a:xfrm>
        </p:grpSpPr>
        <p:sp>
          <p:nvSpPr>
            <p:cNvPr name="Freeform 61" id="61"/>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62" id="62"/>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محمية الملك عبدالعزيز – ملهم</a:t>
              </a:r>
            </a:p>
          </p:txBody>
        </p:sp>
      </p:grpSp>
      <p:grpSp>
        <p:nvGrpSpPr>
          <p:cNvPr name="Group 63" id="63"/>
          <p:cNvGrpSpPr/>
          <p:nvPr/>
        </p:nvGrpSpPr>
        <p:grpSpPr>
          <a:xfrm rot="0">
            <a:off x="1463035" y="7620619"/>
            <a:ext cx="2926080" cy="987552"/>
            <a:chOff x="0" y="0"/>
            <a:chExt cx="3901440" cy="1316736"/>
          </a:xfrm>
        </p:grpSpPr>
        <p:sp>
          <p:nvSpPr>
            <p:cNvPr name="Freeform 64" id="64"/>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65" id="65"/>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11</a:t>
              </a:r>
            </a:p>
          </p:txBody>
        </p:sp>
      </p:grpSp>
      <p:grpSp>
        <p:nvGrpSpPr>
          <p:cNvPr name="Group 66" id="66"/>
          <p:cNvGrpSpPr/>
          <p:nvPr/>
        </p:nvGrpSpPr>
        <p:grpSpPr>
          <a:xfrm rot="0">
            <a:off x="901698" y="8778354"/>
            <a:ext cx="16484603" cy="1012955"/>
            <a:chOff x="0" y="0"/>
            <a:chExt cx="21979471" cy="1350607"/>
          </a:xfrm>
        </p:grpSpPr>
        <p:sp>
          <p:nvSpPr>
            <p:cNvPr name="Freeform 67" id="67"/>
            <p:cNvSpPr/>
            <p:nvPr/>
          </p:nvSpPr>
          <p:spPr>
            <a:xfrm flipH="false" flipV="false" rot="0">
              <a:off x="0" y="0"/>
              <a:ext cx="21979382" cy="1350518"/>
            </a:xfrm>
            <a:custGeom>
              <a:avLst/>
              <a:gdLst/>
              <a:ahLst/>
              <a:cxnLst/>
              <a:rect r="r" b="b" t="t" l="l"/>
              <a:pathLst>
                <a:path h="1350518" w="21979382">
                  <a:moveTo>
                    <a:pt x="0" y="250063"/>
                  </a:moveTo>
                  <a:cubicBezTo>
                    <a:pt x="0" y="112014"/>
                    <a:pt x="112014" y="0"/>
                    <a:pt x="250063" y="0"/>
                  </a:cubicBezTo>
                  <a:lnTo>
                    <a:pt x="21729319" y="0"/>
                  </a:lnTo>
                  <a:cubicBezTo>
                    <a:pt x="21867495" y="0"/>
                    <a:pt x="21979382" y="112014"/>
                    <a:pt x="21979382" y="250063"/>
                  </a:cubicBezTo>
                  <a:lnTo>
                    <a:pt x="21979382" y="1100455"/>
                  </a:lnTo>
                  <a:cubicBezTo>
                    <a:pt x="21979382" y="1238631"/>
                    <a:pt x="21867368" y="1350518"/>
                    <a:pt x="21729319" y="1350518"/>
                  </a:cubicBezTo>
                  <a:lnTo>
                    <a:pt x="250063" y="1350518"/>
                  </a:lnTo>
                  <a:cubicBezTo>
                    <a:pt x="112014" y="1350645"/>
                    <a:pt x="0" y="1238631"/>
                    <a:pt x="0" y="1100455"/>
                  </a:cubicBezTo>
                  <a:close/>
                </a:path>
              </a:pathLst>
            </a:custGeom>
            <a:solidFill>
              <a:srgbClr val="EFE3D0"/>
            </a:solidFill>
            <a:ln w="25400" cap="sq">
              <a:solidFill>
                <a:srgbClr val="EFE3D0"/>
              </a:solidFill>
              <a:prstDash val="solid"/>
              <a:miter/>
            </a:ln>
          </p:spPr>
        </p:sp>
      </p:grpSp>
      <p:grpSp>
        <p:nvGrpSpPr>
          <p:cNvPr name="Group 68" id="68"/>
          <p:cNvGrpSpPr/>
          <p:nvPr/>
        </p:nvGrpSpPr>
        <p:grpSpPr>
          <a:xfrm rot="0">
            <a:off x="16044162" y="8906370"/>
            <a:ext cx="756923" cy="756923"/>
            <a:chOff x="0" y="0"/>
            <a:chExt cx="1009231" cy="1009231"/>
          </a:xfrm>
        </p:grpSpPr>
        <p:sp>
          <p:nvSpPr>
            <p:cNvPr name="Freeform 69" id="6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3E2A1E"/>
            </a:solidFill>
            <a:ln w="25400" cap="sq">
              <a:solidFill>
                <a:srgbClr val="3E2A1E"/>
              </a:solidFill>
              <a:prstDash val="solid"/>
              <a:miter/>
            </a:ln>
          </p:spPr>
        </p:sp>
      </p:grpSp>
      <p:grpSp>
        <p:nvGrpSpPr>
          <p:cNvPr name="Group 70" id="70"/>
          <p:cNvGrpSpPr/>
          <p:nvPr/>
        </p:nvGrpSpPr>
        <p:grpSpPr>
          <a:xfrm rot="0">
            <a:off x="16203163" y="9065371"/>
            <a:ext cx="438912" cy="438912"/>
            <a:chOff x="0" y="0"/>
            <a:chExt cx="585216" cy="585216"/>
          </a:xfrm>
        </p:grpSpPr>
        <p:sp>
          <p:nvSpPr>
            <p:cNvPr name="Freeform 71" id="71"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10"/>
              <a:stretch>
                <a:fillRect l="0" t="0" r="0" b="0"/>
              </a:stretch>
            </a:blipFill>
          </p:spPr>
        </p:sp>
      </p:grpSp>
      <p:grpSp>
        <p:nvGrpSpPr>
          <p:cNvPr name="Group 72" id="72"/>
          <p:cNvGrpSpPr/>
          <p:nvPr/>
        </p:nvGrpSpPr>
        <p:grpSpPr>
          <a:xfrm rot="0">
            <a:off x="5486395" y="8791051"/>
            <a:ext cx="10241280" cy="987552"/>
            <a:chOff x="0" y="0"/>
            <a:chExt cx="13655040" cy="1316736"/>
          </a:xfrm>
        </p:grpSpPr>
        <p:sp>
          <p:nvSpPr>
            <p:cNvPr name="Freeform 73" id="73"/>
            <p:cNvSpPr/>
            <p:nvPr/>
          </p:nvSpPr>
          <p:spPr>
            <a:xfrm flipH="false" flipV="false" rot="0">
              <a:off x="0" y="0"/>
              <a:ext cx="13655039" cy="1316736"/>
            </a:xfrm>
            <a:custGeom>
              <a:avLst/>
              <a:gdLst/>
              <a:ahLst/>
              <a:cxnLst/>
              <a:rect r="r" b="b" t="t" l="l"/>
              <a:pathLst>
                <a:path h="1316736" w="13655039">
                  <a:moveTo>
                    <a:pt x="0" y="0"/>
                  </a:moveTo>
                  <a:lnTo>
                    <a:pt x="13655039" y="0"/>
                  </a:lnTo>
                  <a:lnTo>
                    <a:pt x="13655039" y="1316736"/>
                  </a:lnTo>
                  <a:lnTo>
                    <a:pt x="0" y="1316736"/>
                  </a:lnTo>
                  <a:close/>
                </a:path>
              </a:pathLst>
            </a:custGeom>
            <a:blipFill>
              <a:blip r:embed="rId5">
                <a:alphaModFix amt="0"/>
              </a:blip>
              <a:stretch>
                <a:fillRect l="0" t="-152067" r="0" b="-152067"/>
              </a:stretch>
            </a:blipFill>
          </p:spPr>
        </p:sp>
        <p:sp>
          <p:nvSpPr>
            <p:cNvPr name="TextBox 74" id="74"/>
            <p:cNvSpPr txBox="true"/>
            <p:nvPr/>
          </p:nvSpPr>
          <p:spPr>
            <a:xfrm>
              <a:off x="0" y="-28575"/>
              <a:ext cx="13655040" cy="1345311"/>
            </a:xfrm>
            <a:prstGeom prst="rect">
              <a:avLst/>
            </a:prstGeom>
          </p:spPr>
          <p:txBody>
            <a:bodyPr anchor="ctr" rtlCol="false" tIns="0" lIns="0" bIns="0" rIns="0"/>
            <a:lstStyle/>
            <a:p>
              <a:pPr algn="r" rtl="true">
                <a:lnSpc>
                  <a:spcPts val="4320"/>
                </a:lnSpc>
              </a:pPr>
              <a:r>
                <a:rPr lang="ar-EG" b="true" sz="3600">
                  <a:solidFill>
                    <a:srgbClr val="3E2A1E"/>
                  </a:solidFill>
                  <a:latin typeface="Arial Bold"/>
                  <a:ea typeface="Arial Bold"/>
                  <a:cs typeface="Arial Bold"/>
                  <a:sym typeface="Arial Bold"/>
                  <a:rtl val="true"/>
                </a:rPr>
                <a:t>التوجيه العام للمصمم</a:t>
              </a:r>
            </a:p>
          </p:txBody>
        </p:sp>
      </p:grpSp>
      <p:grpSp>
        <p:nvGrpSpPr>
          <p:cNvPr name="Group 75" id="75"/>
          <p:cNvGrpSpPr/>
          <p:nvPr/>
        </p:nvGrpSpPr>
        <p:grpSpPr>
          <a:xfrm rot="0">
            <a:off x="1463035" y="8791051"/>
            <a:ext cx="2926080" cy="987552"/>
            <a:chOff x="0" y="0"/>
            <a:chExt cx="3901440" cy="1316736"/>
          </a:xfrm>
        </p:grpSpPr>
        <p:sp>
          <p:nvSpPr>
            <p:cNvPr name="Freeform 76" id="76"/>
            <p:cNvSpPr/>
            <p:nvPr/>
          </p:nvSpPr>
          <p:spPr>
            <a:xfrm flipH="false" flipV="false" rot="0">
              <a:off x="0" y="0"/>
              <a:ext cx="3901440" cy="1316736"/>
            </a:xfrm>
            <a:custGeom>
              <a:avLst/>
              <a:gdLst/>
              <a:ahLst/>
              <a:cxnLst/>
              <a:rect r="r" b="b" t="t" l="l"/>
              <a:pathLst>
                <a:path h="1316736" w="3901440">
                  <a:moveTo>
                    <a:pt x="0" y="0"/>
                  </a:moveTo>
                  <a:lnTo>
                    <a:pt x="3901440" y="0"/>
                  </a:lnTo>
                  <a:lnTo>
                    <a:pt x="3901440" y="1316736"/>
                  </a:lnTo>
                  <a:lnTo>
                    <a:pt x="0" y="1316736"/>
                  </a:lnTo>
                  <a:close/>
                </a:path>
              </a:pathLst>
            </a:custGeom>
            <a:blipFill>
              <a:blip r:embed="rId5">
                <a:alphaModFix amt="0"/>
              </a:blip>
              <a:stretch>
                <a:fillRect l="0" t="-7733" r="0" b="-7733"/>
              </a:stretch>
            </a:blipFill>
          </p:spPr>
        </p:sp>
        <p:sp>
          <p:nvSpPr>
            <p:cNvPr name="TextBox 77" id="77"/>
            <p:cNvSpPr txBox="true"/>
            <p:nvPr/>
          </p:nvSpPr>
          <p:spPr>
            <a:xfrm>
              <a:off x="0" y="-19050"/>
              <a:ext cx="3901440" cy="1335786"/>
            </a:xfrm>
            <a:prstGeom prst="rect">
              <a:avLst/>
            </a:prstGeom>
          </p:spPr>
          <p:txBody>
            <a:bodyPr anchor="ctr" rtlCol="false" tIns="0" lIns="0" bIns="0" rIns="0"/>
            <a:lstStyle/>
            <a:p>
              <a:pPr algn="l" rtl="true">
                <a:lnSpc>
                  <a:spcPts val="3359"/>
                </a:lnSpc>
              </a:pPr>
              <a:r>
                <a:rPr lang="ar-EG" sz="2799">
                  <a:solidFill>
                    <a:srgbClr val="5E4B3C"/>
                  </a:solidFill>
                  <a:latin typeface="Arial"/>
                  <a:ea typeface="Arial"/>
                  <a:cs typeface="Arial"/>
                  <a:sym typeface="Arial"/>
                  <a:rtl val="true"/>
                </a:rPr>
                <a:t>شريحة </a:t>
              </a:r>
              <a:r>
                <a:rPr lang="en-US" sz="2799">
                  <a:solidFill>
                    <a:srgbClr val="5E4B3C"/>
                  </a:solidFill>
                  <a:latin typeface="Arial"/>
                  <a:ea typeface="Arial"/>
                  <a:cs typeface="Arial"/>
                  <a:sym typeface="Arial"/>
                </a:rPr>
                <a:t>13</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A6A24">
                <a:alpha val="1961"/>
              </a:srgbClr>
            </a:solidFill>
          </p:spPr>
        </p:sp>
      </p:grpSp>
      <p:grpSp>
        <p:nvGrpSpPr>
          <p:cNvPr name="Group 5" id="5"/>
          <p:cNvGrpSpPr/>
          <p:nvPr/>
        </p:nvGrpSpPr>
        <p:grpSpPr>
          <a:xfrm rot="0">
            <a:off x="811054" y="811054"/>
            <a:ext cx="6333172" cy="8664893"/>
            <a:chOff x="0" y="0"/>
            <a:chExt cx="8444230" cy="11553190"/>
          </a:xfrm>
        </p:grpSpPr>
        <p:sp>
          <p:nvSpPr>
            <p:cNvPr name="Freeform 6" id="6"/>
            <p:cNvSpPr/>
            <p:nvPr/>
          </p:nvSpPr>
          <p:spPr>
            <a:xfrm flipH="false" flipV="false" rot="0">
              <a:off x="0" y="0"/>
              <a:ext cx="8444230" cy="11553190"/>
            </a:xfrm>
            <a:custGeom>
              <a:avLst/>
              <a:gdLst/>
              <a:ahLst/>
              <a:cxnLst/>
              <a:rect r="r" b="b" t="t" l="l"/>
              <a:pathLst>
                <a:path h="11553190" w="8444230">
                  <a:moveTo>
                    <a:pt x="0" y="734314"/>
                  </a:moveTo>
                  <a:cubicBezTo>
                    <a:pt x="0" y="328803"/>
                    <a:pt x="328803" y="0"/>
                    <a:pt x="734314" y="0"/>
                  </a:cubicBezTo>
                  <a:lnTo>
                    <a:pt x="7709916" y="0"/>
                  </a:lnTo>
                  <a:cubicBezTo>
                    <a:pt x="8115427" y="0"/>
                    <a:pt x="8444230" y="328803"/>
                    <a:pt x="8444230" y="734314"/>
                  </a:cubicBezTo>
                  <a:lnTo>
                    <a:pt x="8444230" y="10818876"/>
                  </a:lnTo>
                  <a:cubicBezTo>
                    <a:pt x="8444230" y="11224387"/>
                    <a:pt x="8115427" y="11553190"/>
                    <a:pt x="7709916" y="11553190"/>
                  </a:cubicBezTo>
                  <a:lnTo>
                    <a:pt x="734314" y="11553190"/>
                  </a:lnTo>
                  <a:cubicBezTo>
                    <a:pt x="328803" y="11553190"/>
                    <a:pt x="0" y="11224387"/>
                    <a:pt x="0" y="10818876"/>
                  </a:cubicBezTo>
                  <a:close/>
                </a:path>
              </a:pathLst>
            </a:custGeom>
            <a:solidFill>
              <a:srgbClr val="E6D6BC"/>
            </a:solidFill>
            <a:ln w="23812" cap="sq">
              <a:solidFill>
                <a:srgbClr val="A68460"/>
              </a:solidFill>
              <a:prstDash val="dash"/>
              <a:miter/>
            </a:ln>
          </p:spPr>
        </p:sp>
      </p:grpSp>
      <p:grpSp>
        <p:nvGrpSpPr>
          <p:cNvPr name="Group 7" id="7"/>
          <p:cNvGrpSpPr/>
          <p:nvPr/>
        </p:nvGrpSpPr>
        <p:grpSpPr>
          <a:xfrm rot="0">
            <a:off x="1062704" y="1062704"/>
            <a:ext cx="5829871" cy="8161592"/>
            <a:chOff x="0" y="0"/>
            <a:chExt cx="7773162" cy="10882122"/>
          </a:xfrm>
        </p:grpSpPr>
        <p:sp>
          <p:nvSpPr>
            <p:cNvPr name="Freeform 8" id="8"/>
            <p:cNvSpPr/>
            <p:nvPr/>
          </p:nvSpPr>
          <p:spPr>
            <a:xfrm flipH="false" flipV="false" rot="0">
              <a:off x="0" y="0"/>
              <a:ext cx="7773162" cy="10882122"/>
            </a:xfrm>
            <a:custGeom>
              <a:avLst/>
              <a:gdLst/>
              <a:ahLst/>
              <a:cxnLst/>
              <a:rect r="r" b="b" t="t" l="l"/>
              <a:pathLst>
                <a:path h="10882122" w="7773162">
                  <a:moveTo>
                    <a:pt x="0" y="513334"/>
                  </a:moveTo>
                  <a:cubicBezTo>
                    <a:pt x="0" y="229870"/>
                    <a:pt x="229870" y="0"/>
                    <a:pt x="513334" y="0"/>
                  </a:cubicBezTo>
                  <a:lnTo>
                    <a:pt x="7259828" y="0"/>
                  </a:lnTo>
                  <a:cubicBezTo>
                    <a:pt x="7543292" y="0"/>
                    <a:pt x="7773162" y="229870"/>
                    <a:pt x="7773162" y="513334"/>
                  </a:cubicBezTo>
                  <a:lnTo>
                    <a:pt x="7773162" y="10368788"/>
                  </a:lnTo>
                  <a:cubicBezTo>
                    <a:pt x="7773162" y="10652252"/>
                    <a:pt x="7543292" y="10882122"/>
                    <a:pt x="7259828" y="10882122"/>
                  </a:cubicBezTo>
                  <a:lnTo>
                    <a:pt x="513334" y="10882122"/>
                  </a:lnTo>
                  <a:cubicBezTo>
                    <a:pt x="229870" y="10882122"/>
                    <a:pt x="0" y="10652252"/>
                    <a:pt x="0" y="10368788"/>
                  </a:cubicBezTo>
                  <a:close/>
                </a:path>
              </a:pathLst>
            </a:custGeom>
            <a:blipFill>
              <a:blip r:embed="rId4">
                <a:alphaModFix amt="0"/>
              </a:blip>
              <a:stretch>
                <a:fillRect l="-129619" t="0" r="-129619" b="0"/>
              </a:stretch>
            </a:blipFill>
            <a:ln w="14288" cap="sq">
              <a:solidFill>
                <a:srgbClr val="8A6A24"/>
              </a:solidFill>
              <a:prstDash val="solid"/>
              <a:miter/>
            </a:ln>
          </p:spPr>
        </p:sp>
      </p:grpSp>
      <p:grpSp>
        <p:nvGrpSpPr>
          <p:cNvPr name="Group 9" id="9"/>
          <p:cNvGrpSpPr/>
          <p:nvPr/>
        </p:nvGrpSpPr>
        <p:grpSpPr>
          <a:xfrm rot="0">
            <a:off x="1040844" y="1062704"/>
            <a:ext cx="5873591" cy="8195596"/>
            <a:chOff x="0" y="0"/>
            <a:chExt cx="7831455" cy="10927461"/>
          </a:xfrm>
        </p:grpSpPr>
        <p:sp>
          <p:nvSpPr>
            <p:cNvPr name="Freeform 10" id="10"/>
            <p:cNvSpPr/>
            <p:nvPr/>
          </p:nvSpPr>
          <p:spPr>
            <a:xfrm flipH="false" flipV="false" rot="0">
              <a:off x="0" y="0"/>
              <a:ext cx="7831455" cy="10927461"/>
            </a:xfrm>
            <a:custGeom>
              <a:avLst/>
              <a:gdLst/>
              <a:ahLst/>
              <a:cxnLst/>
              <a:rect r="r" b="b" t="t" l="l"/>
              <a:pathLst>
                <a:path h="10927461" w="7831455">
                  <a:moveTo>
                    <a:pt x="181501" y="0"/>
                  </a:moveTo>
                  <a:lnTo>
                    <a:pt x="7649954" y="0"/>
                  </a:lnTo>
                  <a:cubicBezTo>
                    <a:pt x="7750194" y="0"/>
                    <a:pt x="7831455" y="81261"/>
                    <a:pt x="7831455" y="181501"/>
                  </a:cubicBezTo>
                  <a:lnTo>
                    <a:pt x="7831455" y="10745960"/>
                  </a:lnTo>
                  <a:cubicBezTo>
                    <a:pt x="7831455" y="10794097"/>
                    <a:pt x="7812333" y="10840262"/>
                    <a:pt x="7778295" y="10874301"/>
                  </a:cubicBezTo>
                  <a:cubicBezTo>
                    <a:pt x="7744257" y="10908339"/>
                    <a:pt x="7698091" y="10927461"/>
                    <a:pt x="7649954" y="10927461"/>
                  </a:cubicBezTo>
                  <a:lnTo>
                    <a:pt x="181501" y="10927461"/>
                  </a:lnTo>
                  <a:cubicBezTo>
                    <a:pt x="133364" y="10927461"/>
                    <a:pt x="87198" y="10908339"/>
                    <a:pt x="53160" y="10874301"/>
                  </a:cubicBezTo>
                  <a:cubicBezTo>
                    <a:pt x="19122" y="10840262"/>
                    <a:pt x="0" y="10794097"/>
                    <a:pt x="0" y="10745960"/>
                  </a:cubicBezTo>
                  <a:lnTo>
                    <a:pt x="0" y="181501"/>
                  </a:lnTo>
                  <a:cubicBezTo>
                    <a:pt x="0" y="133364"/>
                    <a:pt x="19122" y="87198"/>
                    <a:pt x="53160" y="53160"/>
                  </a:cubicBezTo>
                  <a:cubicBezTo>
                    <a:pt x="87198" y="19122"/>
                    <a:pt x="133364" y="0"/>
                    <a:pt x="181501" y="0"/>
                  </a:cubicBezTo>
                  <a:close/>
                </a:path>
              </a:pathLst>
            </a:custGeom>
            <a:blipFill>
              <a:blip r:embed="rId5">
                <a:alphaModFix amt="65000"/>
              </a:blip>
              <a:stretch>
                <a:fillRect l="-51607" t="0" r="-34436" b="0"/>
              </a:stretch>
            </a:blipFill>
          </p:spPr>
        </p:sp>
      </p:grpSp>
      <p:grpSp>
        <p:nvGrpSpPr>
          <p:cNvPr name="Group 11" id="11"/>
          <p:cNvGrpSpPr/>
          <p:nvPr/>
        </p:nvGrpSpPr>
        <p:grpSpPr>
          <a:xfrm rot="0">
            <a:off x="11528012" y="1243509"/>
            <a:ext cx="5939600" cy="562928"/>
            <a:chOff x="0" y="0"/>
            <a:chExt cx="7919466" cy="750570"/>
          </a:xfrm>
        </p:grpSpPr>
        <p:sp>
          <p:nvSpPr>
            <p:cNvPr name="Freeform 12" id="12"/>
            <p:cNvSpPr/>
            <p:nvPr/>
          </p:nvSpPr>
          <p:spPr>
            <a:xfrm flipH="false" flipV="false" rot="0">
              <a:off x="0" y="0"/>
              <a:ext cx="7919466" cy="750570"/>
            </a:xfrm>
            <a:custGeom>
              <a:avLst/>
              <a:gdLst/>
              <a:ahLst/>
              <a:cxnLst/>
              <a:rect r="r" b="b" t="t" l="l"/>
              <a:pathLst>
                <a:path h="750570" w="7919466">
                  <a:moveTo>
                    <a:pt x="0" y="375285"/>
                  </a:moveTo>
                  <a:cubicBezTo>
                    <a:pt x="0" y="168021"/>
                    <a:pt x="168021" y="0"/>
                    <a:pt x="375285" y="0"/>
                  </a:cubicBezTo>
                  <a:lnTo>
                    <a:pt x="7544181" y="0"/>
                  </a:lnTo>
                  <a:cubicBezTo>
                    <a:pt x="7751445" y="0"/>
                    <a:pt x="7919466" y="168021"/>
                    <a:pt x="7919466" y="375285"/>
                  </a:cubicBezTo>
                  <a:cubicBezTo>
                    <a:pt x="7919466" y="582549"/>
                    <a:pt x="7751445" y="750570"/>
                    <a:pt x="7544181" y="750570"/>
                  </a:cubicBezTo>
                  <a:lnTo>
                    <a:pt x="375285" y="750570"/>
                  </a:lnTo>
                  <a:cubicBezTo>
                    <a:pt x="168021" y="750570"/>
                    <a:pt x="0" y="582549"/>
                    <a:pt x="0" y="375285"/>
                  </a:cubicBezTo>
                  <a:close/>
                </a:path>
              </a:pathLst>
            </a:custGeom>
            <a:solidFill>
              <a:srgbClr val="8A6A24">
                <a:alpha val="3137"/>
              </a:srgbClr>
            </a:solidFill>
            <a:ln w="14288" cap="sq">
              <a:solidFill>
                <a:srgbClr val="8A6A24"/>
              </a:solidFill>
              <a:prstDash val="solid"/>
              <a:miter/>
            </a:ln>
          </p:spPr>
        </p:sp>
      </p:grpSp>
      <p:grpSp>
        <p:nvGrpSpPr>
          <p:cNvPr name="Group 13" id="13"/>
          <p:cNvGrpSpPr/>
          <p:nvPr/>
        </p:nvGrpSpPr>
        <p:grpSpPr>
          <a:xfrm rot="0">
            <a:off x="16939260" y="1374097"/>
            <a:ext cx="301752" cy="301752"/>
            <a:chOff x="0" y="0"/>
            <a:chExt cx="402336" cy="402336"/>
          </a:xfrm>
        </p:grpSpPr>
        <p:sp>
          <p:nvSpPr>
            <p:cNvPr name="Freeform 14" id="14"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5" id="15"/>
          <p:cNvGrpSpPr/>
          <p:nvPr/>
        </p:nvGrpSpPr>
        <p:grpSpPr>
          <a:xfrm rot="0">
            <a:off x="11699748" y="1250653"/>
            <a:ext cx="5102352" cy="564812"/>
            <a:chOff x="0" y="0"/>
            <a:chExt cx="6803136" cy="753083"/>
          </a:xfrm>
        </p:grpSpPr>
        <p:sp>
          <p:nvSpPr>
            <p:cNvPr name="Freeform 16" id="16"/>
            <p:cNvSpPr/>
            <p:nvPr/>
          </p:nvSpPr>
          <p:spPr>
            <a:xfrm flipH="false" flipV="false" rot="0">
              <a:off x="0" y="0"/>
              <a:ext cx="6803136" cy="753083"/>
            </a:xfrm>
            <a:custGeom>
              <a:avLst/>
              <a:gdLst/>
              <a:ahLst/>
              <a:cxnLst/>
              <a:rect r="r" b="b" t="t" l="l"/>
              <a:pathLst>
                <a:path h="753083" w="6803136">
                  <a:moveTo>
                    <a:pt x="0" y="0"/>
                  </a:moveTo>
                  <a:lnTo>
                    <a:pt x="6803136" y="0"/>
                  </a:lnTo>
                  <a:lnTo>
                    <a:pt x="6803136" y="753083"/>
                  </a:lnTo>
                  <a:lnTo>
                    <a:pt x="0" y="753083"/>
                  </a:lnTo>
                  <a:close/>
                </a:path>
              </a:pathLst>
            </a:custGeom>
            <a:blipFill>
              <a:blip r:embed="rId4">
                <a:alphaModFix amt="0"/>
              </a:blip>
              <a:stretch>
                <a:fillRect l="0" t="-127453" r="0" b="-124590"/>
              </a:stretch>
            </a:blipFill>
          </p:spPr>
        </p:sp>
        <p:sp>
          <p:nvSpPr>
            <p:cNvPr name="TextBox 17" id="17"/>
            <p:cNvSpPr txBox="true"/>
            <p:nvPr/>
          </p:nvSpPr>
          <p:spPr>
            <a:xfrm>
              <a:off x="0" y="-9525"/>
              <a:ext cx="6803136" cy="762608"/>
            </a:xfrm>
            <a:prstGeom prst="rect">
              <a:avLst/>
            </a:prstGeom>
          </p:spPr>
          <p:txBody>
            <a:bodyPr anchor="ctr" rtlCol="false" tIns="0" lIns="0" bIns="0" rIns="0"/>
            <a:lstStyle/>
            <a:p>
              <a:pPr algn="r" rtl="true">
                <a:lnSpc>
                  <a:spcPts val="2340"/>
                </a:lnSpc>
              </a:pPr>
              <a:r>
                <a:rPr lang="ar-EG" b="true" sz="1950" spc="19">
                  <a:solidFill>
                    <a:srgbClr val="8A6A24"/>
                  </a:solidFill>
                  <a:latin typeface="XM Traffic Bold"/>
                  <a:ea typeface="XM Traffic Bold"/>
                  <a:cs typeface="XM Traffic Bold"/>
                  <a:sym typeface="XM Traffic Bold"/>
                  <a:rtl val="true"/>
                </a:rPr>
                <a:t>مزارع الجو – المجمعة</a:t>
              </a:r>
            </a:p>
          </p:txBody>
        </p:sp>
      </p:grpSp>
      <p:grpSp>
        <p:nvGrpSpPr>
          <p:cNvPr name="Group 18" id="18"/>
          <p:cNvGrpSpPr/>
          <p:nvPr/>
        </p:nvGrpSpPr>
        <p:grpSpPr>
          <a:xfrm rot="0">
            <a:off x="7680960" y="9669780"/>
            <a:ext cx="9779508" cy="342900"/>
            <a:chOff x="0" y="0"/>
            <a:chExt cx="13039344" cy="457200"/>
          </a:xfrm>
        </p:grpSpPr>
        <p:sp>
          <p:nvSpPr>
            <p:cNvPr name="Freeform 19" id="19"/>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20" id="20"/>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21" id="21"/>
          <p:cNvGrpSpPr/>
          <p:nvPr/>
        </p:nvGrpSpPr>
        <p:grpSpPr>
          <a:xfrm rot="0">
            <a:off x="8048015" y="1243509"/>
            <a:ext cx="3314290" cy="562928"/>
            <a:chOff x="0" y="0"/>
            <a:chExt cx="4419054" cy="750570"/>
          </a:xfrm>
        </p:grpSpPr>
        <p:sp>
          <p:nvSpPr>
            <p:cNvPr name="Freeform 22" id="22" descr="رابط الموقع على خرائط قوقل">
              <a:hlinkClick r:id="rId7"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23" id="23"/>
          <p:cNvGrpSpPr/>
          <p:nvPr/>
        </p:nvGrpSpPr>
        <p:grpSpPr>
          <a:xfrm rot="0">
            <a:off x="10858405" y="1374097"/>
            <a:ext cx="301752" cy="301752"/>
            <a:chOff x="0" y="0"/>
            <a:chExt cx="402336" cy="402336"/>
          </a:xfrm>
        </p:grpSpPr>
        <p:sp>
          <p:nvSpPr>
            <p:cNvPr name="Freeform 24" id="24"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8"/>
              <a:stretch>
                <a:fillRect l="0" t="0" r="0" b="0"/>
              </a:stretch>
            </a:blipFill>
          </p:spPr>
        </p:sp>
      </p:grpSp>
      <p:grpSp>
        <p:nvGrpSpPr>
          <p:cNvPr name="Group 25" id="25"/>
          <p:cNvGrpSpPr/>
          <p:nvPr/>
        </p:nvGrpSpPr>
        <p:grpSpPr>
          <a:xfrm rot="0">
            <a:off x="8205159" y="1250653"/>
            <a:ext cx="2548252" cy="548640"/>
            <a:chOff x="0" y="0"/>
            <a:chExt cx="3397669" cy="731520"/>
          </a:xfrm>
        </p:grpSpPr>
        <p:sp>
          <p:nvSpPr>
            <p:cNvPr name="Freeform 26" id="26"/>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27" id="27"/>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9" tooltip="https://maps.app.goo.gl/PcG3u6xeZU9a99fs9?g_st=iw"/>
                  <a:rtl val="true"/>
                </a:rPr>
                <a:t>موقع مزرعه الجو بـ المجمعه</a:t>
              </a:r>
            </a:p>
          </p:txBody>
        </p:sp>
      </p:grpSp>
      <p:sp>
        <p:nvSpPr>
          <p:cNvPr name="Freeform 28" id="28"/>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0"/>
            <a:stretch>
              <a:fillRect l="0" t="-22113" r="0" b="-17967"/>
            </a:stretch>
          </a:blipFill>
        </p:spPr>
      </p:sp>
      <p:sp>
        <p:nvSpPr>
          <p:cNvPr name="TextBox 29" id="29"/>
          <p:cNvSpPr txBox="true"/>
          <p:nvPr/>
        </p:nvSpPr>
        <p:spPr>
          <a:xfrm rot="0">
            <a:off x="7479792" y="3034665"/>
            <a:ext cx="9779508" cy="767715"/>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ملتقى اجتماعي وتجاري داخل بيئة زراعية تحيط بها أشجار النخيل، يستثمر طبيعة المزارع القائمة ويحولها إلى وجهة للزيارة والتنزه والتسوق</a:t>
            </a:r>
          </a:p>
        </p:txBody>
      </p:sp>
      <p:grpSp>
        <p:nvGrpSpPr>
          <p:cNvPr name="Group 30" id="30"/>
          <p:cNvGrpSpPr/>
          <p:nvPr/>
        </p:nvGrpSpPr>
        <p:grpSpPr>
          <a:xfrm rot="0">
            <a:off x="16863822" y="2147575"/>
            <a:ext cx="475488" cy="475488"/>
            <a:chOff x="0" y="0"/>
            <a:chExt cx="633984" cy="633984"/>
          </a:xfrm>
        </p:grpSpPr>
        <p:sp>
          <p:nvSpPr>
            <p:cNvPr name="Freeform 31" id="31"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1"/>
              <a:stretch>
                <a:fillRect l="0" t="0" r="0" b="0"/>
              </a:stretch>
            </a:blipFill>
          </p:spPr>
        </p:sp>
      </p:grpSp>
      <p:grpSp>
        <p:nvGrpSpPr>
          <p:cNvPr name="Group 32" id="32"/>
          <p:cNvGrpSpPr/>
          <p:nvPr/>
        </p:nvGrpSpPr>
        <p:grpSpPr>
          <a:xfrm rot="0">
            <a:off x="14068851" y="2147575"/>
            <a:ext cx="2612091" cy="572765"/>
            <a:chOff x="0" y="0"/>
            <a:chExt cx="3482788" cy="763687"/>
          </a:xfrm>
        </p:grpSpPr>
        <p:sp>
          <p:nvSpPr>
            <p:cNvPr name="Freeform 33" id="33"/>
            <p:cNvSpPr/>
            <p:nvPr/>
          </p:nvSpPr>
          <p:spPr>
            <a:xfrm flipH="false" flipV="false" rot="0">
              <a:off x="0" y="0"/>
              <a:ext cx="3482788" cy="763687"/>
            </a:xfrm>
            <a:custGeom>
              <a:avLst/>
              <a:gdLst/>
              <a:ahLst/>
              <a:cxnLst/>
              <a:rect r="r" b="b" t="t" l="l"/>
              <a:pathLst>
                <a:path h="763687" w="3482788">
                  <a:moveTo>
                    <a:pt x="0" y="0"/>
                  </a:moveTo>
                  <a:lnTo>
                    <a:pt x="3482788" y="0"/>
                  </a:lnTo>
                  <a:lnTo>
                    <a:pt x="3482788" y="763687"/>
                  </a:lnTo>
                  <a:lnTo>
                    <a:pt x="0" y="763687"/>
                  </a:lnTo>
                  <a:close/>
                </a:path>
              </a:pathLst>
            </a:custGeom>
            <a:blipFill>
              <a:blip r:embed="rId4">
                <a:alphaModFix amt="0"/>
              </a:blip>
              <a:stretch>
                <a:fillRect l="0" t="-294285" r="-285070" b="-290073"/>
              </a:stretch>
            </a:blipFill>
          </p:spPr>
        </p:sp>
        <p:sp>
          <p:nvSpPr>
            <p:cNvPr name="TextBox 34" id="34"/>
            <p:cNvSpPr txBox="true"/>
            <p:nvPr/>
          </p:nvSpPr>
          <p:spPr>
            <a:xfrm>
              <a:off x="0" y="-19050"/>
              <a:ext cx="3482788" cy="782737"/>
            </a:xfrm>
            <a:prstGeom prst="rect">
              <a:avLst/>
            </a:prstGeom>
          </p:spPr>
          <p:txBody>
            <a:bodyPr anchor="ctr" rtlCol="false" tIns="0" lIns="0" bIns="0" rIns="0"/>
            <a:lstStyle/>
            <a:p>
              <a:pPr algn="r" rtl="true">
                <a:lnSpc>
                  <a:spcPts val="3359"/>
                </a:lnSpc>
              </a:pPr>
              <a:r>
                <a:rPr lang="ar-EG" b="true" sz="2799">
                  <a:solidFill>
                    <a:srgbClr val="7A5230"/>
                  </a:solidFill>
                  <a:latin typeface="Arial Bold"/>
                  <a:ea typeface="Arial Bold"/>
                  <a:cs typeface="Arial Bold"/>
                  <a:sym typeface="Arial Bold"/>
                  <a:rtl val="true"/>
                </a:rPr>
                <a:t>التجربة</a:t>
              </a:r>
            </a:p>
          </p:txBody>
        </p:sp>
      </p:grpSp>
      <p:grpSp>
        <p:nvGrpSpPr>
          <p:cNvPr name="Group 35" id="35"/>
          <p:cNvGrpSpPr/>
          <p:nvPr/>
        </p:nvGrpSpPr>
        <p:grpSpPr>
          <a:xfrm rot="0">
            <a:off x="10238960" y="4069080"/>
            <a:ext cx="6851176" cy="751541"/>
            <a:chOff x="0" y="0"/>
            <a:chExt cx="9134901" cy="1002055"/>
          </a:xfrm>
        </p:grpSpPr>
        <p:sp>
          <p:nvSpPr>
            <p:cNvPr name="Freeform 36" id="36"/>
            <p:cNvSpPr/>
            <p:nvPr/>
          </p:nvSpPr>
          <p:spPr>
            <a:xfrm flipH="false" flipV="false" rot="0">
              <a:off x="0" y="0"/>
              <a:ext cx="9134901" cy="1002055"/>
            </a:xfrm>
            <a:custGeom>
              <a:avLst/>
              <a:gdLst/>
              <a:ahLst/>
              <a:cxnLst/>
              <a:rect r="r" b="b" t="t" l="l"/>
              <a:pathLst>
                <a:path h="1002055" w="9134901">
                  <a:moveTo>
                    <a:pt x="0" y="233813"/>
                  </a:moveTo>
                  <a:cubicBezTo>
                    <a:pt x="0" y="104651"/>
                    <a:pt x="167563" y="0"/>
                    <a:pt x="374369" y="0"/>
                  </a:cubicBezTo>
                  <a:lnTo>
                    <a:pt x="8760532" y="0"/>
                  </a:lnTo>
                  <a:cubicBezTo>
                    <a:pt x="8967338" y="0"/>
                    <a:pt x="9134901" y="104651"/>
                    <a:pt x="9134901" y="233813"/>
                  </a:cubicBezTo>
                  <a:lnTo>
                    <a:pt x="9134901" y="768242"/>
                  </a:lnTo>
                  <a:cubicBezTo>
                    <a:pt x="9134901" y="897404"/>
                    <a:pt x="8967338" y="1002055"/>
                    <a:pt x="8760532" y="1002055"/>
                  </a:cubicBezTo>
                  <a:lnTo>
                    <a:pt x="374369" y="1002055"/>
                  </a:lnTo>
                  <a:cubicBezTo>
                    <a:pt x="167563" y="1002055"/>
                    <a:pt x="0" y="897404"/>
                    <a:pt x="0" y="768242"/>
                  </a:cubicBezTo>
                  <a:close/>
                </a:path>
              </a:pathLst>
            </a:custGeom>
            <a:solidFill>
              <a:srgbClr val="FBF6EE"/>
            </a:solidFill>
            <a:ln w="14288" cap="sq">
              <a:solidFill>
                <a:srgbClr val="E3D3BA"/>
              </a:solidFill>
              <a:prstDash val="solid"/>
              <a:miter/>
            </a:ln>
          </p:spPr>
        </p:sp>
      </p:grpSp>
      <p:grpSp>
        <p:nvGrpSpPr>
          <p:cNvPr name="Group 37" id="37"/>
          <p:cNvGrpSpPr/>
          <p:nvPr/>
        </p:nvGrpSpPr>
        <p:grpSpPr>
          <a:xfrm rot="0">
            <a:off x="16342328" y="4186300"/>
            <a:ext cx="576072" cy="517102"/>
            <a:chOff x="0" y="0"/>
            <a:chExt cx="768096" cy="689469"/>
          </a:xfrm>
        </p:grpSpPr>
        <p:sp>
          <p:nvSpPr>
            <p:cNvPr name="Freeform 38" id="38"/>
            <p:cNvSpPr/>
            <p:nvPr/>
          </p:nvSpPr>
          <p:spPr>
            <a:xfrm flipH="false" flipV="false" rot="0">
              <a:off x="0" y="0"/>
              <a:ext cx="768096" cy="689469"/>
            </a:xfrm>
            <a:custGeom>
              <a:avLst/>
              <a:gdLst/>
              <a:ahLst/>
              <a:cxnLst/>
              <a:rect r="r" b="b" t="t" l="l"/>
              <a:pathLst>
                <a:path h="689469" w="768096">
                  <a:moveTo>
                    <a:pt x="0" y="344734"/>
                  </a:moveTo>
                  <a:cubicBezTo>
                    <a:pt x="0" y="154355"/>
                    <a:pt x="171958" y="0"/>
                    <a:pt x="384048" y="0"/>
                  </a:cubicBezTo>
                  <a:cubicBezTo>
                    <a:pt x="596138" y="0"/>
                    <a:pt x="768096" y="154355"/>
                    <a:pt x="768096" y="344734"/>
                  </a:cubicBezTo>
                  <a:cubicBezTo>
                    <a:pt x="768096" y="535113"/>
                    <a:pt x="596138" y="689469"/>
                    <a:pt x="384048" y="689469"/>
                  </a:cubicBezTo>
                  <a:cubicBezTo>
                    <a:pt x="171958" y="689469"/>
                    <a:pt x="0" y="535113"/>
                    <a:pt x="0" y="344734"/>
                  </a:cubicBezTo>
                  <a:close/>
                </a:path>
              </a:pathLst>
            </a:custGeom>
            <a:solidFill>
              <a:srgbClr val="8A6A24"/>
            </a:solidFill>
          </p:spPr>
        </p:sp>
      </p:grpSp>
      <p:grpSp>
        <p:nvGrpSpPr>
          <p:cNvPr name="Group 39" id="39"/>
          <p:cNvGrpSpPr/>
          <p:nvPr/>
        </p:nvGrpSpPr>
        <p:grpSpPr>
          <a:xfrm rot="0">
            <a:off x="10393887" y="4118561"/>
            <a:ext cx="5783849" cy="738716"/>
            <a:chOff x="0" y="0"/>
            <a:chExt cx="7711799" cy="984955"/>
          </a:xfrm>
        </p:grpSpPr>
        <p:sp>
          <p:nvSpPr>
            <p:cNvPr name="Freeform 40" id="40"/>
            <p:cNvSpPr/>
            <p:nvPr/>
          </p:nvSpPr>
          <p:spPr>
            <a:xfrm flipH="false" flipV="false" rot="0">
              <a:off x="0" y="0"/>
              <a:ext cx="7711799" cy="984955"/>
            </a:xfrm>
            <a:custGeom>
              <a:avLst/>
              <a:gdLst/>
              <a:ahLst/>
              <a:cxnLst/>
              <a:rect r="r" b="b" t="t" l="l"/>
              <a:pathLst>
                <a:path h="984955" w="7711799">
                  <a:moveTo>
                    <a:pt x="0" y="0"/>
                  </a:moveTo>
                  <a:lnTo>
                    <a:pt x="7711799" y="0"/>
                  </a:lnTo>
                  <a:lnTo>
                    <a:pt x="7711799" y="984955"/>
                  </a:lnTo>
                  <a:lnTo>
                    <a:pt x="0" y="984955"/>
                  </a:lnTo>
                  <a:close/>
                </a:path>
              </a:pathLst>
            </a:custGeom>
            <a:blipFill>
              <a:blip r:embed="rId4">
                <a:alphaModFix amt="0"/>
              </a:blip>
              <a:stretch>
                <a:fillRect l="0" t="-41437" r="36327" b="-52841"/>
              </a:stretch>
            </a:blipFill>
          </p:spPr>
        </p:sp>
        <p:sp>
          <p:nvSpPr>
            <p:cNvPr name="TextBox 41" id="41"/>
            <p:cNvSpPr txBox="true"/>
            <p:nvPr/>
          </p:nvSpPr>
          <p:spPr>
            <a:xfrm>
              <a:off x="0" y="0"/>
              <a:ext cx="7711799" cy="984955"/>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أكشاك و</a:t>
              </a:r>
              <a:r>
                <a:rPr lang="ar-EG" sz="2100" spc="21">
                  <a:solidFill>
                    <a:srgbClr val="3B2A1E"/>
                  </a:solidFill>
                  <a:latin typeface="XM Traffic"/>
                  <a:ea typeface="XM Traffic"/>
                  <a:cs typeface="XM Traffic"/>
                  <a:sym typeface="XM Traffic"/>
                  <a:rtl val="true"/>
                </a:rPr>
                <a:t>متاجر لعرض وبيع المنتجات الزراعية والمحلية.</a:t>
              </a:r>
            </a:p>
          </p:txBody>
        </p:sp>
      </p:grpSp>
      <p:grpSp>
        <p:nvGrpSpPr>
          <p:cNvPr name="Group 42" id="42"/>
          <p:cNvGrpSpPr/>
          <p:nvPr/>
        </p:nvGrpSpPr>
        <p:grpSpPr>
          <a:xfrm rot="0">
            <a:off x="10238960" y="4906292"/>
            <a:ext cx="6851176" cy="751541"/>
            <a:chOff x="0" y="0"/>
            <a:chExt cx="9134901" cy="1002055"/>
          </a:xfrm>
        </p:grpSpPr>
        <p:sp>
          <p:nvSpPr>
            <p:cNvPr name="Freeform 43" id="43"/>
            <p:cNvSpPr/>
            <p:nvPr/>
          </p:nvSpPr>
          <p:spPr>
            <a:xfrm flipH="false" flipV="false" rot="0">
              <a:off x="0" y="0"/>
              <a:ext cx="9134901" cy="1002055"/>
            </a:xfrm>
            <a:custGeom>
              <a:avLst/>
              <a:gdLst/>
              <a:ahLst/>
              <a:cxnLst/>
              <a:rect r="r" b="b" t="t" l="l"/>
              <a:pathLst>
                <a:path h="1002055" w="9134901">
                  <a:moveTo>
                    <a:pt x="0" y="233813"/>
                  </a:moveTo>
                  <a:cubicBezTo>
                    <a:pt x="0" y="104651"/>
                    <a:pt x="167563" y="0"/>
                    <a:pt x="374369" y="0"/>
                  </a:cubicBezTo>
                  <a:lnTo>
                    <a:pt x="8760532" y="0"/>
                  </a:lnTo>
                  <a:cubicBezTo>
                    <a:pt x="8967338" y="0"/>
                    <a:pt x="9134901" y="104651"/>
                    <a:pt x="9134901" y="233813"/>
                  </a:cubicBezTo>
                  <a:lnTo>
                    <a:pt x="9134901" y="768242"/>
                  </a:lnTo>
                  <a:cubicBezTo>
                    <a:pt x="9134901" y="897404"/>
                    <a:pt x="8967338" y="1002055"/>
                    <a:pt x="8760532" y="1002055"/>
                  </a:cubicBezTo>
                  <a:lnTo>
                    <a:pt x="374369" y="1002055"/>
                  </a:lnTo>
                  <a:cubicBezTo>
                    <a:pt x="167563" y="1002055"/>
                    <a:pt x="0" y="897404"/>
                    <a:pt x="0" y="768242"/>
                  </a:cubicBezTo>
                  <a:close/>
                </a:path>
              </a:pathLst>
            </a:custGeom>
            <a:solidFill>
              <a:srgbClr val="FBF6EE"/>
            </a:solidFill>
            <a:ln w="14288" cap="sq">
              <a:solidFill>
                <a:srgbClr val="E3D3BA"/>
              </a:solidFill>
              <a:prstDash val="solid"/>
              <a:miter/>
            </a:ln>
          </p:spPr>
        </p:sp>
      </p:grpSp>
      <p:grpSp>
        <p:nvGrpSpPr>
          <p:cNvPr name="Group 44" id="44"/>
          <p:cNvGrpSpPr/>
          <p:nvPr/>
        </p:nvGrpSpPr>
        <p:grpSpPr>
          <a:xfrm rot="0">
            <a:off x="16342328" y="5023512"/>
            <a:ext cx="576072" cy="517102"/>
            <a:chOff x="0" y="0"/>
            <a:chExt cx="768096" cy="689469"/>
          </a:xfrm>
        </p:grpSpPr>
        <p:sp>
          <p:nvSpPr>
            <p:cNvPr name="Freeform 45" id="45"/>
            <p:cNvSpPr/>
            <p:nvPr/>
          </p:nvSpPr>
          <p:spPr>
            <a:xfrm flipH="false" flipV="false" rot="0">
              <a:off x="0" y="0"/>
              <a:ext cx="768096" cy="689469"/>
            </a:xfrm>
            <a:custGeom>
              <a:avLst/>
              <a:gdLst/>
              <a:ahLst/>
              <a:cxnLst/>
              <a:rect r="r" b="b" t="t" l="l"/>
              <a:pathLst>
                <a:path h="689469" w="768096">
                  <a:moveTo>
                    <a:pt x="0" y="344734"/>
                  </a:moveTo>
                  <a:cubicBezTo>
                    <a:pt x="0" y="154355"/>
                    <a:pt x="171958" y="0"/>
                    <a:pt x="384048" y="0"/>
                  </a:cubicBezTo>
                  <a:cubicBezTo>
                    <a:pt x="596138" y="0"/>
                    <a:pt x="768096" y="154355"/>
                    <a:pt x="768096" y="344734"/>
                  </a:cubicBezTo>
                  <a:cubicBezTo>
                    <a:pt x="768096" y="535113"/>
                    <a:pt x="596138" y="689469"/>
                    <a:pt x="384048" y="689469"/>
                  </a:cubicBezTo>
                  <a:cubicBezTo>
                    <a:pt x="171958" y="689469"/>
                    <a:pt x="0" y="535113"/>
                    <a:pt x="0" y="344734"/>
                  </a:cubicBezTo>
                  <a:close/>
                </a:path>
              </a:pathLst>
            </a:custGeom>
            <a:solidFill>
              <a:srgbClr val="8A6A24"/>
            </a:solidFill>
          </p:spPr>
        </p:sp>
      </p:grpSp>
      <p:grpSp>
        <p:nvGrpSpPr>
          <p:cNvPr name="Group 46" id="46"/>
          <p:cNvGrpSpPr/>
          <p:nvPr/>
        </p:nvGrpSpPr>
        <p:grpSpPr>
          <a:xfrm rot="0">
            <a:off x="10595593" y="4955773"/>
            <a:ext cx="5582143" cy="738716"/>
            <a:chOff x="0" y="0"/>
            <a:chExt cx="7442857" cy="984955"/>
          </a:xfrm>
        </p:grpSpPr>
        <p:sp>
          <p:nvSpPr>
            <p:cNvPr name="Freeform 47" id="47"/>
            <p:cNvSpPr/>
            <p:nvPr/>
          </p:nvSpPr>
          <p:spPr>
            <a:xfrm flipH="false" flipV="false" rot="0">
              <a:off x="0" y="0"/>
              <a:ext cx="7442857" cy="984955"/>
            </a:xfrm>
            <a:custGeom>
              <a:avLst/>
              <a:gdLst/>
              <a:ahLst/>
              <a:cxnLst/>
              <a:rect r="r" b="b" t="t" l="l"/>
              <a:pathLst>
                <a:path h="984955" w="7442857">
                  <a:moveTo>
                    <a:pt x="0" y="0"/>
                  </a:moveTo>
                  <a:lnTo>
                    <a:pt x="7442857" y="0"/>
                  </a:lnTo>
                  <a:lnTo>
                    <a:pt x="7442857" y="984955"/>
                  </a:lnTo>
                  <a:lnTo>
                    <a:pt x="0" y="984955"/>
                  </a:lnTo>
                  <a:close/>
                </a:path>
              </a:pathLst>
            </a:custGeom>
            <a:blipFill>
              <a:blip r:embed="rId4">
                <a:alphaModFix amt="0"/>
              </a:blip>
              <a:stretch>
                <a:fillRect l="0" t="-41437" r="34026" b="-52841"/>
              </a:stretch>
            </a:blipFill>
          </p:spPr>
        </p:sp>
        <p:sp>
          <p:nvSpPr>
            <p:cNvPr name="TextBox 48" id="48"/>
            <p:cNvSpPr txBox="true"/>
            <p:nvPr/>
          </p:nvSpPr>
          <p:spPr>
            <a:xfrm>
              <a:off x="0" y="0"/>
              <a:ext cx="7442857" cy="984955"/>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مقاهى ومطاعم وخيارات للأكل السريع.</a:t>
              </a:r>
            </a:p>
          </p:txBody>
        </p:sp>
      </p:grpSp>
      <p:grpSp>
        <p:nvGrpSpPr>
          <p:cNvPr name="Group 49" id="49"/>
          <p:cNvGrpSpPr/>
          <p:nvPr/>
        </p:nvGrpSpPr>
        <p:grpSpPr>
          <a:xfrm rot="0">
            <a:off x="10238960" y="5743504"/>
            <a:ext cx="6851176" cy="751541"/>
            <a:chOff x="0" y="0"/>
            <a:chExt cx="9134901" cy="1002055"/>
          </a:xfrm>
        </p:grpSpPr>
        <p:sp>
          <p:nvSpPr>
            <p:cNvPr name="Freeform 50" id="50"/>
            <p:cNvSpPr/>
            <p:nvPr/>
          </p:nvSpPr>
          <p:spPr>
            <a:xfrm flipH="false" flipV="false" rot="0">
              <a:off x="0" y="0"/>
              <a:ext cx="9134901" cy="1002055"/>
            </a:xfrm>
            <a:custGeom>
              <a:avLst/>
              <a:gdLst/>
              <a:ahLst/>
              <a:cxnLst/>
              <a:rect r="r" b="b" t="t" l="l"/>
              <a:pathLst>
                <a:path h="1002055" w="9134901">
                  <a:moveTo>
                    <a:pt x="0" y="233813"/>
                  </a:moveTo>
                  <a:cubicBezTo>
                    <a:pt x="0" y="104651"/>
                    <a:pt x="167563" y="0"/>
                    <a:pt x="374369" y="0"/>
                  </a:cubicBezTo>
                  <a:lnTo>
                    <a:pt x="8760532" y="0"/>
                  </a:lnTo>
                  <a:cubicBezTo>
                    <a:pt x="8967338" y="0"/>
                    <a:pt x="9134901" y="104651"/>
                    <a:pt x="9134901" y="233813"/>
                  </a:cubicBezTo>
                  <a:lnTo>
                    <a:pt x="9134901" y="768242"/>
                  </a:lnTo>
                  <a:cubicBezTo>
                    <a:pt x="9134901" y="897404"/>
                    <a:pt x="8967338" y="1002055"/>
                    <a:pt x="8760532" y="1002055"/>
                  </a:cubicBezTo>
                  <a:lnTo>
                    <a:pt x="374369" y="1002055"/>
                  </a:lnTo>
                  <a:cubicBezTo>
                    <a:pt x="167563" y="1002055"/>
                    <a:pt x="0" y="897404"/>
                    <a:pt x="0" y="768242"/>
                  </a:cubicBezTo>
                  <a:close/>
                </a:path>
              </a:pathLst>
            </a:custGeom>
            <a:solidFill>
              <a:srgbClr val="FBF6EE"/>
            </a:solidFill>
            <a:ln w="14288" cap="sq">
              <a:solidFill>
                <a:srgbClr val="E3D3BA"/>
              </a:solidFill>
              <a:prstDash val="solid"/>
              <a:miter/>
            </a:ln>
          </p:spPr>
        </p:sp>
      </p:grpSp>
      <p:grpSp>
        <p:nvGrpSpPr>
          <p:cNvPr name="Group 51" id="51"/>
          <p:cNvGrpSpPr/>
          <p:nvPr/>
        </p:nvGrpSpPr>
        <p:grpSpPr>
          <a:xfrm rot="0">
            <a:off x="16342328" y="5860724"/>
            <a:ext cx="576072" cy="517102"/>
            <a:chOff x="0" y="0"/>
            <a:chExt cx="768096" cy="689469"/>
          </a:xfrm>
        </p:grpSpPr>
        <p:sp>
          <p:nvSpPr>
            <p:cNvPr name="Freeform 52" id="52"/>
            <p:cNvSpPr/>
            <p:nvPr/>
          </p:nvSpPr>
          <p:spPr>
            <a:xfrm flipH="false" flipV="false" rot="0">
              <a:off x="0" y="0"/>
              <a:ext cx="768096" cy="689469"/>
            </a:xfrm>
            <a:custGeom>
              <a:avLst/>
              <a:gdLst/>
              <a:ahLst/>
              <a:cxnLst/>
              <a:rect r="r" b="b" t="t" l="l"/>
              <a:pathLst>
                <a:path h="689469" w="768096">
                  <a:moveTo>
                    <a:pt x="0" y="344734"/>
                  </a:moveTo>
                  <a:cubicBezTo>
                    <a:pt x="0" y="154355"/>
                    <a:pt x="171958" y="0"/>
                    <a:pt x="384048" y="0"/>
                  </a:cubicBezTo>
                  <a:cubicBezTo>
                    <a:pt x="596138" y="0"/>
                    <a:pt x="768096" y="154355"/>
                    <a:pt x="768096" y="344734"/>
                  </a:cubicBezTo>
                  <a:cubicBezTo>
                    <a:pt x="768096" y="535113"/>
                    <a:pt x="596138" y="689469"/>
                    <a:pt x="384048" y="689469"/>
                  </a:cubicBezTo>
                  <a:cubicBezTo>
                    <a:pt x="171958" y="689469"/>
                    <a:pt x="0" y="535113"/>
                    <a:pt x="0" y="344734"/>
                  </a:cubicBezTo>
                  <a:close/>
                </a:path>
              </a:pathLst>
            </a:custGeom>
            <a:solidFill>
              <a:srgbClr val="8A6A24"/>
            </a:solidFill>
          </p:spPr>
        </p:sp>
      </p:grpSp>
      <p:grpSp>
        <p:nvGrpSpPr>
          <p:cNvPr name="Group 53" id="53"/>
          <p:cNvGrpSpPr/>
          <p:nvPr/>
        </p:nvGrpSpPr>
        <p:grpSpPr>
          <a:xfrm rot="0">
            <a:off x="10040902" y="5655850"/>
            <a:ext cx="6136834" cy="918921"/>
            <a:chOff x="0" y="0"/>
            <a:chExt cx="8182446" cy="1225228"/>
          </a:xfrm>
        </p:grpSpPr>
        <p:sp>
          <p:nvSpPr>
            <p:cNvPr name="Freeform 54" id="54"/>
            <p:cNvSpPr/>
            <p:nvPr/>
          </p:nvSpPr>
          <p:spPr>
            <a:xfrm flipH="false" flipV="false" rot="0">
              <a:off x="0" y="0"/>
              <a:ext cx="8182446" cy="1225228"/>
            </a:xfrm>
            <a:custGeom>
              <a:avLst/>
              <a:gdLst/>
              <a:ahLst/>
              <a:cxnLst/>
              <a:rect r="r" b="b" t="t" l="l"/>
              <a:pathLst>
                <a:path h="1225228" w="8182446">
                  <a:moveTo>
                    <a:pt x="0" y="0"/>
                  </a:moveTo>
                  <a:lnTo>
                    <a:pt x="8182446" y="0"/>
                  </a:lnTo>
                  <a:lnTo>
                    <a:pt x="8182446" y="1225228"/>
                  </a:lnTo>
                  <a:lnTo>
                    <a:pt x="0" y="1225228"/>
                  </a:lnTo>
                  <a:close/>
                </a:path>
              </a:pathLst>
            </a:custGeom>
            <a:blipFill>
              <a:blip r:embed="rId4">
                <a:alphaModFix amt="0"/>
              </a:blip>
              <a:stretch>
                <a:fillRect l="0" t="-33311" r="39989" b="-22868"/>
              </a:stretch>
            </a:blipFill>
          </p:spPr>
        </p:sp>
        <p:sp>
          <p:nvSpPr>
            <p:cNvPr name="TextBox 55" id="55"/>
            <p:cNvSpPr txBox="true"/>
            <p:nvPr/>
          </p:nvSpPr>
          <p:spPr>
            <a:xfrm>
              <a:off x="0" y="0"/>
              <a:ext cx="8182446" cy="1225228"/>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مسار للت</a:t>
              </a:r>
              <a:r>
                <a:rPr lang="ar-EG" sz="2100" spc="21">
                  <a:solidFill>
                    <a:srgbClr val="3B2A1E"/>
                  </a:solidFill>
                  <a:latin typeface="XM Traffic"/>
                  <a:ea typeface="XM Traffic"/>
                  <a:cs typeface="XM Traffic"/>
                  <a:sym typeface="XM Traffic"/>
                  <a:rtl val="true"/>
                </a:rPr>
                <a:t>نزه بين النخيل بالدراجات والسكوترات بطول تقريبي </a:t>
              </a:r>
              <a:r>
                <a:rPr lang="en-US" sz="2100" spc="21">
                  <a:solidFill>
                    <a:srgbClr val="3B2A1E"/>
                  </a:solidFill>
                  <a:latin typeface="XM Traffic"/>
                  <a:ea typeface="XM Traffic"/>
                  <a:cs typeface="XM Traffic"/>
                  <a:sym typeface="XM Traffic"/>
                </a:rPr>
                <a:t>1.5</a:t>
              </a:r>
              <a:r>
                <a:rPr lang="ar-EG" sz="2100" spc="21">
                  <a:solidFill>
                    <a:srgbClr val="3B2A1E"/>
                  </a:solidFill>
                  <a:latin typeface="XM Traffic"/>
                  <a:ea typeface="XM Traffic"/>
                  <a:cs typeface="XM Traffic"/>
                  <a:sym typeface="XM Traffic"/>
                  <a:rtl val="true"/>
                </a:rPr>
                <a:t> كم.</a:t>
              </a:r>
            </a:p>
          </p:txBody>
        </p:sp>
      </p:grpSp>
      <p:grpSp>
        <p:nvGrpSpPr>
          <p:cNvPr name="Group 56" id="56"/>
          <p:cNvGrpSpPr/>
          <p:nvPr/>
        </p:nvGrpSpPr>
        <p:grpSpPr>
          <a:xfrm rot="0">
            <a:off x="10250390" y="6748150"/>
            <a:ext cx="6851176" cy="751541"/>
            <a:chOff x="0" y="0"/>
            <a:chExt cx="9134901" cy="1002055"/>
          </a:xfrm>
        </p:grpSpPr>
        <p:sp>
          <p:nvSpPr>
            <p:cNvPr name="Freeform 57" id="57"/>
            <p:cNvSpPr/>
            <p:nvPr/>
          </p:nvSpPr>
          <p:spPr>
            <a:xfrm flipH="false" flipV="false" rot="0">
              <a:off x="0" y="0"/>
              <a:ext cx="9134901" cy="1002055"/>
            </a:xfrm>
            <a:custGeom>
              <a:avLst/>
              <a:gdLst/>
              <a:ahLst/>
              <a:cxnLst/>
              <a:rect r="r" b="b" t="t" l="l"/>
              <a:pathLst>
                <a:path h="1002055" w="9134901">
                  <a:moveTo>
                    <a:pt x="0" y="233813"/>
                  </a:moveTo>
                  <a:cubicBezTo>
                    <a:pt x="0" y="104651"/>
                    <a:pt x="167563" y="0"/>
                    <a:pt x="374369" y="0"/>
                  </a:cubicBezTo>
                  <a:lnTo>
                    <a:pt x="8760532" y="0"/>
                  </a:lnTo>
                  <a:cubicBezTo>
                    <a:pt x="8967338" y="0"/>
                    <a:pt x="9134901" y="104651"/>
                    <a:pt x="9134901" y="233813"/>
                  </a:cubicBezTo>
                  <a:lnTo>
                    <a:pt x="9134901" y="768242"/>
                  </a:lnTo>
                  <a:cubicBezTo>
                    <a:pt x="9134901" y="897404"/>
                    <a:pt x="8967338" y="1002055"/>
                    <a:pt x="8760532" y="1002055"/>
                  </a:cubicBezTo>
                  <a:lnTo>
                    <a:pt x="374369" y="1002055"/>
                  </a:lnTo>
                  <a:cubicBezTo>
                    <a:pt x="167563" y="1002055"/>
                    <a:pt x="0" y="897404"/>
                    <a:pt x="0" y="768242"/>
                  </a:cubicBezTo>
                  <a:close/>
                </a:path>
              </a:pathLst>
            </a:custGeom>
            <a:solidFill>
              <a:srgbClr val="FBF6EE"/>
            </a:solidFill>
            <a:ln w="14288" cap="sq">
              <a:solidFill>
                <a:srgbClr val="E3D3BA"/>
              </a:solidFill>
              <a:prstDash val="solid"/>
              <a:miter/>
            </a:ln>
          </p:spPr>
        </p:sp>
      </p:grpSp>
      <p:grpSp>
        <p:nvGrpSpPr>
          <p:cNvPr name="Group 58" id="58"/>
          <p:cNvGrpSpPr/>
          <p:nvPr/>
        </p:nvGrpSpPr>
        <p:grpSpPr>
          <a:xfrm rot="0">
            <a:off x="16353758" y="6865370"/>
            <a:ext cx="576072" cy="517102"/>
            <a:chOff x="0" y="0"/>
            <a:chExt cx="768096" cy="689469"/>
          </a:xfrm>
        </p:grpSpPr>
        <p:sp>
          <p:nvSpPr>
            <p:cNvPr name="Freeform 59" id="59"/>
            <p:cNvSpPr/>
            <p:nvPr/>
          </p:nvSpPr>
          <p:spPr>
            <a:xfrm flipH="false" flipV="false" rot="0">
              <a:off x="0" y="0"/>
              <a:ext cx="768096" cy="689469"/>
            </a:xfrm>
            <a:custGeom>
              <a:avLst/>
              <a:gdLst/>
              <a:ahLst/>
              <a:cxnLst/>
              <a:rect r="r" b="b" t="t" l="l"/>
              <a:pathLst>
                <a:path h="689469" w="768096">
                  <a:moveTo>
                    <a:pt x="0" y="344734"/>
                  </a:moveTo>
                  <a:cubicBezTo>
                    <a:pt x="0" y="154355"/>
                    <a:pt x="171958" y="0"/>
                    <a:pt x="384048" y="0"/>
                  </a:cubicBezTo>
                  <a:cubicBezTo>
                    <a:pt x="596138" y="0"/>
                    <a:pt x="768096" y="154355"/>
                    <a:pt x="768096" y="344734"/>
                  </a:cubicBezTo>
                  <a:cubicBezTo>
                    <a:pt x="768096" y="535113"/>
                    <a:pt x="596138" y="689469"/>
                    <a:pt x="384048" y="689469"/>
                  </a:cubicBezTo>
                  <a:cubicBezTo>
                    <a:pt x="171958" y="689469"/>
                    <a:pt x="0" y="535113"/>
                    <a:pt x="0" y="344734"/>
                  </a:cubicBezTo>
                  <a:close/>
                </a:path>
              </a:pathLst>
            </a:custGeom>
            <a:solidFill>
              <a:srgbClr val="8A6A24"/>
            </a:solidFill>
          </p:spPr>
        </p:sp>
      </p:grpSp>
      <p:grpSp>
        <p:nvGrpSpPr>
          <p:cNvPr name="Group 60" id="60"/>
          <p:cNvGrpSpPr/>
          <p:nvPr/>
        </p:nvGrpSpPr>
        <p:grpSpPr>
          <a:xfrm rot="0">
            <a:off x="10052332" y="6660495"/>
            <a:ext cx="6136834" cy="918921"/>
            <a:chOff x="0" y="0"/>
            <a:chExt cx="8182446" cy="1225228"/>
          </a:xfrm>
        </p:grpSpPr>
        <p:sp>
          <p:nvSpPr>
            <p:cNvPr name="Freeform 61" id="61"/>
            <p:cNvSpPr/>
            <p:nvPr/>
          </p:nvSpPr>
          <p:spPr>
            <a:xfrm flipH="false" flipV="false" rot="0">
              <a:off x="0" y="0"/>
              <a:ext cx="8182446" cy="1225228"/>
            </a:xfrm>
            <a:custGeom>
              <a:avLst/>
              <a:gdLst/>
              <a:ahLst/>
              <a:cxnLst/>
              <a:rect r="r" b="b" t="t" l="l"/>
              <a:pathLst>
                <a:path h="1225228" w="8182446">
                  <a:moveTo>
                    <a:pt x="0" y="0"/>
                  </a:moveTo>
                  <a:lnTo>
                    <a:pt x="8182446" y="0"/>
                  </a:lnTo>
                  <a:lnTo>
                    <a:pt x="8182446" y="1225228"/>
                  </a:lnTo>
                  <a:lnTo>
                    <a:pt x="0" y="1225228"/>
                  </a:lnTo>
                  <a:close/>
                </a:path>
              </a:pathLst>
            </a:custGeom>
            <a:blipFill>
              <a:blip r:embed="rId4">
                <a:alphaModFix amt="0"/>
              </a:blip>
              <a:stretch>
                <a:fillRect l="0" t="-33311" r="39989" b="-22868"/>
              </a:stretch>
            </a:blipFill>
          </p:spPr>
        </p:sp>
        <p:sp>
          <p:nvSpPr>
            <p:cNvPr name="TextBox 62" id="62"/>
            <p:cNvSpPr txBox="true"/>
            <p:nvPr/>
          </p:nvSpPr>
          <p:spPr>
            <a:xfrm>
              <a:off x="0" y="0"/>
              <a:ext cx="8182446" cy="1225228"/>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مسار للت</a:t>
              </a:r>
              <a:r>
                <a:rPr lang="ar-EG" sz="2100" spc="21">
                  <a:solidFill>
                    <a:srgbClr val="3B2A1E"/>
                  </a:solidFill>
                  <a:latin typeface="XM Traffic"/>
                  <a:ea typeface="XM Traffic"/>
                  <a:cs typeface="XM Traffic"/>
                  <a:sym typeface="XM Traffic"/>
                  <a:rtl val="true"/>
                </a:rPr>
                <a:t>نزه بين النخيل بالدراجات والسكوترات بطول تقريبي </a:t>
              </a:r>
              <a:r>
                <a:rPr lang="en-US" sz="2100" spc="21">
                  <a:solidFill>
                    <a:srgbClr val="3B2A1E"/>
                  </a:solidFill>
                  <a:latin typeface="XM Traffic"/>
                  <a:ea typeface="XM Traffic"/>
                  <a:cs typeface="XM Traffic"/>
                  <a:sym typeface="XM Traffic"/>
                </a:rPr>
                <a:t>1.5</a:t>
              </a:r>
              <a:r>
                <a:rPr lang="ar-EG" sz="2100" spc="21">
                  <a:solidFill>
                    <a:srgbClr val="3B2A1E"/>
                  </a:solidFill>
                  <a:latin typeface="XM Traffic"/>
                  <a:ea typeface="XM Traffic"/>
                  <a:cs typeface="XM Traffic"/>
                  <a:sym typeface="XM Traffic"/>
                  <a:rtl val="true"/>
                </a:rPr>
                <a:t> كم.</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507807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D4AF55">
                <a:alpha val="1176"/>
              </a:srgbClr>
            </a:solidFill>
          </p:spPr>
        </p:sp>
      </p:grpSp>
      <p:grpSp>
        <p:nvGrpSpPr>
          <p:cNvPr name="Group 5" id="5"/>
          <p:cNvGrpSpPr/>
          <p:nvPr/>
        </p:nvGrpSpPr>
        <p:grpSpPr>
          <a:xfrm rot="0">
            <a:off x="-697706" y="-11906"/>
            <a:ext cx="7567612" cy="10310812"/>
            <a:chOff x="0" y="0"/>
            <a:chExt cx="10090150" cy="13747750"/>
          </a:xfrm>
        </p:grpSpPr>
        <p:sp>
          <p:nvSpPr>
            <p:cNvPr name="Freeform 6" id="6"/>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4AF55"/>
              </a:solidFill>
              <a:prstDash val="dash"/>
              <a:miter/>
            </a:ln>
          </p:spPr>
        </p:sp>
      </p:grpSp>
      <p:grpSp>
        <p:nvGrpSpPr>
          <p:cNvPr name="Group 7" id="7"/>
          <p:cNvGrpSpPr/>
          <p:nvPr/>
        </p:nvGrpSpPr>
        <p:grpSpPr>
          <a:xfrm rot="0">
            <a:off x="-446056" y="239744"/>
            <a:ext cx="7064312" cy="9807512"/>
            <a:chOff x="0" y="0"/>
            <a:chExt cx="9419082" cy="13076682"/>
          </a:xfrm>
        </p:grpSpPr>
        <p:sp>
          <p:nvSpPr>
            <p:cNvPr name="Freeform 8" id="8"/>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4">
                <a:alphaModFix amt="0"/>
              </a:blip>
              <a:stretch>
                <a:fillRect l="-128126" t="0" r="-128126" b="0"/>
              </a:stretch>
            </a:blipFill>
            <a:ln w="14288" cap="sq">
              <a:solidFill>
                <a:srgbClr val="D4AF55"/>
              </a:solidFill>
              <a:prstDash val="solid"/>
              <a:miter/>
            </a:ln>
          </p:spPr>
        </p:sp>
      </p:grpSp>
      <p:grpSp>
        <p:nvGrpSpPr>
          <p:cNvPr name="Group 9" id="9"/>
          <p:cNvGrpSpPr/>
          <p:nvPr/>
        </p:nvGrpSpPr>
        <p:grpSpPr>
          <a:xfrm rot="0">
            <a:off x="0" y="239744"/>
            <a:ext cx="6618256" cy="9807512"/>
            <a:chOff x="0" y="0"/>
            <a:chExt cx="8824341" cy="13076682"/>
          </a:xfrm>
        </p:grpSpPr>
        <p:sp>
          <p:nvSpPr>
            <p:cNvPr name="Freeform 10" id="10"/>
            <p:cNvSpPr/>
            <p:nvPr/>
          </p:nvSpPr>
          <p:spPr>
            <a:xfrm flipH="false" flipV="false" rot="0">
              <a:off x="0" y="0"/>
              <a:ext cx="8824341" cy="13076682"/>
            </a:xfrm>
            <a:custGeom>
              <a:avLst/>
              <a:gdLst/>
              <a:ahLst/>
              <a:cxnLst/>
              <a:rect r="r" b="b" t="t" l="l"/>
              <a:pathLst>
                <a:path h="13076682" w="8824341">
                  <a:moveTo>
                    <a:pt x="210298" y="0"/>
                  </a:moveTo>
                  <a:lnTo>
                    <a:pt x="8614043" y="0"/>
                  </a:lnTo>
                  <a:cubicBezTo>
                    <a:pt x="8730188" y="0"/>
                    <a:pt x="8824341" y="94153"/>
                    <a:pt x="8824341" y="210298"/>
                  </a:cubicBezTo>
                  <a:lnTo>
                    <a:pt x="8824341" y="12866385"/>
                  </a:lnTo>
                  <a:cubicBezTo>
                    <a:pt x="8824341" y="12982529"/>
                    <a:pt x="8730188" y="13076682"/>
                    <a:pt x="8614043" y="13076682"/>
                  </a:cubicBezTo>
                  <a:lnTo>
                    <a:pt x="210298" y="13076682"/>
                  </a:lnTo>
                  <a:cubicBezTo>
                    <a:pt x="94153" y="13076682"/>
                    <a:pt x="0" y="12982529"/>
                    <a:pt x="0" y="12866385"/>
                  </a:cubicBezTo>
                  <a:lnTo>
                    <a:pt x="0" y="210298"/>
                  </a:lnTo>
                  <a:cubicBezTo>
                    <a:pt x="0" y="94153"/>
                    <a:pt x="94153" y="0"/>
                    <a:pt x="210298" y="0"/>
                  </a:cubicBezTo>
                  <a:close/>
                </a:path>
              </a:pathLst>
            </a:custGeom>
            <a:blipFill>
              <a:blip r:embed="rId5">
                <a:alphaModFix amt="65000"/>
              </a:blip>
              <a:stretch>
                <a:fillRect l="0" t="-10251" r="0" b="-10251"/>
              </a:stretch>
            </a:blipFill>
          </p:spPr>
        </p:sp>
      </p:grpSp>
      <p:grpSp>
        <p:nvGrpSpPr>
          <p:cNvPr name="Group 11" id="11"/>
          <p:cNvGrpSpPr/>
          <p:nvPr/>
        </p:nvGrpSpPr>
        <p:grpSpPr>
          <a:xfrm rot="0">
            <a:off x="5105400" y="6819900"/>
            <a:ext cx="2819400" cy="2819400"/>
            <a:chOff x="0" y="0"/>
            <a:chExt cx="3759200" cy="3759200"/>
          </a:xfrm>
        </p:grpSpPr>
        <p:sp>
          <p:nvSpPr>
            <p:cNvPr name="Freeform 12" id="12"/>
            <p:cNvSpPr/>
            <p:nvPr/>
          </p:nvSpPr>
          <p:spPr>
            <a:xfrm flipH="false" flipV="false" rot="0">
              <a:off x="0" y="0"/>
              <a:ext cx="3759200" cy="3759200"/>
            </a:xfrm>
            <a:custGeom>
              <a:avLst/>
              <a:gdLst/>
              <a:ahLst/>
              <a:cxnLst/>
              <a:rect r="r" b="b" t="t" l="l"/>
              <a:pathLst>
                <a:path h="3759200" w="3759200">
                  <a:moveTo>
                    <a:pt x="0" y="1879600"/>
                  </a:moveTo>
                  <a:cubicBezTo>
                    <a:pt x="0" y="841502"/>
                    <a:pt x="841502" y="0"/>
                    <a:pt x="1879600" y="0"/>
                  </a:cubicBezTo>
                  <a:cubicBezTo>
                    <a:pt x="2917698" y="0"/>
                    <a:pt x="3759200" y="841502"/>
                    <a:pt x="3759200" y="1879600"/>
                  </a:cubicBezTo>
                  <a:cubicBezTo>
                    <a:pt x="3759200" y="2917698"/>
                    <a:pt x="2917698" y="3759200"/>
                    <a:pt x="1879600" y="3759200"/>
                  </a:cubicBezTo>
                  <a:cubicBezTo>
                    <a:pt x="841502" y="3759200"/>
                    <a:pt x="0" y="2917698"/>
                    <a:pt x="0" y="1879600"/>
                  </a:cubicBezTo>
                  <a:close/>
                </a:path>
              </a:pathLst>
            </a:custGeom>
            <a:solidFill>
              <a:srgbClr val="D4AF55"/>
            </a:solidFill>
            <a:ln w="76200" cap="sq">
              <a:solidFill>
                <a:srgbClr val="2B1D14"/>
              </a:solidFill>
              <a:prstDash val="solid"/>
              <a:miter/>
            </a:ln>
          </p:spPr>
        </p:sp>
      </p:grpSp>
      <p:grpSp>
        <p:nvGrpSpPr>
          <p:cNvPr name="Group 13" id="13"/>
          <p:cNvGrpSpPr/>
          <p:nvPr/>
        </p:nvGrpSpPr>
        <p:grpSpPr>
          <a:xfrm rot="0">
            <a:off x="5143500" y="7022592"/>
            <a:ext cx="2743200" cy="1371600"/>
            <a:chOff x="0" y="0"/>
            <a:chExt cx="3657600" cy="1828800"/>
          </a:xfrm>
        </p:grpSpPr>
        <p:sp>
          <p:nvSpPr>
            <p:cNvPr name="Freeform 14" id="14"/>
            <p:cNvSpPr/>
            <p:nvPr/>
          </p:nvSpPr>
          <p:spPr>
            <a:xfrm flipH="false" flipV="false" rot="0">
              <a:off x="0" y="0"/>
              <a:ext cx="3657600" cy="1828800"/>
            </a:xfrm>
            <a:custGeom>
              <a:avLst/>
              <a:gdLst/>
              <a:ahLst/>
              <a:cxnLst/>
              <a:rect r="r" b="b" t="t" l="l"/>
              <a:pathLst>
                <a:path h="1828800" w="3657600">
                  <a:moveTo>
                    <a:pt x="0" y="0"/>
                  </a:moveTo>
                  <a:lnTo>
                    <a:pt x="3657600" y="0"/>
                  </a:lnTo>
                  <a:lnTo>
                    <a:pt x="3657600" y="1828800"/>
                  </a:lnTo>
                  <a:lnTo>
                    <a:pt x="0" y="1828800"/>
                  </a:lnTo>
                  <a:close/>
                </a:path>
              </a:pathLst>
            </a:custGeom>
            <a:blipFill>
              <a:blip r:embed="rId4">
                <a:alphaModFix amt="0"/>
              </a:blip>
              <a:stretch>
                <a:fillRect l="-14151" t="0" r="-14151" b="0"/>
              </a:stretch>
            </a:blipFill>
          </p:spPr>
        </p:sp>
        <p:sp>
          <p:nvSpPr>
            <p:cNvPr name="TextBox 15" id="15"/>
            <p:cNvSpPr txBox="true"/>
            <p:nvPr/>
          </p:nvSpPr>
          <p:spPr>
            <a:xfrm>
              <a:off x="0" y="0"/>
              <a:ext cx="3657600" cy="1828800"/>
            </a:xfrm>
            <a:prstGeom prst="rect">
              <a:avLst/>
            </a:prstGeom>
          </p:spPr>
          <p:txBody>
            <a:bodyPr anchor="ctr" rtlCol="false" tIns="0" lIns="0" bIns="0" rIns="0"/>
            <a:lstStyle/>
            <a:p>
              <a:pPr algn="ctr" rtl="true">
                <a:lnSpc>
                  <a:spcPts val="9720"/>
                </a:lnSpc>
              </a:pPr>
              <a:r>
                <a:rPr lang="en-US" b="true" sz="8100" spc="83">
                  <a:solidFill>
                    <a:srgbClr val="2B1D14"/>
                  </a:solidFill>
                  <a:latin typeface="XM Traffic Bold"/>
                  <a:ea typeface="XM Traffic Bold"/>
                  <a:cs typeface="XM Traffic Bold"/>
                  <a:sym typeface="XM Traffic Bold"/>
                </a:rPr>
                <a:t>٣</a:t>
              </a:r>
            </a:p>
          </p:txBody>
        </p:sp>
      </p:grpSp>
      <p:grpSp>
        <p:nvGrpSpPr>
          <p:cNvPr name="Group 16" id="16"/>
          <p:cNvGrpSpPr/>
          <p:nvPr/>
        </p:nvGrpSpPr>
        <p:grpSpPr>
          <a:xfrm rot="0">
            <a:off x="5143500" y="8366760"/>
            <a:ext cx="2743200" cy="685800"/>
            <a:chOff x="0" y="0"/>
            <a:chExt cx="3657600" cy="914400"/>
          </a:xfrm>
        </p:grpSpPr>
        <p:sp>
          <p:nvSpPr>
            <p:cNvPr name="Freeform 17" id="17"/>
            <p:cNvSpPr/>
            <p:nvPr/>
          </p:nvSpPr>
          <p:spPr>
            <a:xfrm flipH="false" flipV="false" rot="0">
              <a:off x="0" y="0"/>
              <a:ext cx="3657600" cy="914400"/>
            </a:xfrm>
            <a:custGeom>
              <a:avLst/>
              <a:gdLst/>
              <a:ahLst/>
              <a:cxnLst/>
              <a:rect r="r" b="b" t="t" l="l"/>
              <a:pathLst>
                <a:path h="914400" w="3657600">
                  <a:moveTo>
                    <a:pt x="0" y="0"/>
                  </a:moveTo>
                  <a:lnTo>
                    <a:pt x="3657600" y="0"/>
                  </a:lnTo>
                  <a:lnTo>
                    <a:pt x="3657600" y="914400"/>
                  </a:lnTo>
                  <a:lnTo>
                    <a:pt x="0" y="914400"/>
                  </a:lnTo>
                  <a:close/>
                </a:path>
              </a:pathLst>
            </a:custGeom>
            <a:blipFill>
              <a:blip r:embed="rId4">
                <a:alphaModFix amt="0"/>
              </a:blip>
              <a:stretch>
                <a:fillRect l="0" t="-27940" r="0" b="-27940"/>
              </a:stretch>
            </a:blipFill>
          </p:spPr>
        </p:sp>
        <p:sp>
          <p:nvSpPr>
            <p:cNvPr name="TextBox 18" id="18"/>
            <p:cNvSpPr txBox="true"/>
            <p:nvPr/>
          </p:nvSpPr>
          <p:spPr>
            <a:xfrm>
              <a:off x="0" y="0"/>
              <a:ext cx="3657600" cy="914400"/>
            </a:xfrm>
            <a:prstGeom prst="rect">
              <a:avLst/>
            </a:prstGeom>
          </p:spPr>
          <p:txBody>
            <a:bodyPr anchor="ctr" rtlCol="false" tIns="0" lIns="0" bIns="0" rIns="0"/>
            <a:lstStyle/>
            <a:p>
              <a:pPr algn="ctr" rtl="true">
                <a:lnSpc>
                  <a:spcPts val="3600"/>
                </a:lnSpc>
              </a:pPr>
              <a:r>
                <a:rPr lang="ar-EG" b="true" sz="3000" spc="31">
                  <a:solidFill>
                    <a:srgbClr val="2B1D14"/>
                  </a:solidFill>
                  <a:latin typeface="XM Traffic Bold"/>
                  <a:ea typeface="XM Traffic Bold"/>
                  <a:cs typeface="XM Traffic Bold"/>
                  <a:sym typeface="XM Traffic Bold"/>
                  <a:rtl val="true"/>
                </a:rPr>
                <a:t>كم</a:t>
              </a:r>
            </a:p>
          </p:txBody>
        </p:sp>
      </p:grpSp>
      <p:grpSp>
        <p:nvGrpSpPr>
          <p:cNvPr name="Group 19" id="19"/>
          <p:cNvGrpSpPr/>
          <p:nvPr/>
        </p:nvGrpSpPr>
        <p:grpSpPr>
          <a:xfrm rot="0">
            <a:off x="10745629" y="1367334"/>
            <a:ext cx="6707696" cy="562928"/>
            <a:chOff x="0" y="0"/>
            <a:chExt cx="8943594" cy="750570"/>
          </a:xfrm>
        </p:grpSpPr>
        <p:sp>
          <p:nvSpPr>
            <p:cNvPr name="Freeform 20" id="20"/>
            <p:cNvSpPr/>
            <p:nvPr/>
          </p:nvSpPr>
          <p:spPr>
            <a:xfrm flipH="false" flipV="false" rot="0">
              <a:off x="0" y="0"/>
              <a:ext cx="8943594" cy="750570"/>
            </a:xfrm>
            <a:custGeom>
              <a:avLst/>
              <a:gdLst/>
              <a:ahLst/>
              <a:cxnLst/>
              <a:rect r="r" b="b" t="t" l="l"/>
              <a:pathLst>
                <a:path h="750570" w="8943594">
                  <a:moveTo>
                    <a:pt x="0" y="375285"/>
                  </a:moveTo>
                  <a:cubicBezTo>
                    <a:pt x="0" y="168021"/>
                    <a:pt x="168021" y="0"/>
                    <a:pt x="375285" y="0"/>
                  </a:cubicBezTo>
                  <a:lnTo>
                    <a:pt x="8568309" y="0"/>
                  </a:lnTo>
                  <a:cubicBezTo>
                    <a:pt x="8775573" y="0"/>
                    <a:pt x="8943594" y="168021"/>
                    <a:pt x="8943594" y="375285"/>
                  </a:cubicBezTo>
                  <a:cubicBezTo>
                    <a:pt x="8943594" y="582549"/>
                    <a:pt x="8775573" y="750570"/>
                    <a:pt x="8568309" y="750570"/>
                  </a:cubicBezTo>
                  <a:lnTo>
                    <a:pt x="375285" y="750570"/>
                  </a:lnTo>
                  <a:cubicBezTo>
                    <a:pt x="168021" y="750570"/>
                    <a:pt x="0" y="582549"/>
                    <a:pt x="0" y="375285"/>
                  </a:cubicBezTo>
                  <a:close/>
                </a:path>
              </a:pathLst>
            </a:custGeom>
            <a:solidFill>
              <a:srgbClr val="D4AF55">
                <a:alpha val="5882"/>
              </a:srgbClr>
            </a:solidFill>
            <a:ln w="14288" cap="sq">
              <a:solidFill>
                <a:srgbClr val="D4AF55"/>
              </a:solidFill>
              <a:prstDash val="solid"/>
              <a:miter/>
            </a:ln>
          </p:spPr>
        </p:sp>
      </p:grpSp>
      <p:grpSp>
        <p:nvGrpSpPr>
          <p:cNvPr name="Group 21" id="21"/>
          <p:cNvGrpSpPr/>
          <p:nvPr/>
        </p:nvGrpSpPr>
        <p:grpSpPr>
          <a:xfrm rot="0">
            <a:off x="10917364" y="1374478"/>
            <a:ext cx="5870448" cy="564812"/>
            <a:chOff x="0" y="0"/>
            <a:chExt cx="7827264" cy="753083"/>
          </a:xfrm>
        </p:grpSpPr>
        <p:sp>
          <p:nvSpPr>
            <p:cNvPr name="Freeform 22" id="22"/>
            <p:cNvSpPr/>
            <p:nvPr/>
          </p:nvSpPr>
          <p:spPr>
            <a:xfrm flipH="false" flipV="false" rot="0">
              <a:off x="0" y="0"/>
              <a:ext cx="7827264" cy="753083"/>
            </a:xfrm>
            <a:custGeom>
              <a:avLst/>
              <a:gdLst/>
              <a:ahLst/>
              <a:cxnLst/>
              <a:rect r="r" b="b" t="t" l="l"/>
              <a:pathLst>
                <a:path h="753083" w="7827264">
                  <a:moveTo>
                    <a:pt x="0" y="0"/>
                  </a:moveTo>
                  <a:lnTo>
                    <a:pt x="7827264" y="0"/>
                  </a:lnTo>
                  <a:lnTo>
                    <a:pt x="7827264" y="753083"/>
                  </a:lnTo>
                  <a:lnTo>
                    <a:pt x="0" y="753083"/>
                  </a:lnTo>
                  <a:close/>
                </a:path>
              </a:pathLst>
            </a:custGeom>
            <a:blipFill>
              <a:blip r:embed="rId4">
                <a:alphaModFix amt="0"/>
              </a:blip>
              <a:stretch>
                <a:fillRect l="0" t="-153951" r="0" b="-151088"/>
              </a:stretch>
            </a:blipFill>
          </p:spPr>
        </p:sp>
        <p:sp>
          <p:nvSpPr>
            <p:cNvPr name="TextBox 23" id="23"/>
            <p:cNvSpPr txBox="true"/>
            <p:nvPr/>
          </p:nvSpPr>
          <p:spPr>
            <a:xfrm>
              <a:off x="0" y="-9525"/>
              <a:ext cx="7827264" cy="762608"/>
            </a:xfrm>
            <a:prstGeom prst="rect">
              <a:avLst/>
            </a:prstGeom>
          </p:spPr>
          <p:txBody>
            <a:bodyPr anchor="ctr" rtlCol="false" tIns="0" lIns="0" bIns="0" rIns="0"/>
            <a:lstStyle/>
            <a:p>
              <a:pPr algn="r" rtl="true">
                <a:lnSpc>
                  <a:spcPts val="2340"/>
                </a:lnSpc>
              </a:pPr>
              <a:r>
                <a:rPr lang="ar-EG" b="true" sz="1950" spc="19">
                  <a:solidFill>
                    <a:srgbClr val="D4AF55"/>
                  </a:solidFill>
                  <a:latin typeface="XM Traffic Bold"/>
                  <a:ea typeface="XM Traffic Bold"/>
                  <a:cs typeface="XM Traffic Bold"/>
                  <a:sym typeface="XM Traffic Bold"/>
                  <a:rtl val="true"/>
                </a:rPr>
                <a:t>مزارع </a:t>
              </a:r>
              <a:r>
                <a:rPr lang="ar-EG" b="true" sz="1950" spc="19">
                  <a:solidFill>
                    <a:srgbClr val="D4AF55"/>
                  </a:solidFill>
                  <a:latin typeface="XM Traffic Bold"/>
                  <a:ea typeface="XM Traffic Bold"/>
                  <a:cs typeface="XM Traffic Bold"/>
                  <a:sym typeface="XM Traffic Bold"/>
                  <a:rtl val="true"/>
                </a:rPr>
                <a:t>الجو – المجمعة | الهوية</a:t>
              </a:r>
            </a:p>
          </p:txBody>
        </p:sp>
      </p:grpSp>
      <p:sp>
        <p:nvSpPr>
          <p:cNvPr name="TextBox 24" id="24"/>
          <p:cNvSpPr txBox="true"/>
          <p:nvPr/>
        </p:nvSpPr>
        <p:spPr>
          <a:xfrm rot="0">
            <a:off x="12570714" y="2215515"/>
            <a:ext cx="4064508" cy="819150"/>
          </a:xfrm>
          <a:prstGeom prst="rect">
            <a:avLst/>
          </a:prstGeom>
        </p:spPr>
        <p:txBody>
          <a:bodyPr anchor="t" rtlCol="false" tIns="0" lIns="0" bIns="0" rIns="0">
            <a:spAutoFit/>
          </a:bodyPr>
          <a:lstStyle/>
          <a:p>
            <a:pPr algn="r" rtl="true">
              <a:lnSpc>
                <a:spcPts val="6480"/>
              </a:lnSpc>
            </a:pPr>
            <a:r>
              <a:rPr lang="ar-EG" b="true" sz="5400" spc="55">
                <a:solidFill>
                  <a:srgbClr val="F3EADB"/>
                </a:solidFill>
                <a:latin typeface="XM Traffic Bold"/>
                <a:ea typeface="XM Traffic Bold"/>
                <a:cs typeface="XM Traffic Bold"/>
                <a:sym typeface="XM Traffic Bold"/>
                <a:rtl val="true"/>
              </a:rPr>
              <a:t>السلوغن</a:t>
            </a:r>
          </a:p>
        </p:txBody>
      </p:sp>
      <p:sp>
        <p:nvSpPr>
          <p:cNvPr name="TextBox 25" id="25"/>
          <p:cNvSpPr txBox="true"/>
          <p:nvPr/>
        </p:nvSpPr>
        <p:spPr>
          <a:xfrm rot="0">
            <a:off x="7680960" y="3253740"/>
            <a:ext cx="9779508" cy="767715"/>
          </a:xfrm>
          <a:prstGeom prst="rect">
            <a:avLst/>
          </a:prstGeom>
        </p:spPr>
        <p:txBody>
          <a:bodyPr anchor="t" rtlCol="false" tIns="0" lIns="0" bIns="0" rIns="0">
            <a:spAutoFit/>
          </a:bodyPr>
          <a:lstStyle/>
          <a:p>
            <a:pPr algn="r">
              <a:lnSpc>
                <a:spcPts val="3104"/>
              </a:lnSpc>
            </a:pPr>
            <a:r>
              <a:rPr lang="ar-EG" sz="2250" spc="23">
                <a:solidFill>
                  <a:srgbClr val="E3D4BC"/>
                </a:solidFill>
                <a:latin typeface="XM Traffic"/>
                <a:ea typeface="XM Traffic"/>
                <a:cs typeface="XM Traffic"/>
                <a:sym typeface="XM Traffic"/>
                <a:rtl val="true"/>
              </a:rPr>
              <a:t>من الهب الرئيسي، تبدأ رحلة مختلفة بين النخيل؛ مسار يقارب ثلاثة كيلومترات يمنح الزائر فرصة لاكتشاف المزارع من منظور جديد، سيرًا أو عبر تجارب مغامرات منظمة</a:t>
            </a:r>
          </a:p>
        </p:txBody>
      </p:sp>
      <p:grpSp>
        <p:nvGrpSpPr>
          <p:cNvPr name="Group 26" id="26"/>
          <p:cNvGrpSpPr/>
          <p:nvPr/>
        </p:nvGrpSpPr>
        <p:grpSpPr>
          <a:xfrm rot="0">
            <a:off x="9992147" y="5379053"/>
            <a:ext cx="7461177" cy="2403043"/>
            <a:chOff x="0" y="0"/>
            <a:chExt cx="6355842" cy="2047044"/>
          </a:xfrm>
        </p:grpSpPr>
        <p:sp>
          <p:nvSpPr>
            <p:cNvPr name="Freeform 27" id="27"/>
            <p:cNvSpPr/>
            <p:nvPr/>
          </p:nvSpPr>
          <p:spPr>
            <a:xfrm flipH="false" flipV="false" rot="0">
              <a:off x="0" y="0"/>
              <a:ext cx="6355842" cy="2047044"/>
            </a:xfrm>
            <a:custGeom>
              <a:avLst/>
              <a:gdLst/>
              <a:ahLst/>
              <a:cxnLst/>
              <a:rect r="r" b="b" t="t" l="l"/>
              <a:pathLst>
                <a:path h="2047044" w="6355842">
                  <a:moveTo>
                    <a:pt x="0" y="477644"/>
                  </a:moveTo>
                  <a:cubicBezTo>
                    <a:pt x="0" y="213787"/>
                    <a:pt x="116586" y="0"/>
                    <a:pt x="260477" y="0"/>
                  </a:cubicBezTo>
                  <a:lnTo>
                    <a:pt x="6095365" y="0"/>
                  </a:lnTo>
                  <a:cubicBezTo>
                    <a:pt x="6239256" y="0"/>
                    <a:pt x="6355842" y="213787"/>
                    <a:pt x="6355842" y="477644"/>
                  </a:cubicBezTo>
                  <a:lnTo>
                    <a:pt x="6355842" y="1569401"/>
                  </a:lnTo>
                  <a:cubicBezTo>
                    <a:pt x="6355842" y="1833257"/>
                    <a:pt x="6239256" y="2047044"/>
                    <a:pt x="6095365" y="2047044"/>
                  </a:cubicBezTo>
                  <a:lnTo>
                    <a:pt x="260477" y="2047044"/>
                  </a:lnTo>
                  <a:cubicBezTo>
                    <a:pt x="116586" y="2047044"/>
                    <a:pt x="0" y="1833257"/>
                    <a:pt x="0" y="1569401"/>
                  </a:cubicBezTo>
                  <a:close/>
                </a:path>
              </a:pathLst>
            </a:custGeom>
            <a:solidFill>
              <a:srgbClr val="3A2A1F"/>
            </a:solidFill>
            <a:ln w="14288" cap="sq">
              <a:solidFill>
                <a:srgbClr val="4D3A2C"/>
              </a:solidFill>
              <a:prstDash val="solid"/>
              <a:miter/>
            </a:ln>
          </p:spPr>
        </p:sp>
      </p:grpSp>
      <p:grpSp>
        <p:nvGrpSpPr>
          <p:cNvPr name="Group 28" id="28"/>
          <p:cNvGrpSpPr/>
          <p:nvPr/>
        </p:nvGrpSpPr>
        <p:grpSpPr>
          <a:xfrm rot="0">
            <a:off x="10369582" y="5803824"/>
            <a:ext cx="6685792" cy="1547571"/>
            <a:chOff x="0" y="0"/>
            <a:chExt cx="8914390" cy="2063428"/>
          </a:xfrm>
        </p:grpSpPr>
        <p:sp>
          <p:nvSpPr>
            <p:cNvPr name="Freeform 29" id="29"/>
            <p:cNvSpPr/>
            <p:nvPr/>
          </p:nvSpPr>
          <p:spPr>
            <a:xfrm flipH="false" flipV="false" rot="0">
              <a:off x="0" y="0"/>
              <a:ext cx="8914390" cy="2063428"/>
            </a:xfrm>
            <a:custGeom>
              <a:avLst/>
              <a:gdLst/>
              <a:ahLst/>
              <a:cxnLst/>
              <a:rect r="r" b="b" t="t" l="l"/>
              <a:pathLst>
                <a:path h="2063428" w="8914390">
                  <a:moveTo>
                    <a:pt x="0" y="0"/>
                  </a:moveTo>
                  <a:lnTo>
                    <a:pt x="8914390" y="0"/>
                  </a:lnTo>
                  <a:lnTo>
                    <a:pt x="8914390" y="2063428"/>
                  </a:lnTo>
                  <a:lnTo>
                    <a:pt x="0" y="2063428"/>
                  </a:lnTo>
                  <a:close/>
                </a:path>
              </a:pathLst>
            </a:custGeom>
            <a:blipFill>
              <a:blip r:embed="rId4">
                <a:alphaModFix amt="0"/>
              </a:blip>
              <a:stretch>
                <a:fillRect l="0" t="-19779" r="44916" b="27042"/>
              </a:stretch>
            </a:blipFill>
          </p:spPr>
        </p:sp>
        <p:sp>
          <p:nvSpPr>
            <p:cNvPr name="TextBox 30" id="30"/>
            <p:cNvSpPr txBox="true"/>
            <p:nvPr/>
          </p:nvSpPr>
          <p:spPr>
            <a:xfrm>
              <a:off x="0" y="0"/>
              <a:ext cx="8914390" cy="2063428"/>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الم</a:t>
              </a:r>
              <a:r>
                <a:rPr lang="ar-EG" sz="2100" spc="21">
                  <a:solidFill>
                    <a:srgbClr val="F3EADB"/>
                  </a:solidFill>
                  <a:latin typeface="XM Traffic"/>
                  <a:ea typeface="XM Traffic"/>
                  <a:cs typeface="XM Traffic"/>
                  <a:sym typeface="XM Traffic"/>
                  <a:rtl val="true"/>
                </a:rPr>
                <a:t>وقع يشهد طلباً وحضوراً جيداً من الزوار، ويُعد التنزه والمشي من الأنشطة القائمة فيه، لكن الحركة الحالية تفتقر إلى هدف وتجربة منظمة؛ كما أن انتشار الذباب يُعد من الملاحظات السلبية على الموقع.</a:t>
              </a:r>
            </a:p>
          </p:txBody>
        </p:sp>
      </p:grpSp>
      <p:grpSp>
        <p:nvGrpSpPr>
          <p:cNvPr name="Group 31" id="31"/>
          <p:cNvGrpSpPr/>
          <p:nvPr/>
        </p:nvGrpSpPr>
        <p:grpSpPr>
          <a:xfrm rot="0">
            <a:off x="7680960" y="9669780"/>
            <a:ext cx="9779508" cy="342900"/>
            <a:chOff x="0" y="0"/>
            <a:chExt cx="13039344" cy="457200"/>
          </a:xfrm>
        </p:grpSpPr>
        <p:sp>
          <p:nvSpPr>
            <p:cNvPr name="Freeform 32" id="32"/>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4">
                <a:alphaModFix amt="0"/>
              </a:blip>
              <a:stretch>
                <a:fillRect l="0" t="-505713" r="0" b="-505713"/>
              </a:stretch>
            </a:blipFill>
          </p:spPr>
        </p:sp>
        <p:sp>
          <p:nvSpPr>
            <p:cNvPr name="TextBox 33" id="33"/>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34" id="34"/>
          <p:cNvGrpSpPr/>
          <p:nvPr/>
        </p:nvGrpSpPr>
        <p:grpSpPr>
          <a:xfrm rot="0">
            <a:off x="7265632" y="1367334"/>
            <a:ext cx="3314290" cy="562928"/>
            <a:chOff x="0" y="0"/>
            <a:chExt cx="4419054" cy="750570"/>
          </a:xfrm>
        </p:grpSpPr>
        <p:sp>
          <p:nvSpPr>
            <p:cNvPr name="Freeform 35" id="35" descr="رابط الموقع على خرائط قوقل">
              <a:hlinkClick r:id="rId6" tooltip="https://www.google.com/maps/search/?api=1&amp;query=%D9%85%D8%B2%D8%A7%D8%B1%D8%B9%20%D8%A7%D9%84%D8%AC%D9%88%20%D8%A7%D9%84%D9%85%D8%AC%D9%85%D8%B9%D8%A9"/>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36" id="36"/>
          <p:cNvGrpSpPr/>
          <p:nvPr/>
        </p:nvGrpSpPr>
        <p:grpSpPr>
          <a:xfrm rot="0">
            <a:off x="10076021" y="1497922"/>
            <a:ext cx="301752" cy="301752"/>
            <a:chOff x="0" y="0"/>
            <a:chExt cx="402336" cy="402336"/>
          </a:xfrm>
        </p:grpSpPr>
        <p:sp>
          <p:nvSpPr>
            <p:cNvPr name="Freeform 37" id="37"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7"/>
              <a:stretch>
                <a:fillRect l="0" t="0" r="0" b="0"/>
              </a:stretch>
            </a:blipFill>
          </p:spPr>
        </p:sp>
      </p:grpSp>
      <p:grpSp>
        <p:nvGrpSpPr>
          <p:cNvPr name="Group 38" id="38"/>
          <p:cNvGrpSpPr/>
          <p:nvPr/>
        </p:nvGrpSpPr>
        <p:grpSpPr>
          <a:xfrm rot="0">
            <a:off x="7422775" y="1374478"/>
            <a:ext cx="2548252" cy="548640"/>
            <a:chOff x="0" y="0"/>
            <a:chExt cx="3397669" cy="731520"/>
          </a:xfrm>
        </p:grpSpPr>
        <p:sp>
          <p:nvSpPr>
            <p:cNvPr name="Freeform 39" id="39"/>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40" id="40"/>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8" tooltip="https://maps.app.goo.gl/PcG3u6xeZU9a99fs9?g_st=iw"/>
                  <a:rtl val="true"/>
                </a:rPr>
                <a:t>موقع مزرعه الجو بـ المجمعه</a:t>
              </a:r>
            </a:p>
          </p:txBody>
        </p:sp>
      </p:grpSp>
      <p:sp>
        <p:nvSpPr>
          <p:cNvPr name="Freeform 41" id="41"/>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9"/>
            <a:stretch>
              <a:fillRect l="0" t="-22113" r="0" b="-17967"/>
            </a:stretch>
          </a:blipFill>
        </p:spPr>
      </p:sp>
      <p:grpSp>
        <p:nvGrpSpPr>
          <p:cNvPr name="Group 42" id="42"/>
          <p:cNvGrpSpPr/>
          <p:nvPr/>
        </p:nvGrpSpPr>
        <p:grpSpPr>
          <a:xfrm rot="0">
            <a:off x="16912690" y="1497922"/>
            <a:ext cx="301752" cy="301752"/>
            <a:chOff x="0" y="0"/>
            <a:chExt cx="402336" cy="402336"/>
          </a:xfrm>
        </p:grpSpPr>
        <p:sp>
          <p:nvSpPr>
            <p:cNvPr name="Freeform 43" id="43"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0"/>
              <a:stretch>
                <a:fillRect l="0" t="0" r="0" b="0"/>
              </a:stretch>
            </a:blipFill>
          </p:spPr>
        </p:sp>
      </p:grpSp>
      <p:grpSp>
        <p:nvGrpSpPr>
          <p:cNvPr name="Group 44" id="44"/>
          <p:cNvGrpSpPr/>
          <p:nvPr/>
        </p:nvGrpSpPr>
        <p:grpSpPr>
          <a:xfrm rot="0">
            <a:off x="16886161" y="2387346"/>
            <a:ext cx="475488" cy="475488"/>
            <a:chOff x="0" y="0"/>
            <a:chExt cx="633984" cy="633984"/>
          </a:xfrm>
        </p:grpSpPr>
        <p:sp>
          <p:nvSpPr>
            <p:cNvPr name="Freeform 45" id="45"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1"/>
              <a:stretch>
                <a:fillRect l="0" t="0" r="0" b="0"/>
              </a:stretch>
            </a:blipFill>
          </p:spPr>
        </p:sp>
      </p:grpSp>
      <p:grpSp>
        <p:nvGrpSpPr>
          <p:cNvPr name="Group 46" id="46"/>
          <p:cNvGrpSpPr/>
          <p:nvPr/>
        </p:nvGrpSpPr>
        <p:grpSpPr>
          <a:xfrm rot="0">
            <a:off x="8353137" y="4411980"/>
            <a:ext cx="9052560" cy="548640"/>
            <a:chOff x="0" y="0"/>
            <a:chExt cx="12070080" cy="731520"/>
          </a:xfrm>
        </p:grpSpPr>
        <p:sp>
          <p:nvSpPr>
            <p:cNvPr name="Freeform 47" id="47"/>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4">
                <a:alphaModFix amt="0"/>
              </a:blip>
              <a:stretch>
                <a:fillRect l="0" t="-271503" r="0" b="-271503"/>
              </a:stretch>
            </a:blipFill>
          </p:spPr>
        </p:sp>
        <p:sp>
          <p:nvSpPr>
            <p:cNvPr name="TextBox 48" id="48"/>
            <p:cNvSpPr txBox="true"/>
            <p:nvPr/>
          </p:nvSpPr>
          <p:spPr>
            <a:xfrm>
              <a:off x="0" y="-19050"/>
              <a:ext cx="12070080" cy="750570"/>
            </a:xfrm>
            <a:prstGeom prst="rect">
              <a:avLst/>
            </a:prstGeom>
          </p:spPr>
          <p:txBody>
            <a:bodyPr anchor="ctr" rtlCol="false" tIns="0" lIns="0" bIns="0" rIns="0"/>
            <a:lstStyle/>
            <a:p>
              <a:pPr algn="r" rtl="true">
                <a:lnSpc>
                  <a:spcPts val="3359"/>
                </a:lnSpc>
              </a:pPr>
              <a:r>
                <a:rPr lang="ar-EG" b="true" sz="2799">
                  <a:solidFill>
                    <a:srgbClr val="D4AF55"/>
                  </a:solidFill>
                  <a:latin typeface="Arial Bold"/>
                  <a:ea typeface="Arial Bold"/>
                  <a:cs typeface="Arial Bold"/>
                  <a:sym typeface="Arial Bold"/>
                  <a:rtl val="true"/>
                </a:rPr>
                <a:t>ملاحظة</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2296108" y="1367334"/>
            <a:ext cx="5171504" cy="562928"/>
            <a:chOff x="0" y="0"/>
            <a:chExt cx="6895338" cy="750570"/>
          </a:xfrm>
        </p:grpSpPr>
        <p:sp>
          <p:nvSpPr>
            <p:cNvPr name="Freeform 4" id="4"/>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5" id="5"/>
          <p:cNvGrpSpPr/>
          <p:nvPr/>
        </p:nvGrpSpPr>
        <p:grpSpPr>
          <a:xfrm rot="0">
            <a:off x="16939260" y="1497922"/>
            <a:ext cx="301752" cy="301752"/>
            <a:chOff x="0" y="0"/>
            <a:chExt cx="402336" cy="402336"/>
          </a:xfrm>
        </p:grpSpPr>
        <p:sp>
          <p:nvSpPr>
            <p:cNvPr name="Freeform 6" id="6"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7" id="7"/>
          <p:cNvGrpSpPr/>
          <p:nvPr/>
        </p:nvGrpSpPr>
        <p:grpSpPr>
          <a:xfrm rot="0">
            <a:off x="12467844" y="1374478"/>
            <a:ext cx="4334256" cy="564812"/>
            <a:chOff x="0" y="0"/>
            <a:chExt cx="5779008" cy="753083"/>
          </a:xfrm>
        </p:grpSpPr>
        <p:sp>
          <p:nvSpPr>
            <p:cNvPr name="Freeform 8" id="8"/>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5">
                <a:alphaModFix amt="0"/>
              </a:blip>
              <a:stretch>
                <a:fillRect l="0" t="-100955" r="0" b="-98092"/>
              </a:stretch>
            </a:blipFill>
          </p:spPr>
        </p:sp>
        <p:sp>
          <p:nvSpPr>
            <p:cNvPr name="TextBox 9" id="9"/>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القصب — حكاية الملح</a:t>
              </a:r>
            </a:p>
          </p:txBody>
        </p:sp>
      </p:grpSp>
      <p:grpSp>
        <p:nvGrpSpPr>
          <p:cNvPr name="Group 10" id="10"/>
          <p:cNvGrpSpPr/>
          <p:nvPr/>
        </p:nvGrpSpPr>
        <p:grpSpPr>
          <a:xfrm rot="0">
            <a:off x="7858008" y="1367334"/>
            <a:ext cx="4272393" cy="562928"/>
            <a:chOff x="0" y="0"/>
            <a:chExt cx="5696524" cy="750570"/>
          </a:xfrm>
        </p:grpSpPr>
        <p:sp>
          <p:nvSpPr>
            <p:cNvPr name="Freeform 11" id="11" descr="رابط الموقع على خرائط قوقل">
              <a:hlinkClick r:id="rId6" tooltip="https://www.google.com/maps/search/?api=1&amp;query=%D8%A7%D9%84%D9%82%D8%B5%D8%A8%20%D8%A7%D9%84%D9%85%D8%AC%D9%85%D8%B9%D8%A9"/>
            </p:cNvPr>
            <p:cNvSpPr/>
            <p:nvPr/>
          </p:nvSpPr>
          <p:spPr>
            <a:xfrm flipH="false" flipV="false" rot="0">
              <a:off x="0" y="0"/>
              <a:ext cx="5696562" cy="750570"/>
            </a:xfrm>
            <a:custGeom>
              <a:avLst/>
              <a:gdLst/>
              <a:ahLst/>
              <a:cxnLst/>
              <a:rect r="r" b="b" t="t" l="l"/>
              <a:pathLst>
                <a:path h="750570" w="5696562">
                  <a:moveTo>
                    <a:pt x="0" y="375285"/>
                  </a:moveTo>
                  <a:cubicBezTo>
                    <a:pt x="0" y="168021"/>
                    <a:pt x="216593" y="0"/>
                    <a:pt x="483773" y="0"/>
                  </a:cubicBezTo>
                  <a:lnTo>
                    <a:pt x="5212800" y="0"/>
                  </a:lnTo>
                  <a:cubicBezTo>
                    <a:pt x="5479981" y="0"/>
                    <a:pt x="5696562" y="168021"/>
                    <a:pt x="5696562" y="375285"/>
                  </a:cubicBezTo>
                  <a:cubicBezTo>
                    <a:pt x="5696562" y="582549"/>
                    <a:pt x="5479981" y="750570"/>
                    <a:pt x="5212800" y="750570"/>
                  </a:cubicBezTo>
                  <a:lnTo>
                    <a:pt x="483773" y="750570"/>
                  </a:lnTo>
                  <a:cubicBezTo>
                    <a:pt x="216593" y="750570"/>
                    <a:pt x="0" y="582549"/>
                    <a:pt x="0" y="375285"/>
                  </a:cubicBezTo>
                  <a:close/>
                </a:path>
              </a:pathLst>
            </a:custGeom>
            <a:solidFill>
              <a:srgbClr val="D9A66B"/>
            </a:solidFill>
            <a:ln w="14288" cap="sq">
              <a:solidFill>
                <a:srgbClr val="D9A66B"/>
              </a:solidFill>
              <a:prstDash val="solid"/>
              <a:miter/>
            </a:ln>
          </p:spPr>
        </p:sp>
      </p:grpSp>
      <p:grpSp>
        <p:nvGrpSpPr>
          <p:cNvPr name="Group 12" id="12"/>
          <p:cNvGrpSpPr/>
          <p:nvPr/>
        </p:nvGrpSpPr>
        <p:grpSpPr>
          <a:xfrm rot="0">
            <a:off x="11626501" y="1497922"/>
            <a:ext cx="301752" cy="301752"/>
            <a:chOff x="0" y="0"/>
            <a:chExt cx="402336" cy="402336"/>
          </a:xfrm>
        </p:grpSpPr>
        <p:sp>
          <p:nvSpPr>
            <p:cNvPr name="Freeform 13" id="13"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7"/>
              <a:stretch>
                <a:fillRect l="0" t="0" r="0" b="0"/>
              </a:stretch>
            </a:blipFill>
          </p:spPr>
        </p:sp>
      </p:grpSp>
      <p:grpSp>
        <p:nvGrpSpPr>
          <p:cNvPr name="Group 14" id="14"/>
          <p:cNvGrpSpPr/>
          <p:nvPr/>
        </p:nvGrpSpPr>
        <p:grpSpPr>
          <a:xfrm rot="0">
            <a:off x="8348472" y="1374478"/>
            <a:ext cx="3173035" cy="564812"/>
            <a:chOff x="0" y="0"/>
            <a:chExt cx="4230713" cy="753083"/>
          </a:xfrm>
        </p:grpSpPr>
        <p:sp>
          <p:nvSpPr>
            <p:cNvPr name="Freeform 15" id="15"/>
            <p:cNvSpPr/>
            <p:nvPr/>
          </p:nvSpPr>
          <p:spPr>
            <a:xfrm flipH="false" flipV="false" rot="0">
              <a:off x="0" y="0"/>
              <a:ext cx="4230706" cy="753083"/>
            </a:xfrm>
            <a:custGeom>
              <a:avLst/>
              <a:gdLst/>
              <a:ahLst/>
              <a:cxnLst/>
              <a:rect r="r" b="b" t="t" l="l"/>
              <a:pathLst>
                <a:path h="753083" w="4230706">
                  <a:moveTo>
                    <a:pt x="0" y="0"/>
                  </a:moveTo>
                  <a:lnTo>
                    <a:pt x="4230706" y="0"/>
                  </a:lnTo>
                  <a:lnTo>
                    <a:pt x="4230706" y="753083"/>
                  </a:lnTo>
                  <a:lnTo>
                    <a:pt x="0" y="753083"/>
                  </a:lnTo>
                  <a:close/>
                </a:path>
              </a:pathLst>
            </a:custGeom>
            <a:blipFill>
              <a:blip r:embed="rId5">
                <a:alphaModFix amt="0"/>
              </a:blip>
              <a:stretch>
                <a:fillRect l="0" t="-39341" r="19690" b="-36478"/>
              </a:stretch>
            </a:blipFill>
          </p:spPr>
        </p:sp>
        <p:sp>
          <p:nvSpPr>
            <p:cNvPr name="TextBox 16" id="16"/>
            <p:cNvSpPr txBox="true"/>
            <p:nvPr/>
          </p:nvSpPr>
          <p:spPr>
            <a:xfrm>
              <a:off x="0" y="-9525"/>
              <a:ext cx="4230713" cy="762608"/>
            </a:xfrm>
            <a:prstGeom prst="rect">
              <a:avLst/>
            </a:prstGeom>
          </p:spPr>
          <p:txBody>
            <a:bodyPr anchor="ctr" rtlCol="false" tIns="0" lIns="0" bIns="0" rIns="0"/>
            <a:lstStyle/>
            <a:p>
              <a:pPr algn="r" rtl="true">
                <a:lnSpc>
                  <a:spcPts val="2340"/>
                </a:lnSpc>
              </a:pPr>
              <a:r>
                <a:rPr lang="ar-EG" b="true" sz="1950" spc="20" u="sng">
                  <a:solidFill>
                    <a:srgbClr val="3E2D21"/>
                  </a:solidFill>
                  <a:latin typeface="XM Traffic Bold"/>
                  <a:ea typeface="XM Traffic Bold"/>
                  <a:cs typeface="XM Traffic Bold"/>
                  <a:sym typeface="XM Traffic Bold"/>
                  <a:hlinkClick r:id="rId8" tooltip="https://maps.app.goo.gl/hdbMGtBSv38Tk5o3A?g_st=iw"/>
                  <a:rtl val="true"/>
                </a:rPr>
                <a:t>موقع </a:t>
              </a:r>
              <a:r>
                <a:rPr lang="ar-EG" b="true" sz="1950" spc="20" u="sng">
                  <a:solidFill>
                    <a:srgbClr val="3E2D21"/>
                  </a:solidFill>
                  <a:latin typeface="XM Traffic Bold"/>
                  <a:ea typeface="XM Traffic Bold"/>
                  <a:cs typeface="XM Traffic Bold"/>
                  <a:sym typeface="XM Traffic Bold"/>
                  <a:hlinkClick r:id="rId9" tooltip="https://maps.app.goo.gl/hdbMGtBSv38Tk5o3A?g_st=iw"/>
                  <a:rtl val="true"/>
                </a:rPr>
                <a:t>القصب (مملحه المقحم)</a:t>
              </a:r>
            </a:p>
          </p:txBody>
        </p:sp>
      </p:grpSp>
      <p:grpSp>
        <p:nvGrpSpPr>
          <p:cNvPr name="Group 17" id="17"/>
          <p:cNvGrpSpPr/>
          <p:nvPr/>
        </p:nvGrpSpPr>
        <p:grpSpPr>
          <a:xfrm rot="0">
            <a:off x="8450770" y="8597629"/>
            <a:ext cx="233172" cy="233172"/>
            <a:chOff x="0" y="0"/>
            <a:chExt cx="310896" cy="310896"/>
          </a:xfrm>
        </p:grpSpPr>
        <p:sp>
          <p:nvSpPr>
            <p:cNvPr name="Freeform 18" id="18" descr="preencoded.png"/>
            <p:cNvSpPr/>
            <p:nvPr/>
          </p:nvSpPr>
          <p:spPr>
            <a:xfrm flipH="false" flipV="false" rot="0">
              <a:off x="0" y="0"/>
              <a:ext cx="310896" cy="310896"/>
            </a:xfrm>
            <a:custGeom>
              <a:avLst/>
              <a:gdLst/>
              <a:ahLst/>
              <a:cxnLst/>
              <a:rect r="r" b="b" t="t" l="l"/>
              <a:pathLst>
                <a:path h="310896" w="310896">
                  <a:moveTo>
                    <a:pt x="0" y="0"/>
                  </a:moveTo>
                  <a:lnTo>
                    <a:pt x="310896" y="0"/>
                  </a:lnTo>
                  <a:lnTo>
                    <a:pt x="310896" y="310896"/>
                  </a:lnTo>
                  <a:lnTo>
                    <a:pt x="0" y="310896"/>
                  </a:lnTo>
                  <a:lnTo>
                    <a:pt x="0" y="0"/>
                  </a:lnTo>
                  <a:close/>
                </a:path>
              </a:pathLst>
            </a:custGeom>
            <a:blipFill>
              <a:blip r:embed="rId10"/>
              <a:stretch>
                <a:fillRect l="0" t="0" r="0" b="0"/>
              </a:stretch>
            </a:blipFill>
          </p:spPr>
        </p:sp>
      </p:grpSp>
      <p:grpSp>
        <p:nvGrpSpPr>
          <p:cNvPr name="Group 19" id="19"/>
          <p:cNvGrpSpPr/>
          <p:nvPr/>
        </p:nvGrpSpPr>
        <p:grpSpPr>
          <a:xfrm rot="0">
            <a:off x="-697706" y="-11906"/>
            <a:ext cx="7567612" cy="10310812"/>
            <a:chOff x="0" y="0"/>
            <a:chExt cx="10090150" cy="13747750"/>
          </a:xfrm>
        </p:grpSpPr>
        <p:sp>
          <p:nvSpPr>
            <p:cNvPr name="Freeform 20" id="20"/>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21" id="21"/>
          <p:cNvGrpSpPr/>
          <p:nvPr/>
        </p:nvGrpSpPr>
        <p:grpSpPr>
          <a:xfrm rot="0">
            <a:off x="-446056" y="239744"/>
            <a:ext cx="7064312" cy="9807512"/>
            <a:chOff x="0" y="0"/>
            <a:chExt cx="9419082" cy="13076682"/>
          </a:xfrm>
        </p:grpSpPr>
        <p:sp>
          <p:nvSpPr>
            <p:cNvPr name="Freeform 22" id="22"/>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5">
                <a:alphaModFix amt="0"/>
              </a:blip>
              <a:stretch>
                <a:fillRect l="-128126" t="0" r="-128126" b="0"/>
              </a:stretch>
            </a:blipFill>
            <a:ln w="14288" cap="sq">
              <a:solidFill>
                <a:srgbClr val="D9A66B"/>
              </a:solidFill>
              <a:prstDash val="solid"/>
              <a:miter/>
            </a:ln>
          </p:spPr>
        </p:sp>
      </p:grpSp>
      <p:grpSp>
        <p:nvGrpSpPr>
          <p:cNvPr name="Group 23" id="23"/>
          <p:cNvGrpSpPr/>
          <p:nvPr/>
        </p:nvGrpSpPr>
        <p:grpSpPr>
          <a:xfrm rot="0">
            <a:off x="0" y="239744"/>
            <a:ext cx="6618256" cy="9807512"/>
            <a:chOff x="0" y="0"/>
            <a:chExt cx="8824341" cy="13076682"/>
          </a:xfrm>
        </p:grpSpPr>
        <p:sp>
          <p:nvSpPr>
            <p:cNvPr name="Freeform 24" id="24"/>
            <p:cNvSpPr/>
            <p:nvPr/>
          </p:nvSpPr>
          <p:spPr>
            <a:xfrm flipH="false" flipV="false" rot="0">
              <a:off x="0" y="0"/>
              <a:ext cx="8824341" cy="13076682"/>
            </a:xfrm>
            <a:custGeom>
              <a:avLst/>
              <a:gdLst/>
              <a:ahLst/>
              <a:cxnLst/>
              <a:rect r="r" b="b" t="t" l="l"/>
              <a:pathLst>
                <a:path h="13076682" w="8824341">
                  <a:moveTo>
                    <a:pt x="192400" y="0"/>
                  </a:moveTo>
                  <a:lnTo>
                    <a:pt x="8631941" y="0"/>
                  </a:lnTo>
                  <a:cubicBezTo>
                    <a:pt x="8738201" y="0"/>
                    <a:pt x="8824341" y="86140"/>
                    <a:pt x="8824341" y="192400"/>
                  </a:cubicBezTo>
                  <a:lnTo>
                    <a:pt x="8824341" y="12884283"/>
                  </a:lnTo>
                  <a:cubicBezTo>
                    <a:pt x="8824341" y="12990542"/>
                    <a:pt x="8738201" y="13076682"/>
                    <a:pt x="8631941" y="13076682"/>
                  </a:cubicBezTo>
                  <a:lnTo>
                    <a:pt x="192400" y="13076682"/>
                  </a:lnTo>
                  <a:cubicBezTo>
                    <a:pt x="86140" y="13076682"/>
                    <a:pt x="0" y="12990542"/>
                    <a:pt x="0" y="12884283"/>
                  </a:cubicBezTo>
                  <a:lnTo>
                    <a:pt x="0" y="192400"/>
                  </a:lnTo>
                  <a:cubicBezTo>
                    <a:pt x="0" y="86140"/>
                    <a:pt x="86140" y="0"/>
                    <a:pt x="192400" y="0"/>
                  </a:cubicBezTo>
                  <a:close/>
                </a:path>
              </a:pathLst>
            </a:custGeom>
            <a:blipFill>
              <a:blip r:embed="rId11">
                <a:alphaModFix amt="65000"/>
              </a:blip>
              <a:stretch>
                <a:fillRect l="-31422" t="0" r="-31422" b="0"/>
              </a:stretch>
            </a:blipFill>
          </p:spPr>
        </p:sp>
      </p:grpSp>
      <p:sp>
        <p:nvSpPr>
          <p:cNvPr name="Freeform 25" id="25"/>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2"/>
            <a:stretch>
              <a:fillRect l="0" t="-22113" r="0" b="-17967"/>
            </a:stretch>
          </a:blipFill>
        </p:spPr>
      </p:sp>
      <p:grpSp>
        <p:nvGrpSpPr>
          <p:cNvPr name="Group 26" id="26"/>
          <p:cNvGrpSpPr/>
          <p:nvPr/>
        </p:nvGrpSpPr>
        <p:grpSpPr>
          <a:xfrm rot="0">
            <a:off x="7688104" y="3995659"/>
            <a:ext cx="9779508" cy="411480"/>
            <a:chOff x="0" y="0"/>
            <a:chExt cx="13039344" cy="548640"/>
          </a:xfrm>
        </p:grpSpPr>
        <p:sp>
          <p:nvSpPr>
            <p:cNvPr name="Freeform 27" id="27"/>
            <p:cNvSpPr/>
            <p:nvPr/>
          </p:nvSpPr>
          <p:spPr>
            <a:xfrm flipH="false" flipV="false" rot="0">
              <a:off x="0" y="0"/>
              <a:ext cx="13039344" cy="548640"/>
            </a:xfrm>
            <a:custGeom>
              <a:avLst/>
              <a:gdLst/>
              <a:ahLst/>
              <a:cxnLst/>
              <a:rect r="r" b="b" t="t" l="l"/>
              <a:pathLst>
                <a:path h="548640" w="13039344">
                  <a:moveTo>
                    <a:pt x="0" y="0"/>
                  </a:moveTo>
                  <a:lnTo>
                    <a:pt x="13039344" y="0"/>
                  </a:lnTo>
                  <a:lnTo>
                    <a:pt x="13039344" y="548640"/>
                  </a:lnTo>
                  <a:lnTo>
                    <a:pt x="0" y="548640"/>
                  </a:lnTo>
                  <a:close/>
                </a:path>
              </a:pathLst>
            </a:custGeom>
            <a:blipFill>
              <a:blip r:embed="rId5">
                <a:alphaModFix amt="0"/>
              </a:blip>
              <a:stretch>
                <a:fillRect l="0" t="-413094" r="0" b="-413094"/>
              </a:stretch>
            </a:blipFill>
          </p:spPr>
        </p:sp>
        <p:sp>
          <p:nvSpPr>
            <p:cNvPr name="TextBox 28" id="28"/>
            <p:cNvSpPr txBox="true"/>
            <p:nvPr/>
          </p:nvSpPr>
          <p:spPr>
            <a:xfrm>
              <a:off x="0" y="0"/>
              <a:ext cx="13039344" cy="548640"/>
            </a:xfrm>
            <a:prstGeom prst="rect">
              <a:avLst/>
            </a:prstGeom>
          </p:spPr>
          <p:txBody>
            <a:bodyPr anchor="ctr" rtlCol="false" tIns="0" lIns="0" bIns="0" rIns="0"/>
            <a:lstStyle/>
            <a:p>
              <a:pPr algn="r" rtl="true">
                <a:lnSpc>
                  <a:spcPts val="2520"/>
                </a:lnSpc>
              </a:pPr>
              <a:r>
                <a:rPr lang="ar-EG" b="true" sz="2100" spc="21">
                  <a:solidFill>
                    <a:srgbClr val="E8D5B5"/>
                  </a:solidFill>
                  <a:latin typeface="XM Traffic Bold"/>
                  <a:ea typeface="XM Traffic Bold"/>
                  <a:cs typeface="XM Traffic Bold"/>
                  <a:sym typeface="XM Traffic Bold"/>
                  <a:rtl val="true"/>
                </a:rPr>
                <a:t>مكونات التجربة</a:t>
              </a:r>
            </a:p>
          </p:txBody>
        </p:sp>
      </p:grpSp>
      <p:grpSp>
        <p:nvGrpSpPr>
          <p:cNvPr name="Group 29" id="29"/>
          <p:cNvGrpSpPr/>
          <p:nvPr/>
        </p:nvGrpSpPr>
        <p:grpSpPr>
          <a:xfrm rot="0">
            <a:off x="7680960" y="4537155"/>
            <a:ext cx="9793796" cy="700088"/>
            <a:chOff x="0" y="0"/>
            <a:chExt cx="13058394" cy="933450"/>
          </a:xfrm>
        </p:grpSpPr>
        <p:sp>
          <p:nvSpPr>
            <p:cNvPr name="Freeform 30" id="30"/>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31" id="31"/>
          <p:cNvGrpSpPr/>
          <p:nvPr/>
        </p:nvGrpSpPr>
        <p:grpSpPr>
          <a:xfrm rot="0">
            <a:off x="16754380" y="4612879"/>
            <a:ext cx="548640" cy="548640"/>
            <a:chOff x="0" y="0"/>
            <a:chExt cx="731520" cy="731520"/>
          </a:xfrm>
        </p:grpSpPr>
        <p:sp>
          <p:nvSpPr>
            <p:cNvPr name="Freeform 32" id="3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33" id="33"/>
          <p:cNvGrpSpPr/>
          <p:nvPr/>
        </p:nvGrpSpPr>
        <p:grpSpPr>
          <a:xfrm rot="0">
            <a:off x="16891540" y="4750039"/>
            <a:ext cx="274320" cy="274320"/>
            <a:chOff x="0" y="0"/>
            <a:chExt cx="365760" cy="365760"/>
          </a:xfrm>
        </p:grpSpPr>
        <p:sp>
          <p:nvSpPr>
            <p:cNvPr name="Freeform 34" id="3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3"/>
              <a:stretch>
                <a:fillRect l="0" t="0" r="0" b="0"/>
              </a:stretch>
            </a:blipFill>
          </p:spPr>
        </p:sp>
      </p:grpSp>
      <p:grpSp>
        <p:nvGrpSpPr>
          <p:cNvPr name="Group 35" id="35"/>
          <p:cNvGrpSpPr/>
          <p:nvPr/>
        </p:nvGrpSpPr>
        <p:grpSpPr>
          <a:xfrm rot="0">
            <a:off x="7852696" y="4544299"/>
            <a:ext cx="8737092" cy="685800"/>
            <a:chOff x="0" y="0"/>
            <a:chExt cx="11649456" cy="914400"/>
          </a:xfrm>
        </p:grpSpPr>
        <p:sp>
          <p:nvSpPr>
            <p:cNvPr name="Freeform 36" id="36"/>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37" id="37"/>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استكمال الخدمات الأساسية والاحتياجات الناقصة.</a:t>
              </a:r>
            </a:p>
          </p:txBody>
        </p:sp>
      </p:grpSp>
      <p:grpSp>
        <p:nvGrpSpPr>
          <p:cNvPr name="Group 38" id="38"/>
          <p:cNvGrpSpPr/>
          <p:nvPr/>
        </p:nvGrpSpPr>
        <p:grpSpPr>
          <a:xfrm rot="0">
            <a:off x="7680960" y="5332683"/>
            <a:ext cx="9793796" cy="700088"/>
            <a:chOff x="0" y="0"/>
            <a:chExt cx="13058394" cy="933450"/>
          </a:xfrm>
        </p:grpSpPr>
        <p:sp>
          <p:nvSpPr>
            <p:cNvPr name="Freeform 39" id="39"/>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40" id="40"/>
          <p:cNvGrpSpPr/>
          <p:nvPr/>
        </p:nvGrpSpPr>
        <p:grpSpPr>
          <a:xfrm rot="0">
            <a:off x="16754380" y="5408407"/>
            <a:ext cx="548640" cy="548640"/>
            <a:chOff x="0" y="0"/>
            <a:chExt cx="731520" cy="731520"/>
          </a:xfrm>
        </p:grpSpPr>
        <p:sp>
          <p:nvSpPr>
            <p:cNvPr name="Freeform 41" id="4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42" id="42"/>
          <p:cNvGrpSpPr/>
          <p:nvPr/>
        </p:nvGrpSpPr>
        <p:grpSpPr>
          <a:xfrm rot="0">
            <a:off x="16891540" y="5545567"/>
            <a:ext cx="274320" cy="274320"/>
            <a:chOff x="0" y="0"/>
            <a:chExt cx="365760" cy="365760"/>
          </a:xfrm>
        </p:grpSpPr>
        <p:sp>
          <p:nvSpPr>
            <p:cNvPr name="Freeform 43" id="43"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4"/>
              <a:stretch>
                <a:fillRect l="0" t="0" r="0" b="0"/>
              </a:stretch>
            </a:blipFill>
          </p:spPr>
        </p:sp>
      </p:grpSp>
      <p:grpSp>
        <p:nvGrpSpPr>
          <p:cNvPr name="Group 44" id="44"/>
          <p:cNvGrpSpPr/>
          <p:nvPr/>
        </p:nvGrpSpPr>
        <p:grpSpPr>
          <a:xfrm rot="0">
            <a:off x="7852696" y="5339827"/>
            <a:ext cx="8737092" cy="685800"/>
            <a:chOff x="0" y="0"/>
            <a:chExt cx="11649456" cy="914400"/>
          </a:xfrm>
        </p:grpSpPr>
        <p:sp>
          <p:nvSpPr>
            <p:cNvPr name="Freeform 45" id="45"/>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46" id="46"/>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التأكد </a:t>
              </a:r>
              <a:r>
                <a:rPr lang="ar-EG" sz="2100" spc="21">
                  <a:solidFill>
                    <a:srgbClr val="F3EADB"/>
                  </a:solidFill>
                  <a:latin typeface="XM Traffic"/>
                  <a:ea typeface="XM Traffic"/>
                  <a:cs typeface="XM Traffic"/>
                  <a:sym typeface="XM Traffic"/>
                  <a:rtl val="true"/>
                </a:rPr>
                <a:t>من سلامة المرافق والممرات ومعالجة ملاحظات السلامة.</a:t>
              </a:r>
            </a:p>
          </p:txBody>
        </p:sp>
      </p:grpSp>
      <p:grpSp>
        <p:nvGrpSpPr>
          <p:cNvPr name="Group 47" id="47"/>
          <p:cNvGrpSpPr/>
          <p:nvPr/>
        </p:nvGrpSpPr>
        <p:grpSpPr>
          <a:xfrm rot="0">
            <a:off x="7680960" y="6128211"/>
            <a:ext cx="9793796" cy="700088"/>
            <a:chOff x="0" y="0"/>
            <a:chExt cx="13058394" cy="933450"/>
          </a:xfrm>
        </p:grpSpPr>
        <p:sp>
          <p:nvSpPr>
            <p:cNvPr name="Freeform 48" id="48"/>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49" id="49"/>
          <p:cNvGrpSpPr/>
          <p:nvPr/>
        </p:nvGrpSpPr>
        <p:grpSpPr>
          <a:xfrm rot="0">
            <a:off x="16754380" y="6203935"/>
            <a:ext cx="548640" cy="548640"/>
            <a:chOff x="0" y="0"/>
            <a:chExt cx="731520" cy="731520"/>
          </a:xfrm>
        </p:grpSpPr>
        <p:sp>
          <p:nvSpPr>
            <p:cNvPr name="Freeform 50" id="5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51" id="51"/>
          <p:cNvGrpSpPr/>
          <p:nvPr/>
        </p:nvGrpSpPr>
        <p:grpSpPr>
          <a:xfrm rot="0">
            <a:off x="16891540" y="6341095"/>
            <a:ext cx="274320" cy="274320"/>
            <a:chOff x="0" y="0"/>
            <a:chExt cx="365760" cy="365760"/>
          </a:xfrm>
        </p:grpSpPr>
        <p:sp>
          <p:nvSpPr>
            <p:cNvPr name="Freeform 52" id="52"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5"/>
              <a:stretch>
                <a:fillRect l="0" t="0" r="0" b="0"/>
              </a:stretch>
            </a:blipFill>
          </p:spPr>
        </p:sp>
      </p:grpSp>
      <p:grpSp>
        <p:nvGrpSpPr>
          <p:cNvPr name="Group 53" id="53"/>
          <p:cNvGrpSpPr/>
          <p:nvPr/>
        </p:nvGrpSpPr>
        <p:grpSpPr>
          <a:xfrm rot="0">
            <a:off x="7852696" y="6135355"/>
            <a:ext cx="8737092" cy="685800"/>
            <a:chOff x="0" y="0"/>
            <a:chExt cx="11649456" cy="914400"/>
          </a:xfrm>
        </p:grpSpPr>
        <p:sp>
          <p:nvSpPr>
            <p:cNvPr name="Freeform 54" id="54"/>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55" id="55"/>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إزا</a:t>
              </a:r>
              <a:r>
                <a:rPr lang="ar-EG" sz="2100" spc="21">
                  <a:solidFill>
                    <a:srgbClr val="F3EADB"/>
                  </a:solidFill>
                  <a:latin typeface="XM Traffic"/>
                  <a:ea typeface="XM Traffic"/>
                  <a:cs typeface="XM Traffic"/>
                  <a:sym typeface="XM Traffic"/>
                  <a:rtl val="true"/>
                </a:rPr>
                <a:t>لة التشوهات البصرية وتحسين المشهد العام.</a:t>
              </a:r>
            </a:p>
          </p:txBody>
        </p:sp>
      </p:grpSp>
      <p:grpSp>
        <p:nvGrpSpPr>
          <p:cNvPr name="Group 56" id="56"/>
          <p:cNvGrpSpPr/>
          <p:nvPr/>
        </p:nvGrpSpPr>
        <p:grpSpPr>
          <a:xfrm rot="0">
            <a:off x="7680960" y="6923739"/>
            <a:ext cx="9793796" cy="700088"/>
            <a:chOff x="0" y="0"/>
            <a:chExt cx="13058394" cy="933450"/>
          </a:xfrm>
        </p:grpSpPr>
        <p:sp>
          <p:nvSpPr>
            <p:cNvPr name="Freeform 57" id="57"/>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58" id="58"/>
          <p:cNvGrpSpPr/>
          <p:nvPr/>
        </p:nvGrpSpPr>
        <p:grpSpPr>
          <a:xfrm rot="0">
            <a:off x="16754380" y="6999463"/>
            <a:ext cx="548640" cy="548640"/>
            <a:chOff x="0" y="0"/>
            <a:chExt cx="731520" cy="731520"/>
          </a:xfrm>
        </p:grpSpPr>
        <p:sp>
          <p:nvSpPr>
            <p:cNvPr name="Freeform 59" id="5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60" id="60"/>
          <p:cNvGrpSpPr/>
          <p:nvPr/>
        </p:nvGrpSpPr>
        <p:grpSpPr>
          <a:xfrm rot="0">
            <a:off x="16891540" y="7136623"/>
            <a:ext cx="274320" cy="274320"/>
            <a:chOff x="0" y="0"/>
            <a:chExt cx="365760" cy="365760"/>
          </a:xfrm>
        </p:grpSpPr>
        <p:sp>
          <p:nvSpPr>
            <p:cNvPr name="Freeform 61" id="61"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6"/>
              <a:stretch>
                <a:fillRect l="0" t="0" r="0" b="0"/>
              </a:stretch>
            </a:blipFill>
          </p:spPr>
        </p:sp>
      </p:grpSp>
      <p:grpSp>
        <p:nvGrpSpPr>
          <p:cNvPr name="Group 62" id="62"/>
          <p:cNvGrpSpPr/>
          <p:nvPr/>
        </p:nvGrpSpPr>
        <p:grpSpPr>
          <a:xfrm rot="0">
            <a:off x="7852696" y="6930883"/>
            <a:ext cx="8737092" cy="685800"/>
            <a:chOff x="0" y="0"/>
            <a:chExt cx="11649456" cy="914400"/>
          </a:xfrm>
        </p:grpSpPr>
        <p:sp>
          <p:nvSpPr>
            <p:cNvPr name="Freeform 63" id="63"/>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64" id="64"/>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تطوير هوية بصرية خاصة بالموقع.</a:t>
              </a:r>
            </a:p>
          </p:txBody>
        </p:sp>
      </p:grpSp>
      <p:grpSp>
        <p:nvGrpSpPr>
          <p:cNvPr name="Group 65" id="65"/>
          <p:cNvGrpSpPr/>
          <p:nvPr/>
        </p:nvGrpSpPr>
        <p:grpSpPr>
          <a:xfrm rot="0">
            <a:off x="7680960" y="7719267"/>
            <a:ext cx="9793796" cy="700088"/>
            <a:chOff x="0" y="0"/>
            <a:chExt cx="13058394" cy="933450"/>
          </a:xfrm>
        </p:grpSpPr>
        <p:sp>
          <p:nvSpPr>
            <p:cNvPr name="Freeform 66" id="66"/>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67" id="67"/>
          <p:cNvGrpSpPr/>
          <p:nvPr/>
        </p:nvGrpSpPr>
        <p:grpSpPr>
          <a:xfrm rot="0">
            <a:off x="16754380" y="7794991"/>
            <a:ext cx="548640" cy="548640"/>
            <a:chOff x="0" y="0"/>
            <a:chExt cx="731520" cy="731520"/>
          </a:xfrm>
        </p:grpSpPr>
        <p:sp>
          <p:nvSpPr>
            <p:cNvPr name="Freeform 68" id="6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E8D5B5"/>
            </a:solidFill>
          </p:spPr>
        </p:sp>
      </p:grpSp>
      <p:grpSp>
        <p:nvGrpSpPr>
          <p:cNvPr name="Group 69" id="69"/>
          <p:cNvGrpSpPr/>
          <p:nvPr/>
        </p:nvGrpSpPr>
        <p:grpSpPr>
          <a:xfrm rot="0">
            <a:off x="7852696" y="7726411"/>
            <a:ext cx="8737092" cy="685800"/>
            <a:chOff x="0" y="0"/>
            <a:chExt cx="11649456" cy="914400"/>
          </a:xfrm>
        </p:grpSpPr>
        <p:sp>
          <p:nvSpPr>
            <p:cNvPr name="Freeform 70" id="70"/>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71" id="71"/>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تصميم وتركيب لوحات تعريفية وإرشادية.</a:t>
              </a:r>
            </a:p>
          </p:txBody>
        </p:sp>
      </p:grpSp>
      <p:grpSp>
        <p:nvGrpSpPr>
          <p:cNvPr name="Group 72" id="72"/>
          <p:cNvGrpSpPr/>
          <p:nvPr/>
        </p:nvGrpSpPr>
        <p:grpSpPr>
          <a:xfrm rot="0">
            <a:off x="16976722" y="2152354"/>
            <a:ext cx="475488" cy="475488"/>
            <a:chOff x="0" y="0"/>
            <a:chExt cx="633984" cy="633984"/>
          </a:xfrm>
        </p:grpSpPr>
        <p:sp>
          <p:nvSpPr>
            <p:cNvPr name="Freeform 73" id="73"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7"/>
              <a:stretch>
                <a:fillRect l="0" t="0" r="0" b="0"/>
              </a:stretch>
            </a:blipFill>
          </p:spPr>
        </p:sp>
      </p:grpSp>
      <p:grpSp>
        <p:nvGrpSpPr>
          <p:cNvPr name="Group 74" id="74"/>
          <p:cNvGrpSpPr/>
          <p:nvPr/>
        </p:nvGrpSpPr>
        <p:grpSpPr>
          <a:xfrm rot="0">
            <a:off x="6735442" y="2152354"/>
            <a:ext cx="10058400" cy="548640"/>
            <a:chOff x="0" y="0"/>
            <a:chExt cx="13411200" cy="731520"/>
          </a:xfrm>
        </p:grpSpPr>
        <p:sp>
          <p:nvSpPr>
            <p:cNvPr name="Freeform 75" id="75"/>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5">
                <a:alphaModFix amt="0"/>
              </a:blip>
              <a:stretch>
                <a:fillRect l="0" t="-307225" r="0" b="-307225"/>
              </a:stretch>
            </a:blipFill>
          </p:spPr>
        </p:sp>
        <p:sp>
          <p:nvSpPr>
            <p:cNvPr name="TextBox 76" id="76"/>
            <p:cNvSpPr txBox="true"/>
            <p:nvPr/>
          </p:nvSpPr>
          <p:spPr>
            <a:xfrm>
              <a:off x="0" y="-19050"/>
              <a:ext cx="13411200" cy="750570"/>
            </a:xfrm>
            <a:prstGeom prst="rect">
              <a:avLst/>
            </a:prstGeom>
          </p:spPr>
          <p:txBody>
            <a:bodyPr anchor="ctr" rtlCol="false" tIns="0" lIns="0" bIns="0" rIns="0"/>
            <a:lstStyle/>
            <a:p>
              <a:pPr algn="r" rtl="true">
                <a:lnSpc>
                  <a:spcPts val="3359"/>
                </a:lnSpc>
              </a:pPr>
              <a:r>
                <a:rPr lang="ar-EG" b="true" sz="2799">
                  <a:solidFill>
                    <a:srgbClr val="855F45"/>
                  </a:solidFill>
                  <a:latin typeface="Arial Bold"/>
                  <a:ea typeface="Arial Bold"/>
                  <a:cs typeface="Arial Bold"/>
                  <a:sym typeface="Arial Bold"/>
                  <a:rtl val="true"/>
                </a:rPr>
                <a:t>التجربة</a:t>
              </a:r>
            </a:p>
          </p:txBody>
        </p:sp>
      </p:grpSp>
      <p:sp>
        <p:nvSpPr>
          <p:cNvPr name="TextBox 77" id="77"/>
          <p:cNvSpPr txBox="true"/>
          <p:nvPr/>
        </p:nvSpPr>
        <p:spPr>
          <a:xfrm rot="0">
            <a:off x="6735442" y="2718520"/>
            <a:ext cx="10789920" cy="857250"/>
          </a:xfrm>
          <a:prstGeom prst="rect">
            <a:avLst/>
          </a:prstGeom>
        </p:spPr>
        <p:txBody>
          <a:bodyPr anchor="t" rtlCol="false" tIns="0" lIns="0" bIns="0" rIns="0">
            <a:spAutoFit/>
          </a:bodyPr>
          <a:lstStyle/>
          <a:p>
            <a:pPr algn="r" rtl="true">
              <a:lnSpc>
                <a:spcPts val="3359"/>
              </a:lnSpc>
            </a:pPr>
            <a:r>
              <a:rPr lang="ar-EG" sz="2799">
                <a:solidFill>
                  <a:srgbClr val="5E4B3C"/>
                </a:solidFill>
                <a:latin typeface="Arial"/>
                <a:ea typeface="Arial"/>
                <a:cs typeface="Arial"/>
                <a:sym typeface="Arial"/>
                <a:rtl val="true"/>
              </a:rPr>
              <a:t>تطوير المملحة وتحسينها لتكون ملتقى اجتماعياً للزوار، مع التركيز على رفع جودة الموقع والخدمات القائمة وتحسين تجربة الزيارة.</a:t>
            </a:r>
          </a:p>
        </p:txBody>
      </p:sp>
      <p:grpSp>
        <p:nvGrpSpPr>
          <p:cNvPr name="Group 78" id="78"/>
          <p:cNvGrpSpPr/>
          <p:nvPr/>
        </p:nvGrpSpPr>
        <p:grpSpPr>
          <a:xfrm rot="0">
            <a:off x="7984639" y="8724155"/>
            <a:ext cx="9793796" cy="700088"/>
            <a:chOff x="0" y="0"/>
            <a:chExt cx="13058394" cy="933450"/>
          </a:xfrm>
        </p:grpSpPr>
        <p:sp>
          <p:nvSpPr>
            <p:cNvPr name="Freeform 79" id="79"/>
            <p:cNvSpPr/>
            <p:nvPr/>
          </p:nvSpPr>
          <p:spPr>
            <a:xfrm flipH="false" flipV="false" rot="0">
              <a:off x="0" y="0"/>
              <a:ext cx="13058394" cy="933450"/>
            </a:xfrm>
            <a:custGeom>
              <a:avLst/>
              <a:gdLst/>
              <a:ahLst/>
              <a:cxnLst/>
              <a:rect r="r" b="b" t="t" l="l"/>
              <a:pathLst>
                <a:path h="933450" w="13058394">
                  <a:moveTo>
                    <a:pt x="0" y="261366"/>
                  </a:moveTo>
                  <a:cubicBezTo>
                    <a:pt x="0" y="116967"/>
                    <a:pt x="116967" y="0"/>
                    <a:pt x="261366" y="0"/>
                  </a:cubicBezTo>
                  <a:lnTo>
                    <a:pt x="12797028" y="0"/>
                  </a:lnTo>
                  <a:cubicBezTo>
                    <a:pt x="12941427" y="0"/>
                    <a:pt x="13058394" y="116967"/>
                    <a:pt x="13058394" y="261366"/>
                  </a:cubicBezTo>
                  <a:lnTo>
                    <a:pt x="13058394" y="672084"/>
                  </a:lnTo>
                  <a:cubicBezTo>
                    <a:pt x="13058394" y="816483"/>
                    <a:pt x="12941427" y="933450"/>
                    <a:pt x="12797028" y="933450"/>
                  </a:cubicBezTo>
                  <a:lnTo>
                    <a:pt x="261366" y="933450"/>
                  </a:lnTo>
                  <a:cubicBezTo>
                    <a:pt x="116967" y="933450"/>
                    <a:pt x="0" y="816483"/>
                    <a:pt x="0" y="672084"/>
                  </a:cubicBezTo>
                  <a:close/>
                </a:path>
              </a:pathLst>
            </a:custGeom>
            <a:solidFill>
              <a:srgbClr val="3A2A1F"/>
            </a:solidFill>
            <a:ln w="14288" cap="sq">
              <a:solidFill>
                <a:srgbClr val="4D3A2C"/>
              </a:solidFill>
              <a:prstDash val="solid"/>
              <a:miter/>
            </a:ln>
          </p:spPr>
        </p:sp>
      </p:grpSp>
      <p:grpSp>
        <p:nvGrpSpPr>
          <p:cNvPr name="Group 80" id="80"/>
          <p:cNvGrpSpPr/>
          <p:nvPr/>
        </p:nvGrpSpPr>
        <p:grpSpPr>
          <a:xfrm rot="0">
            <a:off x="8156375" y="8731299"/>
            <a:ext cx="8737092" cy="685800"/>
            <a:chOff x="0" y="0"/>
            <a:chExt cx="11649456" cy="914400"/>
          </a:xfrm>
        </p:grpSpPr>
        <p:sp>
          <p:nvSpPr>
            <p:cNvPr name="Freeform 81" id="81"/>
            <p:cNvSpPr/>
            <p:nvPr/>
          </p:nvSpPr>
          <p:spPr>
            <a:xfrm flipH="false" flipV="false" rot="0">
              <a:off x="0" y="0"/>
              <a:ext cx="11649456" cy="914400"/>
            </a:xfrm>
            <a:custGeom>
              <a:avLst/>
              <a:gdLst/>
              <a:ahLst/>
              <a:cxnLst/>
              <a:rect r="r" b="b" t="t" l="l"/>
              <a:pathLst>
                <a:path h="914400" w="11649456">
                  <a:moveTo>
                    <a:pt x="0" y="0"/>
                  </a:moveTo>
                  <a:lnTo>
                    <a:pt x="11649456" y="0"/>
                  </a:lnTo>
                  <a:lnTo>
                    <a:pt x="11649456" y="914400"/>
                  </a:lnTo>
                  <a:lnTo>
                    <a:pt x="0" y="914400"/>
                  </a:lnTo>
                  <a:close/>
                </a:path>
              </a:pathLst>
            </a:custGeom>
            <a:blipFill>
              <a:blip r:embed="rId5">
                <a:alphaModFix amt="0"/>
              </a:blip>
              <a:stretch>
                <a:fillRect l="0" t="-198239" r="0" b="-198239"/>
              </a:stretch>
            </a:blipFill>
          </p:spPr>
        </p:sp>
        <p:sp>
          <p:nvSpPr>
            <p:cNvPr name="TextBox 82" id="82"/>
            <p:cNvSpPr txBox="true"/>
            <p:nvPr/>
          </p:nvSpPr>
          <p:spPr>
            <a:xfrm>
              <a:off x="0" y="0"/>
              <a:ext cx="11649456" cy="914400"/>
            </a:xfrm>
            <a:prstGeom prst="rect">
              <a:avLst/>
            </a:prstGeom>
          </p:spPr>
          <p:txBody>
            <a:bodyPr anchor="ctr" rtlCol="false" tIns="0" lIns="0" bIns="0" rIns="0"/>
            <a:lstStyle/>
            <a:p>
              <a:pPr algn="r" rtl="true">
                <a:lnSpc>
                  <a:spcPts val="2520"/>
                </a:lnSpc>
              </a:pPr>
              <a:r>
                <a:rPr lang="ar-EG" sz="2100" spc="21">
                  <a:solidFill>
                    <a:srgbClr val="F3EADB"/>
                  </a:solidFill>
                  <a:latin typeface="XM Traffic"/>
                  <a:ea typeface="XM Traffic"/>
                  <a:cs typeface="XM Traffic"/>
                  <a:sym typeface="XM Traffic"/>
                  <a:rtl val="true"/>
                </a:rPr>
                <a:t>توفير تعليمات وتنبيهات وإرشادات السلامة والصحة ذات الصلة.</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673894" y="1378744"/>
            <a:ext cx="6333172" cy="4040399"/>
            <a:chOff x="0" y="0"/>
            <a:chExt cx="8444230" cy="5387198"/>
          </a:xfrm>
        </p:grpSpPr>
        <p:sp>
          <p:nvSpPr>
            <p:cNvPr name="Freeform 4" id="4"/>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5" id="5"/>
          <p:cNvGrpSpPr/>
          <p:nvPr/>
        </p:nvGrpSpPr>
        <p:grpSpPr>
          <a:xfrm rot="0">
            <a:off x="925544" y="1496087"/>
            <a:ext cx="5829871" cy="3805712"/>
            <a:chOff x="0" y="0"/>
            <a:chExt cx="7773162" cy="5074282"/>
          </a:xfrm>
        </p:grpSpPr>
        <p:sp>
          <p:nvSpPr>
            <p:cNvPr name="Freeform 6" id="6"/>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7" id="7"/>
          <p:cNvGrpSpPr/>
          <p:nvPr/>
        </p:nvGrpSpPr>
        <p:grpSpPr>
          <a:xfrm rot="0">
            <a:off x="925544" y="1488159"/>
            <a:ext cx="5829872" cy="3821568"/>
            <a:chOff x="0" y="0"/>
            <a:chExt cx="7773162" cy="5095424"/>
          </a:xfrm>
        </p:grpSpPr>
        <p:sp>
          <p:nvSpPr>
            <p:cNvPr name="Freeform 8" id="8"/>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5">
                <a:alphaModFix amt="65000"/>
              </a:blip>
              <a:stretch>
                <a:fillRect l="0" t="-51701" r="0" b="-51701"/>
              </a:stretch>
            </a:blipFill>
          </p:spPr>
        </p:sp>
      </p:grpSp>
      <p:grpSp>
        <p:nvGrpSpPr>
          <p:cNvPr name="Group 9" id="9"/>
          <p:cNvGrpSpPr/>
          <p:nvPr/>
        </p:nvGrpSpPr>
        <p:grpSpPr>
          <a:xfrm rot="0">
            <a:off x="12296108" y="815816"/>
            <a:ext cx="5171504" cy="562928"/>
            <a:chOff x="0" y="0"/>
            <a:chExt cx="6895338" cy="750570"/>
          </a:xfrm>
        </p:grpSpPr>
        <p:sp>
          <p:nvSpPr>
            <p:cNvPr name="Freeform 10" id="10"/>
            <p:cNvSpPr/>
            <p:nvPr/>
          </p:nvSpPr>
          <p:spPr>
            <a:xfrm flipH="false" flipV="false" rot="0">
              <a:off x="0" y="0"/>
              <a:ext cx="6895338" cy="750570"/>
            </a:xfrm>
            <a:custGeom>
              <a:avLst/>
              <a:gdLst/>
              <a:ahLst/>
              <a:cxnLst/>
              <a:rect r="r" b="b" t="t" l="l"/>
              <a:pathLst>
                <a:path h="750570" w="6895338">
                  <a:moveTo>
                    <a:pt x="0" y="375285"/>
                  </a:moveTo>
                  <a:cubicBezTo>
                    <a:pt x="0" y="168021"/>
                    <a:pt x="168021" y="0"/>
                    <a:pt x="375285" y="0"/>
                  </a:cubicBezTo>
                  <a:lnTo>
                    <a:pt x="6520053" y="0"/>
                  </a:lnTo>
                  <a:cubicBezTo>
                    <a:pt x="6727317" y="0"/>
                    <a:pt x="6895338" y="168021"/>
                    <a:pt x="6895338" y="375285"/>
                  </a:cubicBezTo>
                  <a:cubicBezTo>
                    <a:pt x="6895338" y="582549"/>
                    <a:pt x="6727317" y="750570"/>
                    <a:pt x="6520053" y="750570"/>
                  </a:cubicBezTo>
                  <a:lnTo>
                    <a:pt x="375285" y="750570"/>
                  </a:lnTo>
                  <a:cubicBezTo>
                    <a:pt x="168021" y="750570"/>
                    <a:pt x="0" y="582549"/>
                    <a:pt x="0" y="375285"/>
                  </a:cubicBezTo>
                  <a:close/>
                </a:path>
              </a:pathLst>
            </a:custGeom>
            <a:solidFill>
              <a:srgbClr val="E8D5B5">
                <a:alpha val="5882"/>
              </a:srgbClr>
            </a:solidFill>
            <a:ln w="14288" cap="sq">
              <a:solidFill>
                <a:srgbClr val="E8D5B5"/>
              </a:solidFill>
              <a:prstDash val="solid"/>
              <a:miter/>
            </a:ln>
          </p:spPr>
        </p:sp>
      </p:grpSp>
      <p:grpSp>
        <p:nvGrpSpPr>
          <p:cNvPr name="Group 11" id="11"/>
          <p:cNvGrpSpPr/>
          <p:nvPr/>
        </p:nvGrpSpPr>
        <p:grpSpPr>
          <a:xfrm rot="0">
            <a:off x="16939260" y="946404"/>
            <a:ext cx="301752" cy="301752"/>
            <a:chOff x="0" y="0"/>
            <a:chExt cx="402336" cy="402336"/>
          </a:xfrm>
        </p:grpSpPr>
        <p:sp>
          <p:nvSpPr>
            <p:cNvPr name="Freeform 12" id="12"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3" id="13"/>
          <p:cNvGrpSpPr/>
          <p:nvPr/>
        </p:nvGrpSpPr>
        <p:grpSpPr>
          <a:xfrm rot="0">
            <a:off x="12467844" y="822960"/>
            <a:ext cx="4334256" cy="564812"/>
            <a:chOff x="0" y="0"/>
            <a:chExt cx="5779008" cy="753083"/>
          </a:xfrm>
        </p:grpSpPr>
        <p:sp>
          <p:nvSpPr>
            <p:cNvPr name="Freeform 14" id="14"/>
            <p:cNvSpPr/>
            <p:nvPr/>
          </p:nvSpPr>
          <p:spPr>
            <a:xfrm flipH="false" flipV="false" rot="0">
              <a:off x="0" y="0"/>
              <a:ext cx="5779008" cy="753083"/>
            </a:xfrm>
            <a:custGeom>
              <a:avLst/>
              <a:gdLst/>
              <a:ahLst/>
              <a:cxnLst/>
              <a:rect r="r" b="b" t="t" l="l"/>
              <a:pathLst>
                <a:path h="753083" w="5779008">
                  <a:moveTo>
                    <a:pt x="0" y="0"/>
                  </a:moveTo>
                  <a:lnTo>
                    <a:pt x="5779008" y="0"/>
                  </a:lnTo>
                  <a:lnTo>
                    <a:pt x="5779008" y="753083"/>
                  </a:lnTo>
                  <a:lnTo>
                    <a:pt x="0" y="753083"/>
                  </a:lnTo>
                  <a:close/>
                </a:path>
              </a:pathLst>
            </a:custGeom>
            <a:blipFill>
              <a:blip r:embed="rId4">
                <a:alphaModFix amt="0"/>
              </a:blip>
              <a:stretch>
                <a:fillRect l="0" t="-100955" r="0" b="-98092"/>
              </a:stretch>
            </a:blipFill>
          </p:spPr>
        </p:sp>
        <p:sp>
          <p:nvSpPr>
            <p:cNvPr name="TextBox 15" id="15"/>
            <p:cNvSpPr txBox="true"/>
            <p:nvPr/>
          </p:nvSpPr>
          <p:spPr>
            <a:xfrm>
              <a:off x="0" y="-9525"/>
              <a:ext cx="5779008" cy="762608"/>
            </a:xfrm>
            <a:prstGeom prst="rect">
              <a:avLst/>
            </a:prstGeom>
          </p:spPr>
          <p:txBody>
            <a:bodyPr anchor="ctr" rtlCol="false" tIns="0" lIns="0" bIns="0" rIns="0"/>
            <a:lstStyle/>
            <a:p>
              <a:pPr algn="r" rtl="true">
                <a:lnSpc>
                  <a:spcPts val="2340"/>
                </a:lnSpc>
              </a:pPr>
              <a:r>
                <a:rPr lang="ar-EG" b="true" sz="1950" spc="19">
                  <a:solidFill>
                    <a:srgbClr val="E8D5B5"/>
                  </a:solidFill>
                  <a:latin typeface="XM Traffic Bold"/>
                  <a:ea typeface="XM Traffic Bold"/>
                  <a:cs typeface="XM Traffic Bold"/>
                  <a:sym typeface="XM Traffic Bold"/>
                  <a:rtl val="true"/>
                </a:rPr>
                <a:t>مملحة </a:t>
              </a:r>
              <a:r>
                <a:rPr lang="ar-EG" b="true" sz="1950" spc="19">
                  <a:solidFill>
                    <a:srgbClr val="E8D5B5"/>
                  </a:solidFill>
                  <a:latin typeface="XM Traffic Bold"/>
                  <a:ea typeface="XM Traffic Bold"/>
                  <a:cs typeface="XM Traffic Bold"/>
                  <a:sym typeface="XM Traffic Bold"/>
                  <a:rtl val="true"/>
                </a:rPr>
                <a:t>المقحم – القصيم</a:t>
              </a:r>
            </a:p>
          </p:txBody>
        </p:sp>
      </p:grpSp>
      <p:grpSp>
        <p:nvGrpSpPr>
          <p:cNvPr name="Group 16" id="16"/>
          <p:cNvGrpSpPr/>
          <p:nvPr/>
        </p:nvGrpSpPr>
        <p:grpSpPr>
          <a:xfrm rot="0">
            <a:off x="8513553" y="815816"/>
            <a:ext cx="3616849" cy="562928"/>
            <a:chOff x="0" y="0"/>
            <a:chExt cx="4822466" cy="750570"/>
          </a:xfrm>
        </p:grpSpPr>
        <p:sp>
          <p:nvSpPr>
            <p:cNvPr name="Freeform 17" id="17" descr="رابط الموقع على خرائط قوقل">
              <a:hlinkClick r:id="rId7" tooltip="https://www.google.com/maps/search/?api=1&amp;query=%D8%A7%D9%84%D9%82%D8%B5%D8%A8%20%D8%A7%D9%84%D9%85%D8%AC%D9%85%D8%B9%D8%A9"/>
            </p:cNvPr>
            <p:cNvSpPr/>
            <p:nvPr/>
          </p:nvSpPr>
          <p:spPr>
            <a:xfrm flipH="false" flipV="false" rot="0">
              <a:off x="0" y="0"/>
              <a:ext cx="4822504" cy="750570"/>
            </a:xfrm>
            <a:custGeom>
              <a:avLst/>
              <a:gdLst/>
              <a:ahLst/>
              <a:cxnLst/>
              <a:rect r="r" b="b" t="t" l="l"/>
              <a:pathLst>
                <a:path h="750570" w="4822504">
                  <a:moveTo>
                    <a:pt x="0" y="375285"/>
                  </a:moveTo>
                  <a:cubicBezTo>
                    <a:pt x="0" y="168021"/>
                    <a:pt x="183359" y="0"/>
                    <a:pt x="409544" y="0"/>
                  </a:cubicBezTo>
                  <a:lnTo>
                    <a:pt x="4412963" y="0"/>
                  </a:lnTo>
                  <a:cubicBezTo>
                    <a:pt x="4639148" y="0"/>
                    <a:pt x="4822504" y="168021"/>
                    <a:pt x="4822504" y="375285"/>
                  </a:cubicBezTo>
                  <a:cubicBezTo>
                    <a:pt x="4822504" y="582549"/>
                    <a:pt x="4639148" y="750570"/>
                    <a:pt x="4412963" y="750570"/>
                  </a:cubicBezTo>
                  <a:lnTo>
                    <a:pt x="409544" y="750570"/>
                  </a:lnTo>
                  <a:cubicBezTo>
                    <a:pt x="183359" y="750570"/>
                    <a:pt x="0" y="582549"/>
                    <a:pt x="0" y="375285"/>
                  </a:cubicBezTo>
                  <a:close/>
                </a:path>
              </a:pathLst>
            </a:custGeom>
            <a:solidFill>
              <a:srgbClr val="D9A66B"/>
            </a:solidFill>
            <a:ln w="14288" cap="sq">
              <a:solidFill>
                <a:srgbClr val="D9A66B"/>
              </a:solidFill>
              <a:prstDash val="solid"/>
              <a:miter/>
            </a:ln>
          </p:spPr>
        </p:sp>
      </p:grpSp>
      <p:grpSp>
        <p:nvGrpSpPr>
          <p:cNvPr name="Group 18" id="18"/>
          <p:cNvGrpSpPr/>
          <p:nvPr/>
        </p:nvGrpSpPr>
        <p:grpSpPr>
          <a:xfrm rot="0">
            <a:off x="11626501" y="946404"/>
            <a:ext cx="301752" cy="301752"/>
            <a:chOff x="0" y="0"/>
            <a:chExt cx="402336" cy="402336"/>
          </a:xfrm>
        </p:grpSpPr>
        <p:sp>
          <p:nvSpPr>
            <p:cNvPr name="Freeform 19" id="19"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8"/>
              <a:stretch>
                <a:fillRect l="0" t="0" r="0" b="0"/>
              </a:stretch>
            </a:blipFill>
          </p:spPr>
        </p:sp>
      </p:grpSp>
      <p:grpSp>
        <p:nvGrpSpPr>
          <p:cNvPr name="Group 20" id="20"/>
          <p:cNvGrpSpPr/>
          <p:nvPr/>
        </p:nvGrpSpPr>
        <p:grpSpPr>
          <a:xfrm rot="0">
            <a:off x="8489940" y="815816"/>
            <a:ext cx="3136561" cy="564811"/>
            <a:chOff x="0" y="0"/>
            <a:chExt cx="4182081" cy="753081"/>
          </a:xfrm>
        </p:grpSpPr>
        <p:sp>
          <p:nvSpPr>
            <p:cNvPr name="Freeform 21" id="21"/>
            <p:cNvSpPr/>
            <p:nvPr/>
          </p:nvSpPr>
          <p:spPr>
            <a:xfrm flipH="false" flipV="false" rot="0">
              <a:off x="0" y="0"/>
              <a:ext cx="4182075" cy="753081"/>
            </a:xfrm>
            <a:custGeom>
              <a:avLst/>
              <a:gdLst/>
              <a:ahLst/>
              <a:cxnLst/>
              <a:rect r="r" b="b" t="t" l="l"/>
              <a:pathLst>
                <a:path h="753081" w="4182075">
                  <a:moveTo>
                    <a:pt x="0" y="0"/>
                  </a:moveTo>
                  <a:lnTo>
                    <a:pt x="4182075" y="0"/>
                  </a:lnTo>
                  <a:lnTo>
                    <a:pt x="4182075" y="753081"/>
                  </a:lnTo>
                  <a:lnTo>
                    <a:pt x="0" y="753081"/>
                  </a:lnTo>
                  <a:close/>
                </a:path>
              </a:pathLst>
            </a:custGeom>
            <a:blipFill>
              <a:blip r:embed="rId4">
                <a:alphaModFix amt="0"/>
              </a:blip>
              <a:stretch>
                <a:fillRect l="0" t="-39341" r="18756" b="-36478"/>
              </a:stretch>
            </a:blipFill>
          </p:spPr>
        </p:sp>
        <p:sp>
          <p:nvSpPr>
            <p:cNvPr name="TextBox 22" id="22"/>
            <p:cNvSpPr txBox="true"/>
            <p:nvPr/>
          </p:nvSpPr>
          <p:spPr>
            <a:xfrm>
              <a:off x="0" y="-9525"/>
              <a:ext cx="4182081" cy="762606"/>
            </a:xfrm>
            <a:prstGeom prst="rect">
              <a:avLst/>
            </a:prstGeom>
          </p:spPr>
          <p:txBody>
            <a:bodyPr anchor="ctr" rtlCol="false" tIns="0" lIns="0" bIns="0" rIns="0"/>
            <a:lstStyle/>
            <a:p>
              <a:pPr algn="r" rtl="true">
                <a:lnSpc>
                  <a:spcPts val="2339"/>
                </a:lnSpc>
              </a:pPr>
              <a:r>
                <a:rPr lang="ar-EG" b="true" sz="1949" spc="20" u="sng">
                  <a:solidFill>
                    <a:srgbClr val="3E2D21"/>
                  </a:solidFill>
                  <a:latin typeface="XM Traffic Bold"/>
                  <a:ea typeface="XM Traffic Bold"/>
                  <a:cs typeface="XM Traffic Bold"/>
                  <a:sym typeface="XM Traffic Bold"/>
                  <a:hlinkClick r:id="rId9" tooltip="https://maps.app.goo.gl/hdbMGtBSv38Tk5o3A?g_st=iw"/>
                  <a:rtl val="true"/>
                </a:rPr>
                <a:t>موقع </a:t>
              </a:r>
              <a:r>
                <a:rPr lang="ar-EG" b="true" sz="1949" spc="20" u="sng">
                  <a:solidFill>
                    <a:srgbClr val="3E2D21"/>
                  </a:solidFill>
                  <a:latin typeface="XM Traffic Bold"/>
                  <a:ea typeface="XM Traffic Bold"/>
                  <a:cs typeface="XM Traffic Bold"/>
                  <a:sym typeface="XM Traffic Bold"/>
                  <a:hlinkClick r:id="rId10" tooltip="https://maps.app.goo.gl/hdbMGtBSv38Tk5o3A?g_st=iw"/>
                  <a:rtl val="true"/>
                </a:rPr>
                <a:t>القصب (مملحه المقحم)</a:t>
              </a:r>
            </a:p>
          </p:txBody>
        </p:sp>
      </p:grpSp>
      <p:grpSp>
        <p:nvGrpSpPr>
          <p:cNvPr name="Group 23" id="23"/>
          <p:cNvGrpSpPr/>
          <p:nvPr/>
        </p:nvGrpSpPr>
        <p:grpSpPr>
          <a:xfrm rot="0">
            <a:off x="673894" y="5703295"/>
            <a:ext cx="6333172" cy="4040399"/>
            <a:chOff x="0" y="0"/>
            <a:chExt cx="8444230" cy="5387198"/>
          </a:xfrm>
        </p:grpSpPr>
        <p:sp>
          <p:nvSpPr>
            <p:cNvPr name="Freeform 24" id="24"/>
            <p:cNvSpPr/>
            <p:nvPr/>
          </p:nvSpPr>
          <p:spPr>
            <a:xfrm flipH="false" flipV="false" rot="0">
              <a:off x="0" y="0"/>
              <a:ext cx="8444230" cy="5387199"/>
            </a:xfrm>
            <a:custGeom>
              <a:avLst/>
              <a:gdLst/>
              <a:ahLst/>
              <a:cxnLst/>
              <a:rect r="r" b="b" t="t" l="l"/>
              <a:pathLst>
                <a:path h="5387199" w="8444230">
                  <a:moveTo>
                    <a:pt x="0" y="342407"/>
                  </a:moveTo>
                  <a:cubicBezTo>
                    <a:pt x="0" y="153319"/>
                    <a:pt x="328803" y="0"/>
                    <a:pt x="734314" y="0"/>
                  </a:cubicBezTo>
                  <a:lnTo>
                    <a:pt x="7709916" y="0"/>
                  </a:lnTo>
                  <a:cubicBezTo>
                    <a:pt x="8115427" y="0"/>
                    <a:pt x="8444230" y="153319"/>
                    <a:pt x="8444230" y="342407"/>
                  </a:cubicBezTo>
                  <a:lnTo>
                    <a:pt x="8444230" y="5044791"/>
                  </a:lnTo>
                  <a:cubicBezTo>
                    <a:pt x="8444230" y="5233879"/>
                    <a:pt x="8115427" y="5387199"/>
                    <a:pt x="7709916" y="5387199"/>
                  </a:cubicBezTo>
                  <a:lnTo>
                    <a:pt x="734314" y="5387199"/>
                  </a:lnTo>
                  <a:cubicBezTo>
                    <a:pt x="328803" y="5387199"/>
                    <a:pt x="0" y="5233879"/>
                    <a:pt x="0" y="5044791"/>
                  </a:cubicBezTo>
                  <a:close/>
                </a:path>
              </a:pathLst>
            </a:custGeom>
            <a:solidFill>
              <a:srgbClr val="3E2D21"/>
            </a:solidFill>
            <a:ln w="23812" cap="sq">
              <a:solidFill>
                <a:srgbClr val="E8D5B5"/>
              </a:solidFill>
              <a:prstDash val="dash"/>
              <a:miter/>
            </a:ln>
          </p:spPr>
        </p:sp>
      </p:grpSp>
      <p:grpSp>
        <p:nvGrpSpPr>
          <p:cNvPr name="Group 25" id="25"/>
          <p:cNvGrpSpPr/>
          <p:nvPr/>
        </p:nvGrpSpPr>
        <p:grpSpPr>
          <a:xfrm rot="0">
            <a:off x="925544" y="5820639"/>
            <a:ext cx="5829871" cy="3805712"/>
            <a:chOff x="0" y="0"/>
            <a:chExt cx="7773162" cy="5074282"/>
          </a:xfrm>
        </p:grpSpPr>
        <p:sp>
          <p:nvSpPr>
            <p:cNvPr name="Freeform 26" id="26"/>
            <p:cNvSpPr/>
            <p:nvPr/>
          </p:nvSpPr>
          <p:spPr>
            <a:xfrm flipH="false" flipV="false" rot="0">
              <a:off x="0" y="0"/>
              <a:ext cx="7773162" cy="5074283"/>
            </a:xfrm>
            <a:custGeom>
              <a:avLst/>
              <a:gdLst/>
              <a:ahLst/>
              <a:cxnLst/>
              <a:rect r="r" b="b" t="t" l="l"/>
              <a:pathLst>
                <a:path h="5074283" w="7773162">
                  <a:moveTo>
                    <a:pt x="0" y="239365"/>
                  </a:moveTo>
                  <a:cubicBezTo>
                    <a:pt x="0" y="107187"/>
                    <a:pt x="229870" y="0"/>
                    <a:pt x="513334" y="0"/>
                  </a:cubicBezTo>
                  <a:lnTo>
                    <a:pt x="7259828" y="0"/>
                  </a:lnTo>
                  <a:cubicBezTo>
                    <a:pt x="7543292" y="0"/>
                    <a:pt x="7773162" y="107187"/>
                    <a:pt x="7773162" y="239365"/>
                  </a:cubicBezTo>
                  <a:lnTo>
                    <a:pt x="7773162" y="4834917"/>
                  </a:lnTo>
                  <a:cubicBezTo>
                    <a:pt x="7773162" y="4967095"/>
                    <a:pt x="7543292" y="5074283"/>
                    <a:pt x="7259828" y="5074283"/>
                  </a:cubicBezTo>
                  <a:lnTo>
                    <a:pt x="513334" y="5074283"/>
                  </a:lnTo>
                  <a:cubicBezTo>
                    <a:pt x="229870" y="5074283"/>
                    <a:pt x="0" y="4967095"/>
                    <a:pt x="0" y="4834917"/>
                  </a:cubicBezTo>
                  <a:close/>
                </a:path>
              </a:pathLst>
            </a:custGeom>
            <a:blipFill>
              <a:blip r:embed="rId4">
                <a:alphaModFix amt="0"/>
              </a:blip>
              <a:stretch>
                <a:fillRect l="-129619" t="0" r="-129619" b="-114456"/>
              </a:stretch>
            </a:blipFill>
            <a:ln w="14288" cap="sq">
              <a:solidFill>
                <a:srgbClr val="E8D5B5"/>
              </a:solidFill>
              <a:prstDash val="solid"/>
              <a:miter/>
            </a:ln>
          </p:spPr>
        </p:sp>
      </p:grpSp>
      <p:grpSp>
        <p:nvGrpSpPr>
          <p:cNvPr name="Group 27" id="27"/>
          <p:cNvGrpSpPr/>
          <p:nvPr/>
        </p:nvGrpSpPr>
        <p:grpSpPr>
          <a:xfrm rot="0">
            <a:off x="925544" y="5812711"/>
            <a:ext cx="5829872" cy="3821568"/>
            <a:chOff x="0" y="0"/>
            <a:chExt cx="7773162" cy="5095424"/>
          </a:xfrm>
        </p:grpSpPr>
        <p:sp>
          <p:nvSpPr>
            <p:cNvPr name="Freeform 28" id="28"/>
            <p:cNvSpPr/>
            <p:nvPr/>
          </p:nvSpPr>
          <p:spPr>
            <a:xfrm flipH="false" flipV="false" rot="0">
              <a:off x="0" y="0"/>
              <a:ext cx="7773162" cy="5095424"/>
            </a:xfrm>
            <a:custGeom>
              <a:avLst/>
              <a:gdLst/>
              <a:ahLst/>
              <a:cxnLst/>
              <a:rect r="r" b="b" t="t" l="l"/>
              <a:pathLst>
                <a:path h="5095424" w="7773162">
                  <a:moveTo>
                    <a:pt x="233657" y="0"/>
                  </a:moveTo>
                  <a:lnTo>
                    <a:pt x="7539505" y="0"/>
                  </a:lnTo>
                  <a:cubicBezTo>
                    <a:pt x="7668550" y="0"/>
                    <a:pt x="7773162" y="104612"/>
                    <a:pt x="7773162" y="233657"/>
                  </a:cubicBezTo>
                  <a:lnTo>
                    <a:pt x="7773162" y="4861767"/>
                  </a:lnTo>
                  <a:cubicBezTo>
                    <a:pt x="7773162" y="4990812"/>
                    <a:pt x="7668550" y="5095424"/>
                    <a:pt x="7539505" y="5095424"/>
                  </a:cubicBezTo>
                  <a:lnTo>
                    <a:pt x="233657" y="5095424"/>
                  </a:lnTo>
                  <a:cubicBezTo>
                    <a:pt x="104612" y="5095424"/>
                    <a:pt x="0" y="4990812"/>
                    <a:pt x="0" y="4861767"/>
                  </a:cubicBezTo>
                  <a:lnTo>
                    <a:pt x="0" y="233657"/>
                  </a:lnTo>
                  <a:cubicBezTo>
                    <a:pt x="0" y="104612"/>
                    <a:pt x="104612" y="0"/>
                    <a:pt x="233657" y="0"/>
                  </a:cubicBezTo>
                  <a:close/>
                </a:path>
              </a:pathLst>
            </a:custGeom>
            <a:blipFill>
              <a:blip r:embed="rId11">
                <a:alphaModFix amt="65000"/>
              </a:blip>
              <a:stretch>
                <a:fillRect l="0" t="-2309" r="0" b="-25070"/>
              </a:stretch>
            </a:blipFill>
          </p:spPr>
        </p:sp>
      </p:grpSp>
      <p:sp>
        <p:nvSpPr>
          <p:cNvPr name="Freeform 29" id="29"/>
          <p:cNvSpPr/>
          <p:nvPr/>
        </p:nvSpPr>
        <p:spPr>
          <a:xfrm flipH="false" flipV="false" rot="0">
            <a:off x="424346" y="147263"/>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2"/>
            <a:stretch>
              <a:fillRect l="0" t="-22113" r="0" b="-17967"/>
            </a:stretch>
          </a:blipFill>
        </p:spPr>
      </p:sp>
      <p:grpSp>
        <p:nvGrpSpPr>
          <p:cNvPr name="Group 30" id="30"/>
          <p:cNvGrpSpPr/>
          <p:nvPr/>
        </p:nvGrpSpPr>
        <p:grpSpPr>
          <a:xfrm rot="0">
            <a:off x="7441008" y="2215874"/>
            <a:ext cx="10449563" cy="2860043"/>
            <a:chOff x="0" y="0"/>
            <a:chExt cx="13932751" cy="3813391"/>
          </a:xfrm>
        </p:grpSpPr>
        <p:sp>
          <p:nvSpPr>
            <p:cNvPr name="Freeform 31" id="31"/>
            <p:cNvSpPr/>
            <p:nvPr/>
          </p:nvSpPr>
          <p:spPr>
            <a:xfrm flipH="false" flipV="false" rot="0">
              <a:off x="0" y="0"/>
              <a:ext cx="13932788" cy="3813429"/>
            </a:xfrm>
            <a:custGeom>
              <a:avLst/>
              <a:gdLst/>
              <a:ahLst/>
              <a:cxnLst/>
              <a:rect r="r" b="b" t="t" l="l"/>
              <a:pathLst>
                <a:path h="3813429" w="13932788">
                  <a:moveTo>
                    <a:pt x="0" y="295275"/>
                  </a:moveTo>
                  <a:cubicBezTo>
                    <a:pt x="0" y="132207"/>
                    <a:pt x="132207" y="0"/>
                    <a:pt x="295275" y="0"/>
                  </a:cubicBezTo>
                  <a:lnTo>
                    <a:pt x="13637513" y="0"/>
                  </a:lnTo>
                  <a:cubicBezTo>
                    <a:pt x="13800581" y="0"/>
                    <a:pt x="13932788" y="132207"/>
                    <a:pt x="13932788" y="295275"/>
                  </a:cubicBezTo>
                  <a:lnTo>
                    <a:pt x="13932788" y="3518154"/>
                  </a:lnTo>
                  <a:cubicBezTo>
                    <a:pt x="13932788" y="3681222"/>
                    <a:pt x="13800581" y="3813429"/>
                    <a:pt x="13637513" y="3813429"/>
                  </a:cubicBezTo>
                  <a:lnTo>
                    <a:pt x="295275" y="3813429"/>
                  </a:lnTo>
                  <a:cubicBezTo>
                    <a:pt x="132207" y="3813429"/>
                    <a:pt x="0" y="3681222"/>
                    <a:pt x="0" y="3518154"/>
                  </a:cubicBezTo>
                  <a:close/>
                </a:path>
              </a:pathLst>
            </a:custGeom>
            <a:solidFill>
              <a:srgbClr val="855F45"/>
            </a:solidFill>
            <a:ln w="25400" cap="sq">
              <a:solidFill>
                <a:srgbClr val="855F45"/>
              </a:solidFill>
              <a:prstDash val="solid"/>
              <a:miter/>
            </a:ln>
          </p:spPr>
        </p:sp>
      </p:grpSp>
      <p:grpSp>
        <p:nvGrpSpPr>
          <p:cNvPr name="Group 32" id="32"/>
          <p:cNvGrpSpPr/>
          <p:nvPr/>
        </p:nvGrpSpPr>
        <p:grpSpPr>
          <a:xfrm rot="0">
            <a:off x="17036617" y="2411450"/>
            <a:ext cx="475488" cy="475488"/>
            <a:chOff x="0" y="0"/>
            <a:chExt cx="633984" cy="633984"/>
          </a:xfrm>
        </p:grpSpPr>
        <p:sp>
          <p:nvSpPr>
            <p:cNvPr name="Freeform 33" id="33"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3"/>
              <a:stretch>
                <a:fillRect l="0" t="0" r="0" b="0"/>
              </a:stretch>
            </a:blipFill>
          </p:spPr>
        </p:sp>
      </p:grpSp>
      <p:grpSp>
        <p:nvGrpSpPr>
          <p:cNvPr name="Group 34" id="34"/>
          <p:cNvGrpSpPr/>
          <p:nvPr/>
        </p:nvGrpSpPr>
        <p:grpSpPr>
          <a:xfrm rot="0">
            <a:off x="7819465" y="2411450"/>
            <a:ext cx="9052560" cy="548640"/>
            <a:chOff x="0" y="0"/>
            <a:chExt cx="12070080" cy="731520"/>
          </a:xfrm>
        </p:grpSpPr>
        <p:sp>
          <p:nvSpPr>
            <p:cNvPr name="Freeform 35" id="35"/>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4">
                <a:alphaModFix amt="0"/>
              </a:blip>
              <a:stretch>
                <a:fillRect l="0" t="-271503" r="0" b="-271503"/>
              </a:stretch>
            </a:blipFill>
          </p:spPr>
        </p:sp>
        <p:sp>
          <p:nvSpPr>
            <p:cNvPr name="TextBox 36" id="36"/>
            <p:cNvSpPr txBox="true"/>
            <p:nvPr/>
          </p:nvSpPr>
          <p:spPr>
            <a:xfrm>
              <a:off x="0" y="-19050"/>
              <a:ext cx="12070080" cy="750570"/>
            </a:xfrm>
            <a:prstGeom prst="rect">
              <a:avLst/>
            </a:prstGeom>
          </p:spPr>
          <p:txBody>
            <a:bodyPr anchor="ctr" rtlCol="false" tIns="0" lIns="0" bIns="0" rIns="0"/>
            <a:lstStyle/>
            <a:p>
              <a:pPr algn="r" rtl="true">
                <a:lnSpc>
                  <a:spcPts val="3359"/>
                </a:lnSpc>
              </a:pPr>
              <a:r>
                <a:rPr lang="ar-EG" sz="2799">
                  <a:solidFill>
                    <a:srgbClr val="FFFFFF"/>
                  </a:solidFill>
                  <a:latin typeface="Arial"/>
                  <a:ea typeface="Arial"/>
                  <a:cs typeface="Arial"/>
                  <a:sym typeface="Arial"/>
                  <a:rtl val="true"/>
                </a:rPr>
                <a:t>السلوغن</a:t>
              </a:r>
            </a:p>
          </p:txBody>
        </p:sp>
      </p:grpSp>
      <p:grpSp>
        <p:nvGrpSpPr>
          <p:cNvPr name="Group 37" id="37"/>
          <p:cNvGrpSpPr/>
          <p:nvPr/>
        </p:nvGrpSpPr>
        <p:grpSpPr>
          <a:xfrm rot="0">
            <a:off x="7819465" y="3051530"/>
            <a:ext cx="9692640" cy="1828800"/>
            <a:chOff x="0" y="0"/>
            <a:chExt cx="12923520" cy="2438400"/>
          </a:xfrm>
        </p:grpSpPr>
        <p:sp>
          <p:nvSpPr>
            <p:cNvPr name="Freeform 38" id="38"/>
            <p:cNvSpPr/>
            <p:nvPr/>
          </p:nvSpPr>
          <p:spPr>
            <a:xfrm flipH="false" flipV="false" rot="0">
              <a:off x="0" y="0"/>
              <a:ext cx="12923520" cy="2438400"/>
            </a:xfrm>
            <a:custGeom>
              <a:avLst/>
              <a:gdLst/>
              <a:ahLst/>
              <a:cxnLst/>
              <a:rect r="r" b="b" t="t" l="l"/>
              <a:pathLst>
                <a:path h="2438400" w="12923520">
                  <a:moveTo>
                    <a:pt x="0" y="0"/>
                  </a:moveTo>
                  <a:lnTo>
                    <a:pt x="12923520" y="0"/>
                  </a:lnTo>
                  <a:lnTo>
                    <a:pt x="12923520" y="2438400"/>
                  </a:lnTo>
                  <a:lnTo>
                    <a:pt x="0" y="2438400"/>
                  </a:lnTo>
                  <a:close/>
                </a:path>
              </a:pathLst>
            </a:custGeom>
            <a:blipFill>
              <a:blip r:embed="rId4">
                <a:alphaModFix amt="0"/>
              </a:blip>
              <a:stretch>
                <a:fillRect l="0" t="-53270" r="0" b="-53270"/>
              </a:stretch>
            </a:blipFill>
          </p:spPr>
        </p:sp>
        <p:sp>
          <p:nvSpPr>
            <p:cNvPr name="TextBox 39" id="39"/>
            <p:cNvSpPr txBox="true"/>
            <p:nvPr/>
          </p:nvSpPr>
          <p:spPr>
            <a:xfrm>
              <a:off x="0" y="-9525"/>
              <a:ext cx="12923520" cy="2447925"/>
            </a:xfrm>
            <a:prstGeom prst="rect">
              <a:avLst/>
            </a:prstGeom>
          </p:spPr>
          <p:txBody>
            <a:bodyPr anchor="ctr" rtlCol="false" tIns="0" lIns="0" bIns="0" rIns="0"/>
            <a:lstStyle/>
            <a:p>
              <a:pPr algn="r" rtl="true">
                <a:lnSpc>
                  <a:spcPts val="4799"/>
                </a:lnSpc>
              </a:pPr>
              <a:r>
                <a:rPr lang="ar-EG" b="true" sz="3999">
                  <a:solidFill>
                    <a:srgbClr val="FFFFFF"/>
                  </a:solidFill>
                  <a:latin typeface="Arial Bold"/>
                  <a:ea typeface="Arial Bold"/>
                  <a:cs typeface="Arial Bold"/>
                  <a:sym typeface="Arial Bold"/>
                  <a:rtl val="true"/>
                </a:rPr>
                <a:t>«من ملح الأرض.. تبدأ الحكاية».</a:t>
              </a:r>
            </a:p>
            <a:p>
              <a:pPr algn="r" rtl="true">
                <a:lnSpc>
                  <a:spcPts val="4799"/>
                </a:lnSpc>
              </a:pPr>
              <a:r>
                <a:rPr lang="ar-EG" b="true" sz="3999">
                  <a:solidFill>
                    <a:srgbClr val="FFFFFF"/>
                  </a:solidFill>
                  <a:latin typeface="Arial Bold"/>
                  <a:ea typeface="Arial Bold"/>
                  <a:cs typeface="Arial Bold"/>
                  <a:sym typeface="Arial Bold"/>
                  <a:rtl val="true"/>
                </a:rPr>
                <a:t>«من أرض القصيم.. حكاية ملح».</a:t>
              </a:r>
            </a:p>
          </p:txBody>
        </p:sp>
      </p:grpSp>
      <p:grpSp>
        <p:nvGrpSpPr>
          <p:cNvPr name="Group 40" id="40"/>
          <p:cNvGrpSpPr/>
          <p:nvPr/>
        </p:nvGrpSpPr>
        <p:grpSpPr>
          <a:xfrm rot="0">
            <a:off x="7441008" y="5416274"/>
            <a:ext cx="10449563" cy="3774443"/>
            <a:chOff x="0" y="0"/>
            <a:chExt cx="13932751" cy="5032591"/>
          </a:xfrm>
        </p:grpSpPr>
        <p:sp>
          <p:nvSpPr>
            <p:cNvPr name="Freeform 41" id="41"/>
            <p:cNvSpPr/>
            <p:nvPr/>
          </p:nvSpPr>
          <p:spPr>
            <a:xfrm flipH="false" flipV="false" rot="0">
              <a:off x="0" y="0"/>
              <a:ext cx="13932788" cy="5032629"/>
            </a:xfrm>
            <a:custGeom>
              <a:avLst/>
              <a:gdLst/>
              <a:ahLst/>
              <a:cxnLst/>
              <a:rect r="r" b="b" t="t" l="l"/>
              <a:pathLst>
                <a:path h="5032629" w="13932788">
                  <a:moveTo>
                    <a:pt x="0" y="294640"/>
                  </a:moveTo>
                  <a:cubicBezTo>
                    <a:pt x="0" y="131953"/>
                    <a:pt x="131953" y="0"/>
                    <a:pt x="294640" y="0"/>
                  </a:cubicBezTo>
                  <a:lnTo>
                    <a:pt x="13638149" y="0"/>
                  </a:lnTo>
                  <a:cubicBezTo>
                    <a:pt x="13800837" y="0"/>
                    <a:pt x="13932788" y="131953"/>
                    <a:pt x="13932788" y="294640"/>
                  </a:cubicBezTo>
                  <a:lnTo>
                    <a:pt x="13932788" y="4737989"/>
                  </a:lnTo>
                  <a:cubicBezTo>
                    <a:pt x="13932788" y="4900676"/>
                    <a:pt x="13800837" y="5032629"/>
                    <a:pt x="13638149" y="5032629"/>
                  </a:cubicBezTo>
                  <a:lnTo>
                    <a:pt x="294640" y="5032629"/>
                  </a:lnTo>
                  <a:cubicBezTo>
                    <a:pt x="131953" y="5032629"/>
                    <a:pt x="0" y="4900676"/>
                    <a:pt x="0" y="4737989"/>
                  </a:cubicBezTo>
                  <a:close/>
                </a:path>
              </a:pathLst>
            </a:custGeom>
            <a:solidFill>
              <a:srgbClr val="EADBC4"/>
            </a:solidFill>
            <a:ln w="25400" cap="sq">
              <a:solidFill>
                <a:srgbClr val="EADBC4"/>
              </a:solidFill>
              <a:prstDash val="solid"/>
              <a:miter/>
            </a:ln>
          </p:spPr>
        </p:sp>
      </p:grpSp>
      <p:grpSp>
        <p:nvGrpSpPr>
          <p:cNvPr name="Group 42" id="42"/>
          <p:cNvGrpSpPr/>
          <p:nvPr/>
        </p:nvGrpSpPr>
        <p:grpSpPr>
          <a:xfrm rot="0">
            <a:off x="17036617" y="5611850"/>
            <a:ext cx="475488" cy="475488"/>
            <a:chOff x="0" y="0"/>
            <a:chExt cx="633984" cy="633984"/>
          </a:xfrm>
        </p:grpSpPr>
        <p:sp>
          <p:nvSpPr>
            <p:cNvPr name="Freeform 43" id="43"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4"/>
              <a:stretch>
                <a:fillRect l="0" t="0" r="0" b="0"/>
              </a:stretch>
            </a:blipFill>
          </p:spPr>
        </p:sp>
      </p:grpSp>
      <p:grpSp>
        <p:nvGrpSpPr>
          <p:cNvPr name="Group 44" id="44"/>
          <p:cNvGrpSpPr/>
          <p:nvPr/>
        </p:nvGrpSpPr>
        <p:grpSpPr>
          <a:xfrm rot="0">
            <a:off x="7819465" y="5611850"/>
            <a:ext cx="9052560" cy="548640"/>
            <a:chOff x="0" y="0"/>
            <a:chExt cx="12070080" cy="731520"/>
          </a:xfrm>
        </p:grpSpPr>
        <p:sp>
          <p:nvSpPr>
            <p:cNvPr name="Freeform 45" id="45"/>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4">
                <a:alphaModFix amt="0"/>
              </a:blip>
              <a:stretch>
                <a:fillRect l="0" t="-271503" r="0" b="-271503"/>
              </a:stretch>
            </a:blipFill>
          </p:spPr>
        </p:sp>
        <p:sp>
          <p:nvSpPr>
            <p:cNvPr name="TextBox 46" id="46"/>
            <p:cNvSpPr txBox="true"/>
            <p:nvPr/>
          </p:nvSpPr>
          <p:spPr>
            <a:xfrm>
              <a:off x="0" y="-19050"/>
              <a:ext cx="12070080" cy="750570"/>
            </a:xfrm>
            <a:prstGeom prst="rect">
              <a:avLst/>
            </a:prstGeom>
          </p:spPr>
          <p:txBody>
            <a:bodyPr anchor="ctr" rtlCol="false" tIns="0" lIns="0" bIns="0" rIns="0"/>
            <a:lstStyle/>
            <a:p>
              <a:pPr algn="r" rtl="true">
                <a:lnSpc>
                  <a:spcPts val="3359"/>
                </a:lnSpc>
              </a:pPr>
              <a:r>
                <a:rPr lang="ar-EG" b="true" sz="2799">
                  <a:solidFill>
                    <a:srgbClr val="855F45"/>
                  </a:solidFill>
                  <a:latin typeface="Arial Bold"/>
                  <a:ea typeface="Arial Bold"/>
                  <a:cs typeface="Arial Bold"/>
                  <a:sym typeface="Arial Bold"/>
                  <a:rtl val="true"/>
                </a:rPr>
                <a:t>ملاحظة</a:t>
              </a:r>
            </a:p>
          </p:txBody>
        </p:sp>
      </p:grpSp>
      <p:sp>
        <p:nvSpPr>
          <p:cNvPr name="TextBox 47" id="47"/>
          <p:cNvSpPr txBox="true"/>
          <p:nvPr/>
        </p:nvSpPr>
        <p:spPr>
          <a:xfrm rot="0">
            <a:off x="7819465" y="6196304"/>
            <a:ext cx="9692640" cy="2762250"/>
          </a:xfrm>
          <a:prstGeom prst="rect">
            <a:avLst/>
          </a:prstGeom>
        </p:spPr>
        <p:txBody>
          <a:bodyPr anchor="t" rtlCol="false" tIns="0" lIns="0" bIns="0" rIns="0">
            <a:spAutoFit/>
          </a:bodyPr>
          <a:lstStyle/>
          <a:p>
            <a:pPr algn="r" rtl="true">
              <a:lnSpc>
                <a:spcPts val="3359"/>
              </a:lnSpc>
            </a:pPr>
            <a:r>
              <a:rPr lang="ar-EG" sz="2799">
                <a:solidFill>
                  <a:srgbClr val="3E2A1E"/>
                </a:solidFill>
                <a:latin typeface="Arial"/>
                <a:ea typeface="Arial"/>
                <a:cs typeface="Arial"/>
                <a:sym typeface="Arial"/>
                <a:rtl val="true"/>
              </a:rPr>
              <a:t>الأولوية هي تحسين الموقع القائم واستكمال خدماته ومعالجة ملاحظات السلامة والمظهر العام، دون التوسع في إنشاء مرافق أو إضافة أنشطة لا تتناسب مع طبيعة المملحة.</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97706" y="-11906"/>
            <a:ext cx="7567612" cy="10310812"/>
            <a:chOff x="0" y="0"/>
            <a:chExt cx="10090150" cy="13747750"/>
          </a:xfrm>
        </p:grpSpPr>
        <p:sp>
          <p:nvSpPr>
            <p:cNvPr name="Freeform 4" id="4"/>
            <p:cNvSpPr/>
            <p:nvPr/>
          </p:nvSpPr>
          <p:spPr>
            <a:xfrm flipH="false" flipV="false" rot="0">
              <a:off x="0" y="0"/>
              <a:ext cx="10090150" cy="13747877"/>
            </a:xfrm>
            <a:custGeom>
              <a:avLst/>
              <a:gdLst/>
              <a:ahLst/>
              <a:cxnLst/>
              <a:rect r="r" b="b" t="t" l="l"/>
              <a:pathLst>
                <a:path h="13747877" w="10090150">
                  <a:moveTo>
                    <a:pt x="0" y="825627"/>
                  </a:moveTo>
                  <a:cubicBezTo>
                    <a:pt x="0" y="369570"/>
                    <a:pt x="369570" y="0"/>
                    <a:pt x="825627" y="0"/>
                  </a:cubicBezTo>
                  <a:lnTo>
                    <a:pt x="9264523" y="0"/>
                  </a:lnTo>
                  <a:cubicBezTo>
                    <a:pt x="9720453" y="0"/>
                    <a:pt x="10090150" y="369570"/>
                    <a:pt x="10090150" y="825627"/>
                  </a:cubicBezTo>
                  <a:lnTo>
                    <a:pt x="10090150" y="12922250"/>
                  </a:lnTo>
                  <a:cubicBezTo>
                    <a:pt x="10090150" y="13378180"/>
                    <a:pt x="9720580" y="13747877"/>
                    <a:pt x="9264523" y="13747877"/>
                  </a:cubicBezTo>
                  <a:lnTo>
                    <a:pt x="825627" y="13747877"/>
                  </a:lnTo>
                  <a:cubicBezTo>
                    <a:pt x="369570" y="13747750"/>
                    <a:pt x="0" y="13378180"/>
                    <a:pt x="0" y="12922123"/>
                  </a:cubicBezTo>
                  <a:close/>
                </a:path>
              </a:pathLst>
            </a:custGeom>
            <a:solidFill>
              <a:srgbClr val="3E2D21"/>
            </a:solidFill>
            <a:ln w="23812" cap="sq">
              <a:solidFill>
                <a:srgbClr val="D9A66B"/>
              </a:solidFill>
              <a:prstDash val="dash"/>
              <a:miter/>
            </a:ln>
          </p:spPr>
        </p:sp>
      </p:grpSp>
      <p:grpSp>
        <p:nvGrpSpPr>
          <p:cNvPr name="Group 5" id="5"/>
          <p:cNvGrpSpPr/>
          <p:nvPr/>
        </p:nvGrpSpPr>
        <p:grpSpPr>
          <a:xfrm rot="0">
            <a:off x="-446056" y="239744"/>
            <a:ext cx="7064312" cy="9807512"/>
            <a:chOff x="0" y="0"/>
            <a:chExt cx="9419082" cy="13076682"/>
          </a:xfrm>
        </p:grpSpPr>
        <p:sp>
          <p:nvSpPr>
            <p:cNvPr name="Freeform 6" id="6"/>
            <p:cNvSpPr/>
            <p:nvPr/>
          </p:nvSpPr>
          <p:spPr>
            <a:xfrm flipH="false" flipV="false" rot="0">
              <a:off x="0" y="0"/>
              <a:ext cx="9419082" cy="13076682"/>
            </a:xfrm>
            <a:custGeom>
              <a:avLst/>
              <a:gdLst/>
              <a:ahLst/>
              <a:cxnLst/>
              <a:rect r="r" b="b" t="t" l="l"/>
              <a:pathLst>
                <a:path h="13076682" w="9419082">
                  <a:moveTo>
                    <a:pt x="0" y="604647"/>
                  </a:moveTo>
                  <a:cubicBezTo>
                    <a:pt x="0" y="270764"/>
                    <a:pt x="270764" y="0"/>
                    <a:pt x="604647" y="0"/>
                  </a:cubicBezTo>
                  <a:lnTo>
                    <a:pt x="8814435" y="0"/>
                  </a:lnTo>
                  <a:cubicBezTo>
                    <a:pt x="9148445" y="0"/>
                    <a:pt x="9419082" y="270764"/>
                    <a:pt x="9419082" y="604647"/>
                  </a:cubicBezTo>
                  <a:lnTo>
                    <a:pt x="9419082" y="12472035"/>
                  </a:lnTo>
                  <a:cubicBezTo>
                    <a:pt x="9419082" y="12806045"/>
                    <a:pt x="9148318" y="13076682"/>
                    <a:pt x="8814435" y="13076682"/>
                  </a:cubicBezTo>
                  <a:lnTo>
                    <a:pt x="604647" y="13076682"/>
                  </a:lnTo>
                  <a:cubicBezTo>
                    <a:pt x="270637" y="13076682"/>
                    <a:pt x="0" y="12805918"/>
                    <a:pt x="0" y="12472035"/>
                  </a:cubicBezTo>
                  <a:close/>
                </a:path>
              </a:pathLst>
            </a:custGeom>
            <a:blipFill>
              <a:blip r:embed="rId3">
                <a:alphaModFix amt="0"/>
              </a:blip>
              <a:stretch>
                <a:fillRect l="-128126" t="0" r="-128126" b="0"/>
              </a:stretch>
            </a:blipFill>
            <a:ln w="14288" cap="sq">
              <a:solidFill>
                <a:srgbClr val="D9A66B"/>
              </a:solidFill>
              <a:prstDash val="solid"/>
              <a:miter/>
            </a:ln>
          </p:spPr>
        </p:sp>
      </p:grpSp>
      <p:grpSp>
        <p:nvGrpSpPr>
          <p:cNvPr name="Group 7" id="7"/>
          <p:cNvGrpSpPr/>
          <p:nvPr/>
        </p:nvGrpSpPr>
        <p:grpSpPr>
          <a:xfrm rot="0">
            <a:off x="0" y="239744"/>
            <a:ext cx="6618256" cy="9807511"/>
            <a:chOff x="0" y="0"/>
            <a:chExt cx="4601650" cy="6819129"/>
          </a:xfrm>
        </p:grpSpPr>
        <p:sp>
          <p:nvSpPr>
            <p:cNvPr name="Freeform 8" id="8"/>
            <p:cNvSpPr/>
            <p:nvPr/>
          </p:nvSpPr>
          <p:spPr>
            <a:xfrm flipH="false" flipV="false" rot="0">
              <a:off x="0" y="0"/>
              <a:ext cx="4601650" cy="6819129"/>
            </a:xfrm>
            <a:custGeom>
              <a:avLst/>
              <a:gdLst/>
              <a:ahLst/>
              <a:cxnLst/>
              <a:rect r="r" b="b" t="t" l="l"/>
              <a:pathLst>
                <a:path h="6819129" w="4601650">
                  <a:moveTo>
                    <a:pt x="196874" y="0"/>
                  </a:moveTo>
                  <a:lnTo>
                    <a:pt x="4404776" y="0"/>
                  </a:lnTo>
                  <a:cubicBezTo>
                    <a:pt x="4456990" y="0"/>
                    <a:pt x="4507066" y="20742"/>
                    <a:pt x="4543987" y="57663"/>
                  </a:cubicBezTo>
                  <a:cubicBezTo>
                    <a:pt x="4580908" y="94584"/>
                    <a:pt x="4601650" y="144660"/>
                    <a:pt x="4601650" y="196874"/>
                  </a:cubicBezTo>
                  <a:lnTo>
                    <a:pt x="4601650" y="6622255"/>
                  </a:lnTo>
                  <a:cubicBezTo>
                    <a:pt x="4601650" y="6674469"/>
                    <a:pt x="4580908" y="6724545"/>
                    <a:pt x="4543987" y="6761466"/>
                  </a:cubicBezTo>
                  <a:cubicBezTo>
                    <a:pt x="4507066" y="6798387"/>
                    <a:pt x="4456990" y="6819129"/>
                    <a:pt x="4404776" y="6819129"/>
                  </a:cubicBezTo>
                  <a:lnTo>
                    <a:pt x="196874" y="6819129"/>
                  </a:lnTo>
                  <a:cubicBezTo>
                    <a:pt x="144660" y="6819129"/>
                    <a:pt x="94584" y="6798387"/>
                    <a:pt x="57663" y="6761466"/>
                  </a:cubicBezTo>
                  <a:cubicBezTo>
                    <a:pt x="20742" y="6724545"/>
                    <a:pt x="0" y="6674469"/>
                    <a:pt x="0" y="6622255"/>
                  </a:cubicBezTo>
                  <a:lnTo>
                    <a:pt x="0" y="196874"/>
                  </a:lnTo>
                  <a:cubicBezTo>
                    <a:pt x="0" y="144660"/>
                    <a:pt x="20742" y="94584"/>
                    <a:pt x="57663" y="57663"/>
                  </a:cubicBezTo>
                  <a:cubicBezTo>
                    <a:pt x="94584" y="20742"/>
                    <a:pt x="144660" y="0"/>
                    <a:pt x="196874" y="0"/>
                  </a:cubicBezTo>
                  <a:close/>
                </a:path>
              </a:pathLst>
            </a:custGeom>
            <a:blipFill>
              <a:blip r:embed="rId4">
                <a:alphaModFix amt="65000"/>
              </a:blip>
              <a:stretch>
                <a:fillRect l="-22053" t="0" r="-100786" b="0"/>
              </a:stretch>
            </a:blipFill>
          </p:spPr>
        </p:sp>
      </p:grpSp>
      <p:grpSp>
        <p:nvGrpSpPr>
          <p:cNvPr name="Group 9" id="9"/>
          <p:cNvGrpSpPr/>
          <p:nvPr/>
        </p:nvGrpSpPr>
        <p:grpSpPr>
          <a:xfrm rot="0">
            <a:off x="12961049" y="1252538"/>
            <a:ext cx="4595432" cy="562928"/>
            <a:chOff x="0" y="0"/>
            <a:chExt cx="6127242" cy="750570"/>
          </a:xfrm>
        </p:grpSpPr>
        <p:sp>
          <p:nvSpPr>
            <p:cNvPr name="Freeform 10" id="10"/>
            <p:cNvSpPr/>
            <p:nvPr/>
          </p:nvSpPr>
          <p:spPr>
            <a:xfrm flipH="false" flipV="false" rot="0">
              <a:off x="0" y="0"/>
              <a:ext cx="6127242" cy="750570"/>
            </a:xfrm>
            <a:custGeom>
              <a:avLst/>
              <a:gdLst/>
              <a:ahLst/>
              <a:cxnLst/>
              <a:rect r="r" b="b" t="t" l="l"/>
              <a:pathLst>
                <a:path h="750570" w="6127242">
                  <a:moveTo>
                    <a:pt x="0" y="375285"/>
                  </a:moveTo>
                  <a:cubicBezTo>
                    <a:pt x="0" y="168021"/>
                    <a:pt x="168021" y="0"/>
                    <a:pt x="375285" y="0"/>
                  </a:cubicBezTo>
                  <a:lnTo>
                    <a:pt x="5751957" y="0"/>
                  </a:lnTo>
                  <a:cubicBezTo>
                    <a:pt x="5959221" y="0"/>
                    <a:pt x="6127242" y="168021"/>
                    <a:pt x="6127242" y="375285"/>
                  </a:cubicBezTo>
                  <a:cubicBezTo>
                    <a:pt x="6127242" y="582549"/>
                    <a:pt x="5959221" y="750570"/>
                    <a:pt x="5751957" y="750570"/>
                  </a:cubicBezTo>
                  <a:lnTo>
                    <a:pt x="375285" y="750570"/>
                  </a:lnTo>
                  <a:cubicBezTo>
                    <a:pt x="168021" y="750570"/>
                    <a:pt x="0" y="582549"/>
                    <a:pt x="0" y="375285"/>
                  </a:cubicBezTo>
                  <a:close/>
                </a:path>
              </a:pathLst>
            </a:custGeom>
            <a:solidFill>
              <a:srgbClr val="D9A66B">
                <a:alpha val="5882"/>
              </a:srgbClr>
            </a:solidFill>
            <a:ln w="14288" cap="sq">
              <a:solidFill>
                <a:srgbClr val="D9A66B"/>
              </a:solidFill>
              <a:prstDash val="solid"/>
              <a:miter/>
            </a:ln>
          </p:spPr>
        </p:sp>
      </p:grpSp>
      <p:grpSp>
        <p:nvGrpSpPr>
          <p:cNvPr name="Group 11" id="11"/>
          <p:cNvGrpSpPr/>
          <p:nvPr/>
        </p:nvGrpSpPr>
        <p:grpSpPr>
          <a:xfrm rot="0">
            <a:off x="17028128" y="1383125"/>
            <a:ext cx="301752" cy="301752"/>
            <a:chOff x="0" y="0"/>
            <a:chExt cx="402336" cy="402336"/>
          </a:xfrm>
        </p:grpSpPr>
        <p:sp>
          <p:nvSpPr>
            <p:cNvPr name="Freeform 12" id="12"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13" id="13"/>
          <p:cNvGrpSpPr/>
          <p:nvPr/>
        </p:nvGrpSpPr>
        <p:grpSpPr>
          <a:xfrm rot="0">
            <a:off x="13132784" y="1259681"/>
            <a:ext cx="3758184" cy="548640"/>
            <a:chOff x="0" y="0"/>
            <a:chExt cx="5010912" cy="731520"/>
          </a:xfrm>
        </p:grpSpPr>
        <p:sp>
          <p:nvSpPr>
            <p:cNvPr name="Freeform 14" id="14"/>
            <p:cNvSpPr/>
            <p:nvPr/>
          </p:nvSpPr>
          <p:spPr>
            <a:xfrm flipH="false" flipV="false" rot="0">
              <a:off x="0" y="0"/>
              <a:ext cx="5010912" cy="731520"/>
            </a:xfrm>
            <a:custGeom>
              <a:avLst/>
              <a:gdLst/>
              <a:ahLst/>
              <a:cxnLst/>
              <a:rect r="r" b="b" t="t" l="l"/>
              <a:pathLst>
                <a:path h="731520" w="5010912">
                  <a:moveTo>
                    <a:pt x="0" y="0"/>
                  </a:moveTo>
                  <a:lnTo>
                    <a:pt x="5010912" y="0"/>
                  </a:lnTo>
                  <a:lnTo>
                    <a:pt x="5010912" y="731520"/>
                  </a:lnTo>
                  <a:lnTo>
                    <a:pt x="0" y="731520"/>
                  </a:lnTo>
                  <a:close/>
                </a:path>
              </a:pathLst>
            </a:custGeom>
            <a:blipFill>
              <a:blip r:embed="rId3">
                <a:alphaModFix amt="0"/>
              </a:blip>
              <a:stretch>
                <a:fillRect l="0" t="-83472" r="0" b="-83472"/>
              </a:stretch>
            </a:blipFill>
          </p:spPr>
        </p:sp>
        <p:sp>
          <p:nvSpPr>
            <p:cNvPr name="TextBox 15" id="15"/>
            <p:cNvSpPr txBox="true"/>
            <p:nvPr/>
          </p:nvSpPr>
          <p:spPr>
            <a:xfrm>
              <a:off x="0" y="-9525"/>
              <a:ext cx="5010912" cy="741045"/>
            </a:xfrm>
            <a:prstGeom prst="rect">
              <a:avLst/>
            </a:prstGeom>
          </p:spPr>
          <p:txBody>
            <a:bodyPr anchor="ctr" rtlCol="false" tIns="0" lIns="0" bIns="0" rIns="0"/>
            <a:lstStyle/>
            <a:p>
              <a:pPr algn="r" rtl="true">
                <a:lnSpc>
                  <a:spcPts val="2340"/>
                </a:lnSpc>
              </a:pPr>
              <a:r>
                <a:rPr lang="ar-EG" b="true" sz="1950" spc="20">
                  <a:solidFill>
                    <a:srgbClr val="D9A66B"/>
                  </a:solidFill>
                  <a:latin typeface="XM Traffic Bold"/>
                  <a:ea typeface="XM Traffic Bold"/>
                  <a:cs typeface="XM Traffic Bold"/>
                  <a:sym typeface="XM Traffic Bold"/>
                  <a:rtl val="true"/>
                </a:rPr>
                <a:t>ملهم — مساحة لكِ</a:t>
              </a:r>
            </a:p>
          </p:txBody>
        </p:sp>
      </p:grpSp>
      <p:grpSp>
        <p:nvGrpSpPr>
          <p:cNvPr name="Group 16" id="16"/>
          <p:cNvGrpSpPr/>
          <p:nvPr/>
        </p:nvGrpSpPr>
        <p:grpSpPr>
          <a:xfrm rot="0">
            <a:off x="16863822" y="7920990"/>
            <a:ext cx="288036" cy="288036"/>
            <a:chOff x="0" y="0"/>
            <a:chExt cx="384048" cy="384048"/>
          </a:xfrm>
        </p:grpSpPr>
        <p:sp>
          <p:nvSpPr>
            <p:cNvPr name="Freeform 17" id="17"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6"/>
              <a:stretch>
                <a:fillRect l="0" t="0" r="0" b="0"/>
              </a:stretch>
            </a:blipFill>
          </p:spPr>
        </p:sp>
      </p:grpSp>
      <p:grpSp>
        <p:nvGrpSpPr>
          <p:cNvPr name="Group 18" id="18"/>
          <p:cNvGrpSpPr/>
          <p:nvPr/>
        </p:nvGrpSpPr>
        <p:grpSpPr>
          <a:xfrm rot="0">
            <a:off x="11836908" y="7920990"/>
            <a:ext cx="288036" cy="288036"/>
            <a:chOff x="0" y="0"/>
            <a:chExt cx="384048" cy="384048"/>
          </a:xfrm>
        </p:grpSpPr>
        <p:sp>
          <p:nvSpPr>
            <p:cNvPr name="Freeform 19" id="19" descr="preencoded.png"/>
            <p:cNvSpPr/>
            <p:nvPr/>
          </p:nvSpPr>
          <p:spPr>
            <a:xfrm flipH="false" flipV="false" rot="0">
              <a:off x="0" y="0"/>
              <a:ext cx="384048" cy="384048"/>
            </a:xfrm>
            <a:custGeom>
              <a:avLst/>
              <a:gdLst/>
              <a:ahLst/>
              <a:cxnLst/>
              <a:rect r="r" b="b" t="t" l="l"/>
              <a:pathLst>
                <a:path h="384048" w="384048">
                  <a:moveTo>
                    <a:pt x="0" y="0"/>
                  </a:moveTo>
                  <a:lnTo>
                    <a:pt x="384048" y="0"/>
                  </a:lnTo>
                  <a:lnTo>
                    <a:pt x="384048" y="384048"/>
                  </a:lnTo>
                  <a:lnTo>
                    <a:pt x="0" y="384048"/>
                  </a:lnTo>
                  <a:lnTo>
                    <a:pt x="0" y="0"/>
                  </a:lnTo>
                  <a:close/>
                </a:path>
              </a:pathLst>
            </a:custGeom>
            <a:blipFill>
              <a:blip r:embed="rId7"/>
              <a:stretch>
                <a:fillRect l="0" t="0" r="0" b="0"/>
              </a:stretch>
            </a:blipFill>
          </p:spPr>
        </p:sp>
      </p:grpSp>
      <p:grpSp>
        <p:nvGrpSpPr>
          <p:cNvPr name="Group 20" id="20"/>
          <p:cNvGrpSpPr/>
          <p:nvPr/>
        </p:nvGrpSpPr>
        <p:grpSpPr>
          <a:xfrm rot="0">
            <a:off x="7680960" y="9669780"/>
            <a:ext cx="9779508" cy="342900"/>
            <a:chOff x="0" y="0"/>
            <a:chExt cx="13039344" cy="457200"/>
          </a:xfrm>
        </p:grpSpPr>
        <p:sp>
          <p:nvSpPr>
            <p:cNvPr name="Freeform 21" id="21"/>
            <p:cNvSpPr/>
            <p:nvPr/>
          </p:nvSpPr>
          <p:spPr>
            <a:xfrm flipH="false" flipV="false" rot="0">
              <a:off x="0" y="0"/>
              <a:ext cx="13039344" cy="457200"/>
            </a:xfrm>
            <a:custGeom>
              <a:avLst/>
              <a:gdLst/>
              <a:ahLst/>
              <a:cxnLst/>
              <a:rect r="r" b="b" t="t" l="l"/>
              <a:pathLst>
                <a:path h="457200" w="13039344">
                  <a:moveTo>
                    <a:pt x="0" y="0"/>
                  </a:moveTo>
                  <a:lnTo>
                    <a:pt x="13039344" y="0"/>
                  </a:lnTo>
                  <a:lnTo>
                    <a:pt x="13039344" y="457200"/>
                  </a:lnTo>
                  <a:lnTo>
                    <a:pt x="0" y="457200"/>
                  </a:lnTo>
                  <a:close/>
                </a:path>
              </a:pathLst>
            </a:custGeom>
            <a:blipFill>
              <a:blip r:embed="rId3">
                <a:alphaModFix amt="0"/>
              </a:blip>
              <a:stretch>
                <a:fillRect l="0" t="-505713" r="0" b="-505713"/>
              </a:stretch>
            </a:blipFill>
          </p:spPr>
        </p:sp>
        <p:sp>
          <p:nvSpPr>
            <p:cNvPr name="TextBox 22" id="22"/>
            <p:cNvSpPr txBox="true"/>
            <p:nvPr/>
          </p:nvSpPr>
          <p:spPr>
            <a:xfrm>
              <a:off x="0" y="0"/>
              <a:ext cx="13039344" cy="457200"/>
            </a:xfrm>
            <a:prstGeom prst="rect">
              <a:avLst/>
            </a:prstGeom>
          </p:spPr>
          <p:txBody>
            <a:bodyPr anchor="ctr" rtlCol="false" tIns="0" lIns="0" bIns="0" rIns="0"/>
            <a:lstStyle/>
            <a:p>
              <a:pPr algn="r" rtl="true">
                <a:lnSpc>
                  <a:spcPts val="1800"/>
                </a:lnSpc>
              </a:pPr>
              <a:r>
                <a:rPr lang="ar-EG" sz="1500" spc="15">
                  <a:solidFill>
                    <a:srgbClr val="CDB79A"/>
                  </a:solidFill>
                  <a:latin typeface="XM Traffic"/>
                  <a:ea typeface="XM Traffic"/>
                  <a:cs typeface="XM Traffic"/>
                  <a:sym typeface="XM Traffic"/>
                  <a:rtl val="true"/>
                </a:rPr>
                <a:t>تصوّر تطويري مقترح</a:t>
              </a:r>
            </a:p>
          </p:txBody>
        </p:sp>
      </p:grpSp>
      <p:grpSp>
        <p:nvGrpSpPr>
          <p:cNvPr name="Group 23" id="23"/>
          <p:cNvGrpSpPr/>
          <p:nvPr/>
        </p:nvGrpSpPr>
        <p:grpSpPr>
          <a:xfrm rot="0">
            <a:off x="9481052" y="1252538"/>
            <a:ext cx="3314290" cy="562928"/>
            <a:chOff x="0" y="0"/>
            <a:chExt cx="4419054" cy="750570"/>
          </a:xfrm>
        </p:grpSpPr>
        <p:sp>
          <p:nvSpPr>
            <p:cNvPr name="Freeform 24" id="24" descr="رابط الموقع على خرائط قوقل">
              <a:hlinkClick r:id="rId8"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D9A66B"/>
            </a:solidFill>
            <a:ln w="14288" cap="sq">
              <a:solidFill>
                <a:srgbClr val="D9A66B"/>
              </a:solidFill>
              <a:prstDash val="solid"/>
              <a:miter/>
            </a:ln>
          </p:spPr>
        </p:sp>
      </p:grpSp>
      <p:grpSp>
        <p:nvGrpSpPr>
          <p:cNvPr name="Group 25" id="25"/>
          <p:cNvGrpSpPr/>
          <p:nvPr/>
        </p:nvGrpSpPr>
        <p:grpSpPr>
          <a:xfrm rot="0">
            <a:off x="12291441" y="1383125"/>
            <a:ext cx="301752" cy="301752"/>
            <a:chOff x="0" y="0"/>
            <a:chExt cx="402336" cy="402336"/>
          </a:xfrm>
        </p:grpSpPr>
        <p:sp>
          <p:nvSpPr>
            <p:cNvPr name="Freeform 26" id="26"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9"/>
              <a:stretch>
                <a:fillRect l="0" t="0" r="0" b="0"/>
              </a:stretch>
            </a:blipFill>
          </p:spPr>
        </p:sp>
      </p:grpSp>
      <p:grpSp>
        <p:nvGrpSpPr>
          <p:cNvPr name="Group 27" id="27"/>
          <p:cNvGrpSpPr/>
          <p:nvPr/>
        </p:nvGrpSpPr>
        <p:grpSpPr>
          <a:xfrm rot="0">
            <a:off x="9638195" y="1259681"/>
            <a:ext cx="2548252" cy="548640"/>
            <a:chOff x="0" y="0"/>
            <a:chExt cx="3397669" cy="731520"/>
          </a:xfrm>
        </p:grpSpPr>
        <p:sp>
          <p:nvSpPr>
            <p:cNvPr name="Freeform 28" id="28"/>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3">
                <a:alphaModFix amt="0"/>
              </a:blip>
              <a:stretch>
                <a:fillRect l="0" t="-40501" r="0" b="-40501"/>
              </a:stretch>
            </a:blipFill>
          </p:spPr>
        </p:sp>
        <p:sp>
          <p:nvSpPr>
            <p:cNvPr name="TextBox 29" id="29"/>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3E2D21"/>
                  </a:solidFill>
                  <a:latin typeface="XM Traffic Bold"/>
                  <a:ea typeface="XM Traffic Bold"/>
                  <a:cs typeface="XM Traffic Bold"/>
                  <a:sym typeface="XM Traffic Bold"/>
                  <a:hlinkClick r:id="rId10" tooltip="https://maps.app.goo.gl/xvrjnFNzScNhKAjUA?g_st=iw"/>
                  <a:rtl val="true"/>
                </a:rPr>
                <a:t>الموقع على قوقل ماب</a:t>
              </a:r>
            </a:p>
          </p:txBody>
        </p:sp>
      </p:grpSp>
      <p:sp>
        <p:nvSpPr>
          <p:cNvPr name="Freeform 30" id="30"/>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1"/>
            <a:stretch>
              <a:fillRect l="0" t="-22113" r="0" b="-17967"/>
            </a:stretch>
          </a:blipFill>
        </p:spPr>
      </p:sp>
      <p:grpSp>
        <p:nvGrpSpPr>
          <p:cNvPr name="Group 31" id="31"/>
          <p:cNvGrpSpPr/>
          <p:nvPr/>
        </p:nvGrpSpPr>
        <p:grpSpPr>
          <a:xfrm rot="0">
            <a:off x="16753096" y="2170433"/>
            <a:ext cx="1305563" cy="1305563"/>
            <a:chOff x="0" y="0"/>
            <a:chExt cx="1740751" cy="1740751"/>
          </a:xfrm>
        </p:grpSpPr>
        <p:sp>
          <p:nvSpPr>
            <p:cNvPr name="Freeform 32" id="32"/>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5C3D2A"/>
            </a:solidFill>
            <a:ln w="25400" cap="sq">
              <a:solidFill>
                <a:srgbClr val="5C3D2A"/>
              </a:solidFill>
              <a:prstDash val="solid"/>
              <a:miter/>
            </a:ln>
          </p:spPr>
        </p:sp>
      </p:grpSp>
      <p:grpSp>
        <p:nvGrpSpPr>
          <p:cNvPr name="Group 33" id="33"/>
          <p:cNvGrpSpPr/>
          <p:nvPr/>
        </p:nvGrpSpPr>
        <p:grpSpPr>
          <a:xfrm rot="0">
            <a:off x="17040113" y="2457450"/>
            <a:ext cx="731520" cy="731520"/>
            <a:chOff x="0" y="0"/>
            <a:chExt cx="975360" cy="975360"/>
          </a:xfrm>
        </p:grpSpPr>
        <p:sp>
          <p:nvSpPr>
            <p:cNvPr name="Freeform 34" id="34" descr="preencoded.png"/>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lnTo>
                    <a:pt x="0" y="0"/>
                  </a:lnTo>
                  <a:close/>
                </a:path>
              </a:pathLst>
            </a:custGeom>
            <a:blipFill>
              <a:blip r:embed="rId12"/>
              <a:stretch>
                <a:fillRect l="0" t="0" r="0" b="0"/>
              </a:stretch>
            </a:blipFill>
          </p:spPr>
        </p:sp>
      </p:grpSp>
      <p:grpSp>
        <p:nvGrpSpPr>
          <p:cNvPr name="Group 35" id="35"/>
          <p:cNvGrpSpPr/>
          <p:nvPr/>
        </p:nvGrpSpPr>
        <p:grpSpPr>
          <a:xfrm rot="0">
            <a:off x="1586753" y="2091690"/>
            <a:ext cx="14813280" cy="1463040"/>
            <a:chOff x="0" y="0"/>
            <a:chExt cx="19751040" cy="1950720"/>
          </a:xfrm>
        </p:grpSpPr>
        <p:sp>
          <p:nvSpPr>
            <p:cNvPr name="Freeform 36" id="36"/>
            <p:cNvSpPr/>
            <p:nvPr/>
          </p:nvSpPr>
          <p:spPr>
            <a:xfrm flipH="false" flipV="false" rot="0">
              <a:off x="0" y="0"/>
              <a:ext cx="19751039" cy="1950720"/>
            </a:xfrm>
            <a:custGeom>
              <a:avLst/>
              <a:gdLst/>
              <a:ahLst/>
              <a:cxnLst/>
              <a:rect r="r" b="b" t="t" l="l"/>
              <a:pathLst>
                <a:path h="1950720" w="19751039">
                  <a:moveTo>
                    <a:pt x="0" y="0"/>
                  </a:moveTo>
                  <a:lnTo>
                    <a:pt x="19751039" y="0"/>
                  </a:lnTo>
                  <a:lnTo>
                    <a:pt x="19751039" y="1950720"/>
                  </a:lnTo>
                  <a:lnTo>
                    <a:pt x="0" y="1950720"/>
                  </a:lnTo>
                  <a:close/>
                </a:path>
              </a:pathLst>
            </a:custGeom>
            <a:blipFill>
              <a:blip r:embed="rId3">
                <a:alphaModFix amt="0"/>
              </a:blip>
              <a:stretch>
                <a:fillRect l="0" t="-147286" r="0" b="-147286"/>
              </a:stretch>
            </a:blipFill>
          </p:spPr>
        </p:sp>
        <p:sp>
          <p:nvSpPr>
            <p:cNvPr name="TextBox 37" id="37"/>
            <p:cNvSpPr txBox="true"/>
            <p:nvPr/>
          </p:nvSpPr>
          <p:spPr>
            <a:xfrm>
              <a:off x="0" y="-28575"/>
              <a:ext cx="19751040" cy="1979295"/>
            </a:xfrm>
            <a:prstGeom prst="rect">
              <a:avLst/>
            </a:prstGeom>
          </p:spPr>
          <p:txBody>
            <a:bodyPr anchor="ctr" rtlCol="false" tIns="0" lIns="0" bIns="0" rIns="0"/>
            <a:lstStyle/>
            <a:p>
              <a:pPr algn="r" rtl="true">
                <a:lnSpc>
                  <a:spcPts val="7200"/>
                </a:lnSpc>
              </a:pPr>
              <a:r>
                <a:rPr lang="ar-EG" b="true" sz="6000">
                  <a:solidFill>
                    <a:srgbClr val="F3E3C8"/>
                  </a:solidFill>
                  <a:latin typeface="Arial Bold"/>
                  <a:ea typeface="Arial Bold"/>
                  <a:cs typeface="Arial Bold"/>
                  <a:sym typeface="Arial Bold"/>
                  <a:rtl val="true"/>
                </a:rPr>
                <a:t>محمية الملك عبدالعزيز – ملهم</a:t>
              </a:r>
            </a:p>
          </p:txBody>
        </p:sp>
      </p:grpSp>
      <p:grpSp>
        <p:nvGrpSpPr>
          <p:cNvPr name="Group 38" id="38"/>
          <p:cNvGrpSpPr/>
          <p:nvPr/>
        </p:nvGrpSpPr>
        <p:grpSpPr>
          <a:xfrm rot="0">
            <a:off x="1586753" y="3188970"/>
            <a:ext cx="14813280" cy="548640"/>
            <a:chOff x="0" y="0"/>
            <a:chExt cx="19751040" cy="731520"/>
          </a:xfrm>
        </p:grpSpPr>
        <p:sp>
          <p:nvSpPr>
            <p:cNvPr name="Freeform 39" id="39"/>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3">
                <a:alphaModFix amt="0"/>
              </a:blip>
              <a:stretch>
                <a:fillRect l="0" t="-476096" r="0" b="-476096"/>
              </a:stretch>
            </a:blipFill>
          </p:spPr>
        </p:sp>
        <p:sp>
          <p:nvSpPr>
            <p:cNvPr name="TextBox 40" id="40"/>
            <p:cNvSpPr txBox="true"/>
            <p:nvPr/>
          </p:nvSpPr>
          <p:spPr>
            <a:xfrm>
              <a:off x="0" y="-19050"/>
              <a:ext cx="19751040" cy="750570"/>
            </a:xfrm>
            <a:prstGeom prst="rect">
              <a:avLst/>
            </a:prstGeom>
          </p:spPr>
          <p:txBody>
            <a:bodyPr anchor="ctr" rtlCol="false" tIns="0" lIns="0" bIns="0" rIns="0"/>
            <a:lstStyle/>
            <a:p>
              <a:pPr algn="r" rtl="true">
                <a:lnSpc>
                  <a:spcPts val="3359"/>
                </a:lnSpc>
              </a:pPr>
              <a:r>
                <a:rPr lang="ar-EG" sz="2799">
                  <a:solidFill>
                    <a:srgbClr val="5E4B3C"/>
                  </a:solidFill>
                  <a:latin typeface="Arial"/>
                  <a:ea typeface="Arial"/>
                  <a:cs typeface="Arial"/>
                  <a:sym typeface="Arial"/>
                  <a:rtl val="true"/>
                </a:rPr>
                <a:t>المخيم النسائي</a:t>
              </a:r>
            </a:p>
          </p:txBody>
        </p:sp>
      </p:grpSp>
      <p:grpSp>
        <p:nvGrpSpPr>
          <p:cNvPr name="Group 41" id="41"/>
          <p:cNvGrpSpPr/>
          <p:nvPr/>
        </p:nvGrpSpPr>
        <p:grpSpPr>
          <a:xfrm rot="0">
            <a:off x="17497313" y="3829050"/>
            <a:ext cx="475488" cy="475488"/>
            <a:chOff x="0" y="0"/>
            <a:chExt cx="633984" cy="633984"/>
          </a:xfrm>
        </p:grpSpPr>
        <p:sp>
          <p:nvSpPr>
            <p:cNvPr name="Freeform 42" id="42"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3"/>
              <a:stretch>
                <a:fillRect l="0" t="0" r="0" b="0"/>
              </a:stretch>
            </a:blipFill>
          </p:spPr>
        </p:sp>
      </p:grpSp>
      <p:grpSp>
        <p:nvGrpSpPr>
          <p:cNvPr name="Group 43" id="43"/>
          <p:cNvGrpSpPr/>
          <p:nvPr/>
        </p:nvGrpSpPr>
        <p:grpSpPr>
          <a:xfrm rot="0">
            <a:off x="7256033" y="3829050"/>
            <a:ext cx="10058400" cy="548640"/>
            <a:chOff x="0" y="0"/>
            <a:chExt cx="13411200" cy="731520"/>
          </a:xfrm>
        </p:grpSpPr>
        <p:sp>
          <p:nvSpPr>
            <p:cNvPr name="Freeform 44" id="44"/>
            <p:cNvSpPr/>
            <p:nvPr/>
          </p:nvSpPr>
          <p:spPr>
            <a:xfrm flipH="false" flipV="false" rot="0">
              <a:off x="0" y="0"/>
              <a:ext cx="13411200" cy="731520"/>
            </a:xfrm>
            <a:custGeom>
              <a:avLst/>
              <a:gdLst/>
              <a:ahLst/>
              <a:cxnLst/>
              <a:rect r="r" b="b" t="t" l="l"/>
              <a:pathLst>
                <a:path h="731520" w="13411200">
                  <a:moveTo>
                    <a:pt x="0" y="0"/>
                  </a:moveTo>
                  <a:lnTo>
                    <a:pt x="13411200" y="0"/>
                  </a:lnTo>
                  <a:lnTo>
                    <a:pt x="13411200" y="731520"/>
                  </a:lnTo>
                  <a:lnTo>
                    <a:pt x="0" y="731520"/>
                  </a:lnTo>
                  <a:close/>
                </a:path>
              </a:pathLst>
            </a:custGeom>
            <a:blipFill>
              <a:blip r:embed="rId3">
                <a:alphaModFix amt="0"/>
              </a:blip>
              <a:stretch>
                <a:fillRect l="0" t="-307225" r="0" b="-307225"/>
              </a:stretch>
            </a:blipFill>
          </p:spPr>
        </p:sp>
        <p:sp>
          <p:nvSpPr>
            <p:cNvPr name="TextBox 45" id="45"/>
            <p:cNvSpPr txBox="true"/>
            <p:nvPr/>
          </p:nvSpPr>
          <p:spPr>
            <a:xfrm>
              <a:off x="0" y="-19050"/>
              <a:ext cx="13411200" cy="750570"/>
            </a:xfrm>
            <a:prstGeom prst="rect">
              <a:avLst/>
            </a:prstGeom>
          </p:spPr>
          <p:txBody>
            <a:bodyPr anchor="ctr" rtlCol="false" tIns="0" lIns="0" bIns="0" rIns="0"/>
            <a:lstStyle/>
            <a:p>
              <a:pPr algn="r" rtl="true">
                <a:lnSpc>
                  <a:spcPts val="3359"/>
                </a:lnSpc>
              </a:pPr>
              <a:r>
                <a:rPr lang="ar-EG" b="true" sz="2799">
                  <a:solidFill>
                    <a:srgbClr val="5C3D2A"/>
                  </a:solidFill>
                  <a:latin typeface="Arial Bold"/>
                  <a:ea typeface="Arial Bold"/>
                  <a:cs typeface="Arial Bold"/>
                  <a:sym typeface="Arial Bold"/>
                  <a:rtl val="true"/>
                </a:rPr>
                <a:t>التجربة</a:t>
              </a:r>
            </a:p>
          </p:txBody>
        </p:sp>
      </p:grpSp>
      <p:sp>
        <p:nvSpPr>
          <p:cNvPr name="TextBox 46" id="46"/>
          <p:cNvSpPr txBox="true"/>
          <p:nvPr/>
        </p:nvSpPr>
        <p:spPr>
          <a:xfrm rot="0">
            <a:off x="7256033" y="4395216"/>
            <a:ext cx="10789920" cy="857250"/>
          </a:xfrm>
          <a:prstGeom prst="rect">
            <a:avLst/>
          </a:prstGeom>
        </p:spPr>
        <p:txBody>
          <a:bodyPr anchor="t" rtlCol="false" tIns="0" lIns="0" bIns="0" rIns="0">
            <a:spAutoFit/>
          </a:bodyPr>
          <a:lstStyle/>
          <a:p>
            <a:pPr algn="r" rtl="true">
              <a:lnSpc>
                <a:spcPts val="3359"/>
              </a:lnSpc>
            </a:pPr>
            <a:r>
              <a:rPr lang="ar-EG" sz="2799">
                <a:solidFill>
                  <a:srgbClr val="E8D5B5"/>
                </a:solidFill>
                <a:latin typeface="Arial"/>
                <a:ea typeface="Arial"/>
                <a:cs typeface="Arial"/>
                <a:sym typeface="Arial"/>
                <a:rtl val="true"/>
              </a:rPr>
              <a:t>تخصيص يوم واحد أسبوعياً لتشغيل المخيم كوجهة اجتماعية وترفيهية نسائية، تقدم تجربة تجمع بين الجلسات والضيافة والأنشطة الترفيهية في أجواء المخيم والطبيعة.</a:t>
            </a:r>
          </a:p>
        </p:txBody>
      </p:sp>
      <p:sp>
        <p:nvSpPr>
          <p:cNvPr name="TextBox 47" id="47"/>
          <p:cNvSpPr txBox="true"/>
          <p:nvPr/>
        </p:nvSpPr>
        <p:spPr>
          <a:xfrm rot="0">
            <a:off x="7256033" y="6004560"/>
            <a:ext cx="10789920" cy="2114550"/>
          </a:xfrm>
          <a:prstGeom prst="rect">
            <a:avLst/>
          </a:prstGeom>
        </p:spPr>
        <p:txBody>
          <a:bodyPr anchor="t" rtlCol="false" tIns="0" lIns="0" bIns="0" rIns="0">
            <a:spAutoFit/>
          </a:bodyPr>
          <a:lstStyle/>
          <a:p>
            <a:pPr algn="r" rtl="true" marL="675639" indent="-337820" lvl="1">
              <a:lnSpc>
                <a:spcPts val="3359"/>
              </a:lnSpc>
              <a:buFont typeface="Arial"/>
              <a:buChar char="•"/>
            </a:pPr>
            <a:r>
              <a:rPr lang="ar-EG" sz="2799">
                <a:solidFill>
                  <a:srgbClr val="F3E3C8"/>
                </a:solidFill>
                <a:latin typeface="Arial"/>
                <a:ea typeface="Arial"/>
                <a:cs typeface="Arial"/>
                <a:sym typeface="Arial"/>
                <a:rtl val="true"/>
              </a:rPr>
              <a:t>جلسات ومناطق مخصصة للزائرات.</a:t>
            </a:r>
          </a:p>
          <a:p>
            <a:pPr algn="r" rtl="true" marL="675639" indent="-337820" lvl="1">
              <a:lnSpc>
                <a:spcPts val="3359"/>
              </a:lnSpc>
              <a:buFont typeface="Arial"/>
              <a:buChar char="•"/>
            </a:pPr>
            <a:r>
              <a:rPr lang="ar-EG" sz="2799">
                <a:solidFill>
                  <a:srgbClr val="F3E3C8"/>
                </a:solidFill>
                <a:latin typeface="Arial"/>
                <a:ea typeface="Arial"/>
                <a:cs typeface="Arial"/>
                <a:sym typeface="Arial"/>
                <a:rtl val="true"/>
              </a:rPr>
              <a:t>أنشطة وألعاب وتجارب ترفيهية.</a:t>
            </a:r>
          </a:p>
          <a:p>
            <a:pPr algn="r" rtl="true" marL="675639" indent="-337820" lvl="1">
              <a:lnSpc>
                <a:spcPts val="3359"/>
              </a:lnSpc>
              <a:buFont typeface="Arial"/>
              <a:buChar char="•"/>
            </a:pPr>
            <a:r>
              <a:rPr lang="ar-EG" sz="2799">
                <a:solidFill>
                  <a:srgbClr val="F3E3C8"/>
                </a:solidFill>
                <a:latin typeface="Arial"/>
                <a:ea typeface="Arial"/>
                <a:cs typeface="Arial"/>
                <a:sym typeface="Arial"/>
                <a:rtl val="true"/>
              </a:rPr>
              <a:t>خيارات للأكل والمشروبات والضيافة.</a:t>
            </a:r>
          </a:p>
          <a:p>
            <a:pPr algn="r" rtl="true" marL="675639" indent="-337820" lvl="1">
              <a:lnSpc>
                <a:spcPts val="3359"/>
              </a:lnSpc>
              <a:buFont typeface="Arial"/>
              <a:buChar char="•"/>
            </a:pPr>
            <a:r>
              <a:rPr lang="ar-EG" sz="2799">
                <a:solidFill>
                  <a:srgbClr val="F3E3C8"/>
                </a:solidFill>
                <a:latin typeface="Arial"/>
                <a:ea typeface="Arial"/>
                <a:cs typeface="Arial"/>
                <a:sym typeface="Arial"/>
                <a:rtl val="true"/>
              </a:rPr>
              <a:t>فعاليات وورش موسمية بحسب البرنامج الأسبوعي.</a:t>
            </a:r>
          </a:p>
          <a:p>
            <a:pPr algn="r" rtl="true" marL="675639" indent="-337820" lvl="1">
              <a:lnSpc>
                <a:spcPts val="3359"/>
              </a:lnSpc>
              <a:buFont typeface="Arial"/>
              <a:buChar char="•"/>
            </a:pPr>
            <a:r>
              <a:rPr lang="ar-EG" sz="2799">
                <a:solidFill>
                  <a:srgbClr val="F3E3C8"/>
                </a:solidFill>
                <a:latin typeface="Arial"/>
                <a:ea typeface="Arial"/>
                <a:cs typeface="Arial"/>
                <a:sym typeface="Arial"/>
                <a:rtl val="true"/>
              </a:rPr>
              <a:t>جلسات خارجية وأجواء مخيم مناسبة للتجمعات النسائية.</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8C5A35">
                <a:alpha val="1961"/>
              </a:srgbClr>
            </a:solidFill>
          </p:spPr>
        </p:sp>
      </p:grpSp>
      <p:grpSp>
        <p:nvGrpSpPr>
          <p:cNvPr name="Group 5" id="5"/>
          <p:cNvGrpSpPr/>
          <p:nvPr/>
        </p:nvGrpSpPr>
        <p:grpSpPr>
          <a:xfrm rot="0">
            <a:off x="5204936" y="815816"/>
            <a:ext cx="5363528" cy="562928"/>
            <a:chOff x="0" y="0"/>
            <a:chExt cx="7151370" cy="750570"/>
          </a:xfrm>
        </p:grpSpPr>
        <p:sp>
          <p:nvSpPr>
            <p:cNvPr name="Freeform 6" id="6"/>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8C5A35">
                <a:alpha val="3137"/>
              </a:srgbClr>
            </a:solidFill>
            <a:ln w="14288" cap="sq">
              <a:solidFill>
                <a:srgbClr val="8C5A35"/>
              </a:solidFill>
              <a:prstDash val="solid"/>
              <a:miter/>
            </a:ln>
          </p:spPr>
        </p:sp>
      </p:grpSp>
      <p:grpSp>
        <p:nvGrpSpPr>
          <p:cNvPr name="Group 7" id="7"/>
          <p:cNvGrpSpPr/>
          <p:nvPr/>
        </p:nvGrpSpPr>
        <p:grpSpPr>
          <a:xfrm rot="0">
            <a:off x="10040112" y="946404"/>
            <a:ext cx="301752" cy="301752"/>
            <a:chOff x="0" y="0"/>
            <a:chExt cx="402336" cy="402336"/>
          </a:xfrm>
        </p:grpSpPr>
        <p:sp>
          <p:nvSpPr>
            <p:cNvPr name="Freeform 8" id="8"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3"/>
              <a:stretch>
                <a:fillRect l="0" t="0" r="0" b="0"/>
              </a:stretch>
            </a:blipFill>
          </p:spPr>
        </p:sp>
      </p:grpSp>
      <p:grpSp>
        <p:nvGrpSpPr>
          <p:cNvPr name="Group 9" id="9"/>
          <p:cNvGrpSpPr/>
          <p:nvPr/>
        </p:nvGrpSpPr>
        <p:grpSpPr>
          <a:xfrm rot="0">
            <a:off x="5376672" y="822960"/>
            <a:ext cx="4526280" cy="548640"/>
            <a:chOff x="0" y="0"/>
            <a:chExt cx="6035040" cy="731520"/>
          </a:xfrm>
        </p:grpSpPr>
        <p:sp>
          <p:nvSpPr>
            <p:cNvPr name="Freeform 10" id="10"/>
            <p:cNvSpPr/>
            <p:nvPr/>
          </p:nvSpPr>
          <p:spPr>
            <a:xfrm flipH="false" flipV="false" rot="0">
              <a:off x="0" y="0"/>
              <a:ext cx="6035040" cy="731520"/>
            </a:xfrm>
            <a:custGeom>
              <a:avLst/>
              <a:gdLst/>
              <a:ahLst/>
              <a:cxnLst/>
              <a:rect r="r" b="b" t="t" l="l"/>
              <a:pathLst>
                <a:path h="731520" w="6035040">
                  <a:moveTo>
                    <a:pt x="0" y="0"/>
                  </a:moveTo>
                  <a:lnTo>
                    <a:pt x="6035040" y="0"/>
                  </a:lnTo>
                  <a:lnTo>
                    <a:pt x="6035040" y="731520"/>
                  </a:lnTo>
                  <a:lnTo>
                    <a:pt x="0" y="731520"/>
                  </a:lnTo>
                  <a:close/>
                </a:path>
              </a:pathLst>
            </a:custGeom>
            <a:blipFill>
              <a:blip r:embed="rId4">
                <a:alphaModFix amt="0"/>
              </a:blip>
              <a:stretch>
                <a:fillRect l="0" t="-110751" r="0" b="-110751"/>
              </a:stretch>
            </a:blipFill>
          </p:spPr>
        </p:sp>
        <p:sp>
          <p:nvSpPr>
            <p:cNvPr name="TextBox 11" id="11"/>
            <p:cNvSpPr txBox="true"/>
            <p:nvPr/>
          </p:nvSpPr>
          <p:spPr>
            <a:xfrm>
              <a:off x="0" y="-9525"/>
              <a:ext cx="6035040" cy="741045"/>
            </a:xfrm>
            <a:prstGeom prst="rect">
              <a:avLst/>
            </a:prstGeom>
          </p:spPr>
          <p:txBody>
            <a:bodyPr anchor="ctr" rtlCol="false" tIns="0" lIns="0" bIns="0" rIns="0"/>
            <a:lstStyle/>
            <a:p>
              <a:pPr algn="r" rtl="true">
                <a:lnSpc>
                  <a:spcPts val="2340"/>
                </a:lnSpc>
              </a:pPr>
              <a:r>
                <a:rPr lang="ar-EG" b="true" sz="1950" spc="20">
                  <a:solidFill>
                    <a:srgbClr val="8C5A35"/>
                  </a:solidFill>
                  <a:latin typeface="XM Traffic Bold"/>
                  <a:ea typeface="XM Traffic Bold"/>
                  <a:cs typeface="XM Traffic Bold"/>
                  <a:sym typeface="XM Traffic Bold"/>
                  <a:rtl val="true"/>
                </a:rPr>
                <a:t>ملهم — تجارب على مهل</a:t>
              </a:r>
            </a:p>
          </p:txBody>
        </p:sp>
      </p:grpSp>
      <p:grpSp>
        <p:nvGrpSpPr>
          <p:cNvPr name="Group 12" id="12"/>
          <p:cNvGrpSpPr/>
          <p:nvPr/>
        </p:nvGrpSpPr>
        <p:grpSpPr>
          <a:xfrm rot="0">
            <a:off x="822960" y="9669780"/>
            <a:ext cx="9738360" cy="342900"/>
            <a:chOff x="0" y="0"/>
            <a:chExt cx="12984480" cy="457200"/>
          </a:xfrm>
        </p:grpSpPr>
        <p:sp>
          <p:nvSpPr>
            <p:cNvPr name="Freeform 13" id="13"/>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4">
                <a:alphaModFix amt="0"/>
              </a:blip>
              <a:stretch>
                <a:fillRect l="0" t="-503375" r="0" b="-503375"/>
              </a:stretch>
            </a:blipFill>
          </p:spPr>
        </p:sp>
        <p:sp>
          <p:nvSpPr>
            <p:cNvPr name="TextBox 14" id="14"/>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15" id="15"/>
          <p:cNvGrpSpPr/>
          <p:nvPr/>
        </p:nvGrpSpPr>
        <p:grpSpPr>
          <a:xfrm rot="0">
            <a:off x="1724939" y="815816"/>
            <a:ext cx="3314290" cy="562928"/>
            <a:chOff x="0" y="0"/>
            <a:chExt cx="4419054" cy="750570"/>
          </a:xfrm>
        </p:grpSpPr>
        <p:sp>
          <p:nvSpPr>
            <p:cNvPr name="Freeform 16" id="16" descr="رابط الموقع على خرائط قوقل">
              <a:hlinkClick r:id="rId5" tooltip="https://www.google.com/maps/search/?api=1&amp;query=%D9%85%D9%84%D9%87%D9%85"/>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17" id="17"/>
          <p:cNvGrpSpPr/>
          <p:nvPr/>
        </p:nvGrpSpPr>
        <p:grpSpPr>
          <a:xfrm rot="0">
            <a:off x="4535329" y="946404"/>
            <a:ext cx="301752" cy="301752"/>
            <a:chOff x="0" y="0"/>
            <a:chExt cx="402336" cy="402336"/>
          </a:xfrm>
        </p:grpSpPr>
        <p:sp>
          <p:nvSpPr>
            <p:cNvPr name="Freeform 18" id="18"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6"/>
              <a:stretch>
                <a:fillRect l="0" t="0" r="0" b="0"/>
              </a:stretch>
            </a:blipFill>
          </p:spPr>
        </p:sp>
      </p:grpSp>
      <p:grpSp>
        <p:nvGrpSpPr>
          <p:cNvPr name="Group 19" id="19"/>
          <p:cNvGrpSpPr/>
          <p:nvPr/>
        </p:nvGrpSpPr>
        <p:grpSpPr>
          <a:xfrm rot="0">
            <a:off x="1882083" y="822960"/>
            <a:ext cx="2548252" cy="548640"/>
            <a:chOff x="0" y="0"/>
            <a:chExt cx="3397669" cy="731520"/>
          </a:xfrm>
        </p:grpSpPr>
        <p:sp>
          <p:nvSpPr>
            <p:cNvPr name="Freeform 20" id="20"/>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4">
                <a:alphaModFix amt="0"/>
              </a:blip>
              <a:stretch>
                <a:fillRect l="0" t="-40501" r="0" b="-40501"/>
              </a:stretch>
            </a:blipFill>
          </p:spPr>
        </p:sp>
        <p:sp>
          <p:nvSpPr>
            <p:cNvPr name="TextBox 21" id="21"/>
            <p:cNvSpPr txBox="true"/>
            <p:nvPr/>
          </p:nvSpPr>
          <p:spPr>
            <a:xfrm>
              <a:off x="0" y="0"/>
              <a:ext cx="3397669" cy="731520"/>
            </a:xfrm>
            <a:prstGeom prst="rect">
              <a:avLst/>
            </a:prstGeom>
          </p:spPr>
          <p:txBody>
            <a:bodyPr anchor="ctr" rtlCol="false" tIns="0" lIns="0" bIns="0" rIns="0"/>
            <a:lstStyle/>
            <a:p>
              <a:pPr algn="r" rtl="true">
                <a:lnSpc>
                  <a:spcPts val="1980"/>
                </a:lnSpc>
              </a:pPr>
              <a:r>
                <a:rPr lang="ar-EG" b="true" sz="1650" spc="17" u="sng">
                  <a:solidFill>
                    <a:srgbClr val="F3E3C8"/>
                  </a:solidFill>
                  <a:latin typeface="XM Traffic Bold"/>
                  <a:ea typeface="XM Traffic Bold"/>
                  <a:cs typeface="XM Traffic Bold"/>
                  <a:sym typeface="XM Traffic Bold"/>
                  <a:hlinkClick r:id="rId7" tooltip="https://maps.app.goo.gl/xvrjnFNzScNhKAjUA?g_st=iw"/>
                  <a:rtl val="true"/>
                </a:rPr>
                <a:t>الموقع على قوقل ماب</a:t>
              </a:r>
            </a:p>
          </p:txBody>
        </p:sp>
      </p:grpSp>
      <p:grpSp>
        <p:nvGrpSpPr>
          <p:cNvPr name="Group 22" id="22"/>
          <p:cNvGrpSpPr/>
          <p:nvPr/>
        </p:nvGrpSpPr>
        <p:grpSpPr>
          <a:xfrm rot="0">
            <a:off x="11441761" y="815816"/>
            <a:ext cx="6333172" cy="3906440"/>
            <a:chOff x="0" y="0"/>
            <a:chExt cx="8444230" cy="5208586"/>
          </a:xfrm>
        </p:grpSpPr>
        <p:sp>
          <p:nvSpPr>
            <p:cNvPr name="Freeform 23" id="23"/>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8"/>
              <a:stretch>
                <a:fillRect l="0" t="-3905" r="0" b="-3905"/>
              </a:stretch>
            </a:blipFill>
            <a:ln w="23812" cap="sq">
              <a:solidFill>
                <a:srgbClr val="A68460"/>
              </a:solidFill>
              <a:prstDash val="dash"/>
              <a:miter/>
            </a:ln>
          </p:spPr>
        </p:sp>
      </p:grpSp>
      <p:grpSp>
        <p:nvGrpSpPr>
          <p:cNvPr name="Group 24" id="24"/>
          <p:cNvGrpSpPr/>
          <p:nvPr/>
        </p:nvGrpSpPr>
        <p:grpSpPr>
          <a:xfrm rot="0">
            <a:off x="11441761" y="5650992"/>
            <a:ext cx="6333172" cy="3906440"/>
            <a:chOff x="0" y="0"/>
            <a:chExt cx="8444230" cy="5208586"/>
          </a:xfrm>
        </p:grpSpPr>
        <p:sp>
          <p:nvSpPr>
            <p:cNvPr name="Freeform 25" id="25"/>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9"/>
              <a:stretch>
                <a:fillRect l="0" t="-3905" r="0" b="-3905"/>
              </a:stretch>
            </a:blipFill>
            <a:ln w="23812" cap="sq">
              <a:solidFill>
                <a:srgbClr val="A68460"/>
              </a:solidFill>
              <a:prstDash val="dash"/>
              <a:miter/>
            </a:ln>
          </p:spPr>
        </p:sp>
      </p:grpSp>
      <p:sp>
        <p:nvSpPr>
          <p:cNvPr name="Freeform 26" id="26"/>
          <p:cNvSpPr/>
          <p:nvPr/>
        </p:nvSpPr>
        <p:spPr>
          <a:xfrm flipH="false" flipV="false" rot="0">
            <a:off x="179617" y="139177"/>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0"/>
            <a:stretch>
              <a:fillRect l="0" t="-22113" r="0" b="-17967"/>
            </a:stretch>
          </a:blipFill>
        </p:spPr>
      </p:sp>
      <p:grpSp>
        <p:nvGrpSpPr>
          <p:cNvPr name="Group 27" id="27"/>
          <p:cNvGrpSpPr/>
          <p:nvPr/>
        </p:nvGrpSpPr>
        <p:grpSpPr>
          <a:xfrm rot="0">
            <a:off x="10504842" y="3587675"/>
            <a:ext cx="475488" cy="475488"/>
            <a:chOff x="0" y="0"/>
            <a:chExt cx="633984" cy="633984"/>
          </a:xfrm>
        </p:grpSpPr>
        <p:sp>
          <p:nvSpPr>
            <p:cNvPr name="Freeform 28" id="28"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1"/>
              <a:stretch>
                <a:fillRect l="0" t="0" r="0" b="0"/>
              </a:stretch>
            </a:blipFill>
          </p:spPr>
        </p:sp>
      </p:grpSp>
      <p:grpSp>
        <p:nvGrpSpPr>
          <p:cNvPr name="Group 29" id="29"/>
          <p:cNvGrpSpPr/>
          <p:nvPr/>
        </p:nvGrpSpPr>
        <p:grpSpPr>
          <a:xfrm rot="0">
            <a:off x="9674767" y="1643308"/>
            <a:ext cx="1305563" cy="1305563"/>
            <a:chOff x="0" y="0"/>
            <a:chExt cx="1740751" cy="1740751"/>
          </a:xfrm>
        </p:grpSpPr>
        <p:sp>
          <p:nvSpPr>
            <p:cNvPr name="Freeform 30" id="30"/>
            <p:cNvSpPr/>
            <p:nvPr/>
          </p:nvSpPr>
          <p:spPr>
            <a:xfrm flipH="false" flipV="false" rot="0">
              <a:off x="0" y="0"/>
              <a:ext cx="1740662" cy="1740662"/>
            </a:xfrm>
            <a:custGeom>
              <a:avLst/>
              <a:gdLst/>
              <a:ahLst/>
              <a:cxnLst/>
              <a:rect r="r" b="b" t="t" l="l"/>
              <a:pathLst>
                <a:path h="1740662" w="1740662">
                  <a:moveTo>
                    <a:pt x="0" y="870331"/>
                  </a:moveTo>
                  <a:cubicBezTo>
                    <a:pt x="0" y="389636"/>
                    <a:pt x="389636" y="0"/>
                    <a:pt x="870331" y="0"/>
                  </a:cubicBezTo>
                  <a:cubicBezTo>
                    <a:pt x="1351026" y="0"/>
                    <a:pt x="1740662" y="389636"/>
                    <a:pt x="1740662" y="870331"/>
                  </a:cubicBezTo>
                  <a:cubicBezTo>
                    <a:pt x="1740662" y="1351026"/>
                    <a:pt x="1351026" y="1740662"/>
                    <a:pt x="870331" y="1740662"/>
                  </a:cubicBezTo>
                  <a:cubicBezTo>
                    <a:pt x="389636" y="1740662"/>
                    <a:pt x="0" y="1351026"/>
                    <a:pt x="0" y="870331"/>
                  </a:cubicBezTo>
                  <a:close/>
                </a:path>
              </a:pathLst>
            </a:custGeom>
            <a:solidFill>
              <a:srgbClr val="5C3D2A"/>
            </a:solidFill>
            <a:ln w="25400" cap="sq">
              <a:solidFill>
                <a:srgbClr val="5C3D2A"/>
              </a:solidFill>
              <a:prstDash val="solid"/>
              <a:miter/>
            </a:ln>
          </p:spPr>
        </p:sp>
      </p:grpSp>
      <p:grpSp>
        <p:nvGrpSpPr>
          <p:cNvPr name="Group 31" id="31"/>
          <p:cNvGrpSpPr/>
          <p:nvPr/>
        </p:nvGrpSpPr>
        <p:grpSpPr>
          <a:xfrm rot="0">
            <a:off x="-5491576" y="1564565"/>
            <a:ext cx="14813280" cy="1463040"/>
            <a:chOff x="0" y="0"/>
            <a:chExt cx="19751040" cy="1950720"/>
          </a:xfrm>
        </p:grpSpPr>
        <p:sp>
          <p:nvSpPr>
            <p:cNvPr name="Freeform 32" id="32"/>
            <p:cNvSpPr/>
            <p:nvPr/>
          </p:nvSpPr>
          <p:spPr>
            <a:xfrm flipH="false" flipV="false" rot="0">
              <a:off x="0" y="0"/>
              <a:ext cx="19751039" cy="1950720"/>
            </a:xfrm>
            <a:custGeom>
              <a:avLst/>
              <a:gdLst/>
              <a:ahLst/>
              <a:cxnLst/>
              <a:rect r="r" b="b" t="t" l="l"/>
              <a:pathLst>
                <a:path h="1950720" w="19751039">
                  <a:moveTo>
                    <a:pt x="0" y="0"/>
                  </a:moveTo>
                  <a:lnTo>
                    <a:pt x="19751039" y="0"/>
                  </a:lnTo>
                  <a:lnTo>
                    <a:pt x="19751039" y="1950720"/>
                  </a:lnTo>
                  <a:lnTo>
                    <a:pt x="0" y="1950720"/>
                  </a:lnTo>
                  <a:close/>
                </a:path>
              </a:pathLst>
            </a:custGeom>
            <a:blipFill>
              <a:blip r:embed="rId4">
                <a:alphaModFix amt="0"/>
              </a:blip>
              <a:stretch>
                <a:fillRect l="0" t="-147286" r="0" b="-147286"/>
              </a:stretch>
            </a:blipFill>
          </p:spPr>
        </p:sp>
        <p:sp>
          <p:nvSpPr>
            <p:cNvPr name="TextBox 33" id="33"/>
            <p:cNvSpPr txBox="true"/>
            <p:nvPr/>
          </p:nvSpPr>
          <p:spPr>
            <a:xfrm>
              <a:off x="0" y="-28575"/>
              <a:ext cx="19751040" cy="1979295"/>
            </a:xfrm>
            <a:prstGeom prst="rect">
              <a:avLst/>
            </a:prstGeom>
          </p:spPr>
          <p:txBody>
            <a:bodyPr anchor="ctr" rtlCol="false" tIns="0" lIns="0" bIns="0" rIns="0"/>
            <a:lstStyle/>
            <a:p>
              <a:pPr algn="r" rtl="true">
                <a:lnSpc>
                  <a:spcPts val="7200"/>
                </a:lnSpc>
              </a:pPr>
              <a:r>
                <a:rPr lang="ar-EG" b="true" sz="6000">
                  <a:solidFill>
                    <a:srgbClr val="5C3D2A"/>
                  </a:solidFill>
                  <a:latin typeface="Arial Bold"/>
                  <a:ea typeface="Arial Bold"/>
                  <a:cs typeface="Arial Bold"/>
                  <a:sym typeface="Arial Bold"/>
                  <a:rtl val="true"/>
                </a:rPr>
                <a:t>محمية الملك عبدالعزيز – ملهم | الهوية</a:t>
              </a:r>
            </a:p>
          </p:txBody>
        </p:sp>
      </p:grpSp>
      <p:grpSp>
        <p:nvGrpSpPr>
          <p:cNvPr name="Group 34" id="34"/>
          <p:cNvGrpSpPr/>
          <p:nvPr/>
        </p:nvGrpSpPr>
        <p:grpSpPr>
          <a:xfrm rot="0">
            <a:off x="530767" y="3472108"/>
            <a:ext cx="10449563" cy="2860043"/>
            <a:chOff x="0" y="0"/>
            <a:chExt cx="13932751" cy="3813391"/>
          </a:xfrm>
        </p:grpSpPr>
        <p:sp>
          <p:nvSpPr>
            <p:cNvPr name="Freeform 35" id="35"/>
            <p:cNvSpPr/>
            <p:nvPr/>
          </p:nvSpPr>
          <p:spPr>
            <a:xfrm flipH="false" flipV="false" rot="0">
              <a:off x="0" y="0"/>
              <a:ext cx="13932788" cy="3813429"/>
            </a:xfrm>
            <a:custGeom>
              <a:avLst/>
              <a:gdLst/>
              <a:ahLst/>
              <a:cxnLst/>
              <a:rect r="r" b="b" t="t" l="l"/>
              <a:pathLst>
                <a:path h="3813429" w="13932788">
                  <a:moveTo>
                    <a:pt x="0" y="295275"/>
                  </a:moveTo>
                  <a:cubicBezTo>
                    <a:pt x="0" y="132207"/>
                    <a:pt x="132207" y="0"/>
                    <a:pt x="295275" y="0"/>
                  </a:cubicBezTo>
                  <a:lnTo>
                    <a:pt x="13637513" y="0"/>
                  </a:lnTo>
                  <a:cubicBezTo>
                    <a:pt x="13800581" y="0"/>
                    <a:pt x="13932788" y="132207"/>
                    <a:pt x="13932788" y="295275"/>
                  </a:cubicBezTo>
                  <a:lnTo>
                    <a:pt x="13932788" y="3518154"/>
                  </a:lnTo>
                  <a:cubicBezTo>
                    <a:pt x="13932788" y="3681222"/>
                    <a:pt x="13800581" y="3813429"/>
                    <a:pt x="13637513" y="3813429"/>
                  </a:cubicBezTo>
                  <a:lnTo>
                    <a:pt x="295275" y="3813429"/>
                  </a:lnTo>
                  <a:cubicBezTo>
                    <a:pt x="132207" y="3813429"/>
                    <a:pt x="0" y="3681222"/>
                    <a:pt x="0" y="3518154"/>
                  </a:cubicBezTo>
                  <a:close/>
                </a:path>
              </a:pathLst>
            </a:custGeom>
            <a:solidFill>
              <a:srgbClr val="5C3D2A"/>
            </a:solidFill>
            <a:ln w="25400" cap="sq">
              <a:solidFill>
                <a:srgbClr val="5C3D2A"/>
              </a:solidFill>
              <a:prstDash val="solid"/>
              <a:miter/>
            </a:ln>
          </p:spPr>
        </p:sp>
      </p:grpSp>
      <p:grpSp>
        <p:nvGrpSpPr>
          <p:cNvPr name="Group 36" id="36"/>
          <p:cNvGrpSpPr/>
          <p:nvPr/>
        </p:nvGrpSpPr>
        <p:grpSpPr>
          <a:xfrm rot="0">
            <a:off x="10126376" y="3667685"/>
            <a:ext cx="475488" cy="475488"/>
            <a:chOff x="0" y="0"/>
            <a:chExt cx="633984" cy="633984"/>
          </a:xfrm>
        </p:grpSpPr>
        <p:sp>
          <p:nvSpPr>
            <p:cNvPr name="Freeform 37" id="37"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2"/>
              <a:stretch>
                <a:fillRect l="0" t="0" r="0" b="0"/>
              </a:stretch>
            </a:blipFill>
          </p:spPr>
        </p:sp>
      </p:grpSp>
      <p:grpSp>
        <p:nvGrpSpPr>
          <p:cNvPr name="Group 38" id="38"/>
          <p:cNvGrpSpPr/>
          <p:nvPr/>
        </p:nvGrpSpPr>
        <p:grpSpPr>
          <a:xfrm rot="0">
            <a:off x="909224" y="3667685"/>
            <a:ext cx="9052560" cy="548640"/>
            <a:chOff x="0" y="0"/>
            <a:chExt cx="12070080" cy="731520"/>
          </a:xfrm>
        </p:grpSpPr>
        <p:sp>
          <p:nvSpPr>
            <p:cNvPr name="Freeform 39" id="39"/>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4">
                <a:alphaModFix amt="0"/>
              </a:blip>
              <a:stretch>
                <a:fillRect l="0" t="-271503" r="0" b="-271503"/>
              </a:stretch>
            </a:blipFill>
          </p:spPr>
        </p:sp>
        <p:sp>
          <p:nvSpPr>
            <p:cNvPr name="TextBox 40" id="40"/>
            <p:cNvSpPr txBox="true"/>
            <p:nvPr/>
          </p:nvSpPr>
          <p:spPr>
            <a:xfrm>
              <a:off x="0" y="-19050"/>
              <a:ext cx="12070080" cy="750570"/>
            </a:xfrm>
            <a:prstGeom prst="rect">
              <a:avLst/>
            </a:prstGeom>
          </p:spPr>
          <p:txBody>
            <a:bodyPr anchor="ctr" rtlCol="false" tIns="0" lIns="0" bIns="0" rIns="0"/>
            <a:lstStyle/>
            <a:p>
              <a:pPr algn="r" rtl="true">
                <a:lnSpc>
                  <a:spcPts val="3359"/>
                </a:lnSpc>
              </a:pPr>
              <a:r>
                <a:rPr lang="ar-EG" sz="2799">
                  <a:solidFill>
                    <a:srgbClr val="FFFFFF"/>
                  </a:solidFill>
                  <a:latin typeface="Arial"/>
                  <a:ea typeface="Arial"/>
                  <a:cs typeface="Arial"/>
                  <a:sym typeface="Arial"/>
                  <a:rtl val="true"/>
                </a:rPr>
                <a:t>السلوغن</a:t>
              </a:r>
            </a:p>
          </p:txBody>
        </p:sp>
      </p:grpSp>
      <p:grpSp>
        <p:nvGrpSpPr>
          <p:cNvPr name="Group 41" id="41"/>
          <p:cNvGrpSpPr/>
          <p:nvPr/>
        </p:nvGrpSpPr>
        <p:grpSpPr>
          <a:xfrm rot="0">
            <a:off x="909224" y="4307765"/>
            <a:ext cx="9692640" cy="1828800"/>
            <a:chOff x="0" y="0"/>
            <a:chExt cx="12923520" cy="2438400"/>
          </a:xfrm>
        </p:grpSpPr>
        <p:sp>
          <p:nvSpPr>
            <p:cNvPr name="Freeform 42" id="42"/>
            <p:cNvSpPr/>
            <p:nvPr/>
          </p:nvSpPr>
          <p:spPr>
            <a:xfrm flipH="false" flipV="false" rot="0">
              <a:off x="0" y="0"/>
              <a:ext cx="12923520" cy="2438400"/>
            </a:xfrm>
            <a:custGeom>
              <a:avLst/>
              <a:gdLst/>
              <a:ahLst/>
              <a:cxnLst/>
              <a:rect r="r" b="b" t="t" l="l"/>
              <a:pathLst>
                <a:path h="2438400" w="12923520">
                  <a:moveTo>
                    <a:pt x="0" y="0"/>
                  </a:moveTo>
                  <a:lnTo>
                    <a:pt x="12923520" y="0"/>
                  </a:lnTo>
                  <a:lnTo>
                    <a:pt x="12923520" y="2438400"/>
                  </a:lnTo>
                  <a:lnTo>
                    <a:pt x="0" y="2438400"/>
                  </a:lnTo>
                  <a:close/>
                </a:path>
              </a:pathLst>
            </a:custGeom>
            <a:blipFill>
              <a:blip r:embed="rId4">
                <a:alphaModFix amt="0"/>
              </a:blip>
              <a:stretch>
                <a:fillRect l="0" t="-53270" r="0" b="-53270"/>
              </a:stretch>
            </a:blipFill>
          </p:spPr>
        </p:sp>
        <p:sp>
          <p:nvSpPr>
            <p:cNvPr name="TextBox 43" id="43"/>
            <p:cNvSpPr txBox="true"/>
            <p:nvPr/>
          </p:nvSpPr>
          <p:spPr>
            <a:xfrm>
              <a:off x="0" y="-9525"/>
              <a:ext cx="12923520" cy="2447925"/>
            </a:xfrm>
            <a:prstGeom prst="rect">
              <a:avLst/>
            </a:prstGeom>
          </p:spPr>
          <p:txBody>
            <a:bodyPr anchor="ctr" rtlCol="false" tIns="0" lIns="0" bIns="0" rIns="0"/>
            <a:lstStyle/>
            <a:p>
              <a:pPr algn="r" rtl="true">
                <a:lnSpc>
                  <a:spcPts val="4799"/>
                </a:lnSpc>
              </a:pPr>
              <a:r>
                <a:rPr lang="ar-EG" b="true" sz="3999">
                  <a:solidFill>
                    <a:srgbClr val="FFFFFF"/>
                  </a:solidFill>
                  <a:latin typeface="Arial Bold"/>
                  <a:ea typeface="Arial Bold"/>
                  <a:cs typeface="Arial Bold"/>
                  <a:sym typeface="Arial Bold"/>
                  <a:rtl val="true"/>
                </a:rPr>
                <a:t>«ليلتنا غير.. وجمعتنا أحلى».</a:t>
              </a:r>
            </a:p>
            <a:p>
              <a:pPr algn="r" rtl="true">
                <a:lnSpc>
                  <a:spcPts val="4799"/>
                </a:lnSpc>
              </a:pPr>
              <a:r>
                <a:rPr lang="ar-EG" b="true" sz="3999">
                  <a:solidFill>
                    <a:srgbClr val="FFFFFF"/>
                  </a:solidFill>
                  <a:latin typeface="Arial Bold"/>
                  <a:ea typeface="Arial Bold"/>
                  <a:cs typeface="Arial Bold"/>
                  <a:sym typeface="Arial Bold"/>
                  <a:rtl val="true"/>
                </a:rPr>
                <a:t>«بين الخيمة والنجوم.. تبدأ الحكاية».</a:t>
              </a:r>
            </a:p>
          </p:txBody>
        </p:sp>
      </p:grpSp>
      <p:grpSp>
        <p:nvGrpSpPr>
          <p:cNvPr name="Group 44" id="44"/>
          <p:cNvGrpSpPr/>
          <p:nvPr/>
        </p:nvGrpSpPr>
        <p:grpSpPr>
          <a:xfrm rot="0">
            <a:off x="530767" y="6672508"/>
            <a:ext cx="10449563" cy="3774443"/>
            <a:chOff x="0" y="0"/>
            <a:chExt cx="13932751" cy="5032591"/>
          </a:xfrm>
        </p:grpSpPr>
        <p:sp>
          <p:nvSpPr>
            <p:cNvPr name="Freeform 45" id="45"/>
            <p:cNvSpPr/>
            <p:nvPr/>
          </p:nvSpPr>
          <p:spPr>
            <a:xfrm flipH="false" flipV="false" rot="0">
              <a:off x="0" y="0"/>
              <a:ext cx="13932788" cy="5032629"/>
            </a:xfrm>
            <a:custGeom>
              <a:avLst/>
              <a:gdLst/>
              <a:ahLst/>
              <a:cxnLst/>
              <a:rect r="r" b="b" t="t" l="l"/>
              <a:pathLst>
                <a:path h="5032629" w="13932788">
                  <a:moveTo>
                    <a:pt x="0" y="294640"/>
                  </a:moveTo>
                  <a:cubicBezTo>
                    <a:pt x="0" y="131953"/>
                    <a:pt x="131953" y="0"/>
                    <a:pt x="294640" y="0"/>
                  </a:cubicBezTo>
                  <a:lnTo>
                    <a:pt x="13638149" y="0"/>
                  </a:lnTo>
                  <a:cubicBezTo>
                    <a:pt x="13800837" y="0"/>
                    <a:pt x="13932788" y="131953"/>
                    <a:pt x="13932788" y="294640"/>
                  </a:cubicBezTo>
                  <a:lnTo>
                    <a:pt x="13932788" y="4737989"/>
                  </a:lnTo>
                  <a:cubicBezTo>
                    <a:pt x="13932788" y="4900676"/>
                    <a:pt x="13800837" y="5032629"/>
                    <a:pt x="13638149" y="5032629"/>
                  </a:cubicBezTo>
                  <a:lnTo>
                    <a:pt x="294640" y="5032629"/>
                  </a:lnTo>
                  <a:cubicBezTo>
                    <a:pt x="131953" y="5032629"/>
                    <a:pt x="0" y="4900676"/>
                    <a:pt x="0" y="4737989"/>
                  </a:cubicBezTo>
                  <a:close/>
                </a:path>
              </a:pathLst>
            </a:custGeom>
            <a:solidFill>
              <a:srgbClr val="F0E4D2"/>
            </a:solidFill>
            <a:ln w="25400" cap="sq">
              <a:solidFill>
                <a:srgbClr val="F0E4D2"/>
              </a:solidFill>
              <a:prstDash val="solid"/>
              <a:miter/>
            </a:ln>
          </p:spPr>
        </p:sp>
      </p:grpSp>
      <p:grpSp>
        <p:nvGrpSpPr>
          <p:cNvPr name="Group 46" id="46"/>
          <p:cNvGrpSpPr/>
          <p:nvPr/>
        </p:nvGrpSpPr>
        <p:grpSpPr>
          <a:xfrm rot="0">
            <a:off x="10126376" y="6868085"/>
            <a:ext cx="475488" cy="475488"/>
            <a:chOff x="0" y="0"/>
            <a:chExt cx="633984" cy="633984"/>
          </a:xfrm>
        </p:grpSpPr>
        <p:sp>
          <p:nvSpPr>
            <p:cNvPr name="Freeform 47" id="47" descr="preencoded.png"/>
            <p:cNvSpPr/>
            <p:nvPr/>
          </p:nvSpPr>
          <p:spPr>
            <a:xfrm flipH="false" flipV="false" rot="0">
              <a:off x="0" y="0"/>
              <a:ext cx="633984" cy="633984"/>
            </a:xfrm>
            <a:custGeom>
              <a:avLst/>
              <a:gdLst/>
              <a:ahLst/>
              <a:cxnLst/>
              <a:rect r="r" b="b" t="t" l="l"/>
              <a:pathLst>
                <a:path h="633984" w="633984">
                  <a:moveTo>
                    <a:pt x="0" y="0"/>
                  </a:moveTo>
                  <a:lnTo>
                    <a:pt x="633984" y="0"/>
                  </a:lnTo>
                  <a:lnTo>
                    <a:pt x="633984" y="633984"/>
                  </a:lnTo>
                  <a:lnTo>
                    <a:pt x="0" y="633984"/>
                  </a:lnTo>
                  <a:lnTo>
                    <a:pt x="0" y="0"/>
                  </a:lnTo>
                  <a:close/>
                </a:path>
              </a:pathLst>
            </a:custGeom>
            <a:blipFill>
              <a:blip r:embed="rId13"/>
              <a:stretch>
                <a:fillRect l="0" t="0" r="0" b="0"/>
              </a:stretch>
            </a:blipFill>
          </p:spPr>
        </p:sp>
      </p:grpSp>
      <p:grpSp>
        <p:nvGrpSpPr>
          <p:cNvPr name="Group 48" id="48"/>
          <p:cNvGrpSpPr/>
          <p:nvPr/>
        </p:nvGrpSpPr>
        <p:grpSpPr>
          <a:xfrm rot="0">
            <a:off x="909224" y="6868085"/>
            <a:ext cx="9052560" cy="548640"/>
            <a:chOff x="0" y="0"/>
            <a:chExt cx="12070080" cy="731520"/>
          </a:xfrm>
        </p:grpSpPr>
        <p:sp>
          <p:nvSpPr>
            <p:cNvPr name="Freeform 49" id="49"/>
            <p:cNvSpPr/>
            <p:nvPr/>
          </p:nvSpPr>
          <p:spPr>
            <a:xfrm flipH="false" flipV="false" rot="0">
              <a:off x="0" y="0"/>
              <a:ext cx="12070080" cy="731520"/>
            </a:xfrm>
            <a:custGeom>
              <a:avLst/>
              <a:gdLst/>
              <a:ahLst/>
              <a:cxnLst/>
              <a:rect r="r" b="b" t="t" l="l"/>
              <a:pathLst>
                <a:path h="731520" w="12070080">
                  <a:moveTo>
                    <a:pt x="0" y="0"/>
                  </a:moveTo>
                  <a:lnTo>
                    <a:pt x="12070080" y="0"/>
                  </a:lnTo>
                  <a:lnTo>
                    <a:pt x="12070080" y="731520"/>
                  </a:lnTo>
                  <a:lnTo>
                    <a:pt x="0" y="731520"/>
                  </a:lnTo>
                  <a:close/>
                </a:path>
              </a:pathLst>
            </a:custGeom>
            <a:blipFill>
              <a:blip r:embed="rId4">
                <a:alphaModFix amt="0"/>
              </a:blip>
              <a:stretch>
                <a:fillRect l="0" t="-271503" r="0" b="-271503"/>
              </a:stretch>
            </a:blipFill>
          </p:spPr>
        </p:sp>
        <p:sp>
          <p:nvSpPr>
            <p:cNvPr name="TextBox 50" id="50"/>
            <p:cNvSpPr txBox="true"/>
            <p:nvPr/>
          </p:nvSpPr>
          <p:spPr>
            <a:xfrm>
              <a:off x="0" y="-19050"/>
              <a:ext cx="12070080" cy="750570"/>
            </a:xfrm>
            <a:prstGeom prst="rect">
              <a:avLst/>
            </a:prstGeom>
          </p:spPr>
          <p:txBody>
            <a:bodyPr anchor="ctr" rtlCol="false" tIns="0" lIns="0" bIns="0" rIns="0"/>
            <a:lstStyle/>
            <a:p>
              <a:pPr algn="r" rtl="true">
                <a:lnSpc>
                  <a:spcPts val="3359"/>
                </a:lnSpc>
              </a:pPr>
              <a:r>
                <a:rPr lang="ar-EG" b="true" sz="2799">
                  <a:solidFill>
                    <a:srgbClr val="5C3D2A"/>
                  </a:solidFill>
                  <a:latin typeface="Arial Bold"/>
                  <a:ea typeface="Arial Bold"/>
                  <a:cs typeface="Arial Bold"/>
                  <a:sym typeface="Arial Bold"/>
                  <a:rtl val="true"/>
                </a:rPr>
                <a:t>ملاحظة</a:t>
              </a:r>
            </a:p>
          </p:txBody>
        </p:sp>
      </p:grpSp>
      <p:sp>
        <p:nvSpPr>
          <p:cNvPr name="TextBox 51" id="51"/>
          <p:cNvSpPr txBox="true"/>
          <p:nvPr/>
        </p:nvSpPr>
        <p:spPr>
          <a:xfrm rot="0">
            <a:off x="909224" y="7452539"/>
            <a:ext cx="9692640" cy="2762250"/>
          </a:xfrm>
          <a:prstGeom prst="rect">
            <a:avLst/>
          </a:prstGeom>
        </p:spPr>
        <p:txBody>
          <a:bodyPr anchor="t" rtlCol="false" tIns="0" lIns="0" bIns="0" rIns="0">
            <a:spAutoFit/>
          </a:bodyPr>
          <a:lstStyle/>
          <a:p>
            <a:pPr algn="r" rtl="true">
              <a:lnSpc>
                <a:spcPts val="3359"/>
              </a:lnSpc>
            </a:pPr>
            <a:r>
              <a:rPr lang="ar-EG" sz="2799">
                <a:solidFill>
                  <a:srgbClr val="3E2A1E"/>
                </a:solidFill>
                <a:latin typeface="Arial"/>
                <a:ea typeface="Arial"/>
                <a:cs typeface="Arial"/>
                <a:sym typeface="Arial"/>
                <a:rtl val="true"/>
              </a:rPr>
              <a:t>الموقع مخصص للتفعيل النسائي يوماً واحداً في الأسبوع، ويُبنى التشغيل والبرنامج والأنشطة وفق هذا الجدول، دون اعتباره وجهة تشغيل يومية.</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A05E3B">
                <a:alpha val="1961"/>
              </a:srgbClr>
            </a:solidFill>
          </p:spPr>
        </p:sp>
      </p:grpSp>
      <p:grpSp>
        <p:nvGrpSpPr>
          <p:cNvPr name="Group 5" id="5"/>
          <p:cNvGrpSpPr/>
          <p:nvPr/>
        </p:nvGrpSpPr>
        <p:grpSpPr>
          <a:xfrm rot="0">
            <a:off x="11441761" y="815816"/>
            <a:ext cx="6333172" cy="3906440"/>
            <a:chOff x="0" y="0"/>
            <a:chExt cx="8444230" cy="5208586"/>
          </a:xfrm>
        </p:grpSpPr>
        <p:sp>
          <p:nvSpPr>
            <p:cNvPr name="Freeform 6" id="6"/>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4"/>
              <a:stretch>
                <a:fillRect l="-5073" t="0" r="-5073" b="0"/>
              </a:stretch>
            </a:blipFill>
            <a:ln w="23812" cap="sq">
              <a:solidFill>
                <a:srgbClr val="A68460"/>
              </a:solidFill>
              <a:prstDash val="dash"/>
              <a:miter/>
            </a:ln>
          </p:spPr>
        </p:sp>
      </p:grpSp>
      <p:grpSp>
        <p:nvGrpSpPr>
          <p:cNvPr name="Group 7" id="7"/>
          <p:cNvGrpSpPr/>
          <p:nvPr/>
        </p:nvGrpSpPr>
        <p:grpSpPr>
          <a:xfrm rot="0">
            <a:off x="5204936" y="815816"/>
            <a:ext cx="5363528" cy="562928"/>
            <a:chOff x="0" y="0"/>
            <a:chExt cx="7151370" cy="750570"/>
          </a:xfrm>
        </p:grpSpPr>
        <p:sp>
          <p:nvSpPr>
            <p:cNvPr name="Freeform 8" id="8"/>
            <p:cNvSpPr/>
            <p:nvPr/>
          </p:nvSpPr>
          <p:spPr>
            <a:xfrm flipH="false" flipV="false" rot="0">
              <a:off x="0" y="0"/>
              <a:ext cx="7151370" cy="750570"/>
            </a:xfrm>
            <a:custGeom>
              <a:avLst/>
              <a:gdLst/>
              <a:ahLst/>
              <a:cxnLst/>
              <a:rect r="r" b="b" t="t" l="l"/>
              <a:pathLst>
                <a:path h="750570" w="7151370">
                  <a:moveTo>
                    <a:pt x="0" y="375285"/>
                  </a:moveTo>
                  <a:cubicBezTo>
                    <a:pt x="0" y="168021"/>
                    <a:pt x="168021" y="0"/>
                    <a:pt x="375285" y="0"/>
                  </a:cubicBezTo>
                  <a:lnTo>
                    <a:pt x="6776085" y="0"/>
                  </a:lnTo>
                  <a:cubicBezTo>
                    <a:pt x="6983349" y="0"/>
                    <a:pt x="7151370" y="168021"/>
                    <a:pt x="7151370" y="375285"/>
                  </a:cubicBezTo>
                  <a:cubicBezTo>
                    <a:pt x="7151370" y="582549"/>
                    <a:pt x="6983349" y="750570"/>
                    <a:pt x="6776085" y="750570"/>
                  </a:cubicBezTo>
                  <a:lnTo>
                    <a:pt x="375285" y="750570"/>
                  </a:lnTo>
                  <a:cubicBezTo>
                    <a:pt x="168021" y="750570"/>
                    <a:pt x="0" y="582549"/>
                    <a:pt x="0" y="375285"/>
                  </a:cubicBezTo>
                  <a:close/>
                </a:path>
              </a:pathLst>
            </a:custGeom>
            <a:solidFill>
              <a:srgbClr val="A05E3B">
                <a:alpha val="3137"/>
              </a:srgbClr>
            </a:solidFill>
            <a:ln w="14288" cap="sq">
              <a:solidFill>
                <a:srgbClr val="A05E3B"/>
              </a:solidFill>
              <a:prstDash val="solid"/>
              <a:miter/>
            </a:ln>
          </p:spPr>
        </p:sp>
      </p:grpSp>
      <p:grpSp>
        <p:nvGrpSpPr>
          <p:cNvPr name="Group 9" id="9"/>
          <p:cNvGrpSpPr/>
          <p:nvPr/>
        </p:nvGrpSpPr>
        <p:grpSpPr>
          <a:xfrm rot="0">
            <a:off x="10040112" y="946404"/>
            <a:ext cx="301752" cy="301752"/>
            <a:chOff x="0" y="0"/>
            <a:chExt cx="402336" cy="402336"/>
          </a:xfrm>
        </p:grpSpPr>
        <p:sp>
          <p:nvSpPr>
            <p:cNvPr name="Freeform 10" id="10"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grpSp>
        <p:nvGrpSpPr>
          <p:cNvPr name="Group 11" id="11"/>
          <p:cNvGrpSpPr/>
          <p:nvPr/>
        </p:nvGrpSpPr>
        <p:grpSpPr>
          <a:xfrm rot="0">
            <a:off x="5376672" y="822960"/>
            <a:ext cx="4526280" cy="564812"/>
            <a:chOff x="0" y="0"/>
            <a:chExt cx="6035040" cy="753083"/>
          </a:xfrm>
        </p:grpSpPr>
        <p:sp>
          <p:nvSpPr>
            <p:cNvPr name="Freeform 12" id="12"/>
            <p:cNvSpPr/>
            <p:nvPr/>
          </p:nvSpPr>
          <p:spPr>
            <a:xfrm flipH="false" flipV="false" rot="0">
              <a:off x="0" y="0"/>
              <a:ext cx="6035040" cy="753083"/>
            </a:xfrm>
            <a:custGeom>
              <a:avLst/>
              <a:gdLst/>
              <a:ahLst/>
              <a:cxnLst/>
              <a:rect r="r" b="b" t="t" l="l"/>
              <a:pathLst>
                <a:path h="753083" w="6035040">
                  <a:moveTo>
                    <a:pt x="0" y="0"/>
                  </a:moveTo>
                  <a:lnTo>
                    <a:pt x="6035040" y="0"/>
                  </a:lnTo>
                  <a:lnTo>
                    <a:pt x="6035040" y="753083"/>
                  </a:lnTo>
                  <a:lnTo>
                    <a:pt x="0" y="753083"/>
                  </a:lnTo>
                  <a:close/>
                </a:path>
              </a:pathLst>
            </a:custGeom>
            <a:blipFill>
              <a:blip r:embed="rId6">
                <a:alphaModFix amt="0"/>
              </a:blip>
              <a:stretch>
                <a:fillRect l="0" t="-107580" r="0" b="-104717"/>
              </a:stretch>
            </a:blipFill>
          </p:spPr>
        </p:sp>
        <p:sp>
          <p:nvSpPr>
            <p:cNvPr name="TextBox 13" id="13"/>
            <p:cNvSpPr txBox="true"/>
            <p:nvPr/>
          </p:nvSpPr>
          <p:spPr>
            <a:xfrm>
              <a:off x="0" y="-9525"/>
              <a:ext cx="6035040" cy="762608"/>
            </a:xfrm>
            <a:prstGeom prst="rect">
              <a:avLst/>
            </a:prstGeom>
          </p:spPr>
          <p:txBody>
            <a:bodyPr anchor="ctr" rtlCol="false" tIns="0" lIns="0" bIns="0" rIns="0"/>
            <a:lstStyle/>
            <a:p>
              <a:pPr algn="r" rtl="true">
                <a:lnSpc>
                  <a:spcPts val="2340"/>
                </a:lnSpc>
              </a:pPr>
              <a:r>
                <a:rPr lang="ar-EG" b="true" sz="1950" spc="19">
                  <a:solidFill>
                    <a:srgbClr val="A05E3B"/>
                  </a:solidFill>
                  <a:latin typeface="XM Traffic Bold"/>
                  <a:ea typeface="XM Traffic Bold"/>
                  <a:cs typeface="XM Traffic Bold"/>
                  <a:sym typeface="XM Traffic Bold"/>
                  <a:rtl val="true"/>
                </a:rPr>
                <a:t>شقراء — ذاكرة المكان</a:t>
              </a:r>
            </a:p>
          </p:txBody>
        </p:sp>
      </p:grpSp>
      <p:sp>
        <p:nvSpPr>
          <p:cNvPr name="TextBox 14" id="14"/>
          <p:cNvSpPr txBox="true"/>
          <p:nvPr/>
        </p:nvSpPr>
        <p:spPr>
          <a:xfrm rot="0">
            <a:off x="822960" y="1508760"/>
            <a:ext cx="9738360" cy="1714500"/>
          </a:xfrm>
          <a:prstGeom prst="rect">
            <a:avLst/>
          </a:prstGeom>
        </p:spPr>
        <p:txBody>
          <a:bodyPr anchor="t" rtlCol="false" tIns="0" lIns="0" bIns="0" rIns="0">
            <a:spAutoFit/>
          </a:bodyPr>
          <a:lstStyle/>
          <a:p>
            <a:pPr algn="r" rtl="true">
              <a:lnSpc>
                <a:spcPts val="6480"/>
              </a:lnSpc>
            </a:pPr>
            <a:r>
              <a:rPr lang="ar-EG" b="true" sz="5400" spc="55">
                <a:solidFill>
                  <a:srgbClr val="3B2A1E"/>
                </a:solidFill>
                <a:latin typeface="XM Traffic Bold"/>
                <a:ea typeface="XM Traffic Bold"/>
                <a:cs typeface="XM Traffic Bold"/>
                <a:sym typeface="XM Traffic Bold"/>
                <a:rtl val="true"/>
              </a:rPr>
              <a:t>تراث حيّ، وتجربة تتجدد</a:t>
            </a:r>
          </a:p>
        </p:txBody>
      </p:sp>
      <p:sp>
        <p:nvSpPr>
          <p:cNvPr name="TextBox 15" id="15"/>
          <p:cNvSpPr txBox="true"/>
          <p:nvPr/>
        </p:nvSpPr>
        <p:spPr>
          <a:xfrm rot="0">
            <a:off x="822960" y="3253740"/>
            <a:ext cx="9738360" cy="1958340"/>
          </a:xfrm>
          <a:prstGeom prst="rect">
            <a:avLst/>
          </a:prstGeom>
        </p:spPr>
        <p:txBody>
          <a:bodyPr anchor="t" rtlCol="false" tIns="0" lIns="0" bIns="0" rIns="0">
            <a:spAutoFit/>
          </a:bodyPr>
          <a:lstStyle/>
          <a:p>
            <a:pPr algn="r">
              <a:lnSpc>
                <a:spcPts val="3104"/>
              </a:lnSpc>
            </a:pPr>
            <a:r>
              <a:rPr lang="ar-EG" sz="2250" spc="23">
                <a:solidFill>
                  <a:srgbClr val="4A3628"/>
                </a:solidFill>
                <a:latin typeface="XM Traffic"/>
                <a:ea typeface="XM Traffic"/>
                <a:cs typeface="XM Traffic"/>
                <a:sym typeface="XM Traffic"/>
                <a:rtl val="true"/>
              </a:rPr>
              <a:t>في قلب شقراء، نعيد تقديم الأسواق التراثية بروح معاصرة، تحافظ على أصالة المكان وتمنحه حياة جديدة، من خلال تحسين تجربة الزائر، والارتقاء بالمشهد العام، وإبراز القصص والمنتجات المحلية</a:t>
            </a:r>
            <a:r>
              <a:rPr lang="en-US" sz="2250" spc="23">
                <a:solidFill>
                  <a:srgbClr val="4A3628"/>
                </a:solidFill>
                <a:latin typeface="XM Traffic"/>
                <a:ea typeface="XM Traffic"/>
                <a:cs typeface="XM Traffic"/>
                <a:sym typeface="XM Traffic"/>
              </a:rPr>
              <a:t>.</a:t>
            </a:r>
          </a:p>
        </p:txBody>
      </p:sp>
      <p:grpSp>
        <p:nvGrpSpPr>
          <p:cNvPr name="Group 16" id="16"/>
          <p:cNvGrpSpPr/>
          <p:nvPr/>
        </p:nvGrpSpPr>
        <p:grpSpPr>
          <a:xfrm rot="0">
            <a:off x="822960" y="5239512"/>
            <a:ext cx="9738360" cy="411480"/>
            <a:chOff x="0" y="0"/>
            <a:chExt cx="12984480" cy="548640"/>
          </a:xfrm>
        </p:grpSpPr>
        <p:sp>
          <p:nvSpPr>
            <p:cNvPr name="Freeform 17" id="17"/>
            <p:cNvSpPr/>
            <p:nvPr/>
          </p:nvSpPr>
          <p:spPr>
            <a:xfrm flipH="false" flipV="false" rot="0">
              <a:off x="0" y="0"/>
              <a:ext cx="12984480" cy="548640"/>
            </a:xfrm>
            <a:custGeom>
              <a:avLst/>
              <a:gdLst/>
              <a:ahLst/>
              <a:cxnLst/>
              <a:rect r="r" b="b" t="t" l="l"/>
              <a:pathLst>
                <a:path h="548640" w="12984480">
                  <a:moveTo>
                    <a:pt x="0" y="0"/>
                  </a:moveTo>
                  <a:lnTo>
                    <a:pt x="12984480" y="0"/>
                  </a:lnTo>
                  <a:lnTo>
                    <a:pt x="12984480" y="548640"/>
                  </a:lnTo>
                  <a:lnTo>
                    <a:pt x="0" y="548640"/>
                  </a:lnTo>
                  <a:close/>
                </a:path>
              </a:pathLst>
            </a:custGeom>
            <a:blipFill>
              <a:blip r:embed="rId6">
                <a:alphaModFix amt="0"/>
              </a:blip>
              <a:stretch>
                <a:fillRect l="0" t="-411145" r="0" b="-411145"/>
              </a:stretch>
            </a:blipFill>
          </p:spPr>
        </p:sp>
        <p:sp>
          <p:nvSpPr>
            <p:cNvPr name="TextBox 18" id="18"/>
            <p:cNvSpPr txBox="true"/>
            <p:nvPr/>
          </p:nvSpPr>
          <p:spPr>
            <a:xfrm>
              <a:off x="0" y="0"/>
              <a:ext cx="12984480" cy="548640"/>
            </a:xfrm>
            <a:prstGeom prst="rect">
              <a:avLst/>
            </a:prstGeom>
          </p:spPr>
          <p:txBody>
            <a:bodyPr anchor="ctr" rtlCol="false" tIns="0" lIns="0" bIns="0" rIns="0"/>
            <a:lstStyle/>
            <a:p>
              <a:pPr algn="r" rtl="true">
                <a:lnSpc>
                  <a:spcPts val="2520"/>
                </a:lnSpc>
              </a:pPr>
              <a:r>
                <a:rPr lang="ar-EG" b="true" sz="2100" spc="21">
                  <a:solidFill>
                    <a:srgbClr val="A05E3B"/>
                  </a:solidFill>
                  <a:latin typeface="XM Traffic Bold"/>
                  <a:ea typeface="XM Traffic Bold"/>
                  <a:cs typeface="XM Traffic Bold"/>
                  <a:sym typeface="XM Traffic Bold"/>
                  <a:rtl val="true"/>
                </a:rPr>
                <a:t>مكونات التطوير</a:t>
              </a:r>
            </a:p>
          </p:txBody>
        </p:sp>
      </p:grpSp>
      <p:grpSp>
        <p:nvGrpSpPr>
          <p:cNvPr name="Group 19" id="19"/>
          <p:cNvGrpSpPr/>
          <p:nvPr/>
        </p:nvGrpSpPr>
        <p:grpSpPr>
          <a:xfrm rot="0">
            <a:off x="815816" y="5781008"/>
            <a:ext cx="9752648" cy="700088"/>
            <a:chOff x="0" y="0"/>
            <a:chExt cx="13003530" cy="933450"/>
          </a:xfrm>
        </p:grpSpPr>
        <p:sp>
          <p:nvSpPr>
            <p:cNvPr name="Freeform 20" id="20"/>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21" id="21"/>
          <p:cNvGrpSpPr/>
          <p:nvPr/>
        </p:nvGrpSpPr>
        <p:grpSpPr>
          <a:xfrm rot="0">
            <a:off x="9848088" y="5856732"/>
            <a:ext cx="548640" cy="548640"/>
            <a:chOff x="0" y="0"/>
            <a:chExt cx="731520" cy="731520"/>
          </a:xfrm>
        </p:grpSpPr>
        <p:sp>
          <p:nvSpPr>
            <p:cNvPr name="Freeform 22" id="22"/>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23" id="23"/>
          <p:cNvGrpSpPr/>
          <p:nvPr/>
        </p:nvGrpSpPr>
        <p:grpSpPr>
          <a:xfrm rot="0">
            <a:off x="9985248" y="5993892"/>
            <a:ext cx="274320" cy="274320"/>
            <a:chOff x="0" y="0"/>
            <a:chExt cx="365760" cy="365760"/>
          </a:xfrm>
        </p:grpSpPr>
        <p:sp>
          <p:nvSpPr>
            <p:cNvPr name="Freeform 24" id="24"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7"/>
              <a:stretch>
                <a:fillRect l="0" t="0" r="0" b="0"/>
              </a:stretch>
            </a:blipFill>
          </p:spPr>
        </p:sp>
      </p:grpSp>
      <p:grpSp>
        <p:nvGrpSpPr>
          <p:cNvPr name="Group 25" id="25"/>
          <p:cNvGrpSpPr/>
          <p:nvPr/>
        </p:nvGrpSpPr>
        <p:grpSpPr>
          <a:xfrm rot="0">
            <a:off x="987552" y="5788152"/>
            <a:ext cx="8695944" cy="685800"/>
            <a:chOff x="0" y="0"/>
            <a:chExt cx="11594592" cy="914400"/>
          </a:xfrm>
        </p:grpSpPr>
        <p:sp>
          <p:nvSpPr>
            <p:cNvPr name="Freeform 26" id="26"/>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27" id="27"/>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تحسين المشهد البصري وتنظيم عناصر السوق</a:t>
              </a:r>
            </a:p>
          </p:txBody>
        </p:sp>
      </p:grpSp>
      <p:grpSp>
        <p:nvGrpSpPr>
          <p:cNvPr name="Group 28" id="28"/>
          <p:cNvGrpSpPr/>
          <p:nvPr/>
        </p:nvGrpSpPr>
        <p:grpSpPr>
          <a:xfrm rot="0">
            <a:off x="815816" y="6576536"/>
            <a:ext cx="9752648" cy="700088"/>
            <a:chOff x="0" y="0"/>
            <a:chExt cx="13003530" cy="933450"/>
          </a:xfrm>
        </p:grpSpPr>
        <p:sp>
          <p:nvSpPr>
            <p:cNvPr name="Freeform 29" id="29"/>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0" id="30"/>
          <p:cNvGrpSpPr/>
          <p:nvPr/>
        </p:nvGrpSpPr>
        <p:grpSpPr>
          <a:xfrm rot="0">
            <a:off x="9848088" y="6652260"/>
            <a:ext cx="548640" cy="548640"/>
            <a:chOff x="0" y="0"/>
            <a:chExt cx="731520" cy="731520"/>
          </a:xfrm>
        </p:grpSpPr>
        <p:sp>
          <p:nvSpPr>
            <p:cNvPr name="Freeform 31" id="31"/>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32" id="32"/>
          <p:cNvGrpSpPr/>
          <p:nvPr/>
        </p:nvGrpSpPr>
        <p:grpSpPr>
          <a:xfrm rot="0">
            <a:off x="9985248" y="6789420"/>
            <a:ext cx="274320" cy="274320"/>
            <a:chOff x="0" y="0"/>
            <a:chExt cx="365760" cy="365760"/>
          </a:xfrm>
        </p:grpSpPr>
        <p:sp>
          <p:nvSpPr>
            <p:cNvPr name="Freeform 33" id="33"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8"/>
              <a:stretch>
                <a:fillRect l="0" t="0" r="0" b="0"/>
              </a:stretch>
            </a:blipFill>
          </p:spPr>
        </p:sp>
      </p:grpSp>
      <p:grpSp>
        <p:nvGrpSpPr>
          <p:cNvPr name="Group 34" id="34"/>
          <p:cNvGrpSpPr/>
          <p:nvPr/>
        </p:nvGrpSpPr>
        <p:grpSpPr>
          <a:xfrm rot="0">
            <a:off x="987552" y="6583680"/>
            <a:ext cx="8695944" cy="685800"/>
            <a:chOff x="0" y="0"/>
            <a:chExt cx="11594592" cy="914400"/>
          </a:xfrm>
        </p:grpSpPr>
        <p:sp>
          <p:nvSpPr>
            <p:cNvPr name="Freeform 35" id="35"/>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36" id="36"/>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تطوير اللوحات الإرشادية والهوية البصرية</a:t>
              </a:r>
            </a:p>
          </p:txBody>
        </p:sp>
      </p:grpSp>
      <p:grpSp>
        <p:nvGrpSpPr>
          <p:cNvPr name="Group 37" id="37"/>
          <p:cNvGrpSpPr/>
          <p:nvPr/>
        </p:nvGrpSpPr>
        <p:grpSpPr>
          <a:xfrm rot="0">
            <a:off x="815816" y="7372064"/>
            <a:ext cx="9752648" cy="700088"/>
            <a:chOff x="0" y="0"/>
            <a:chExt cx="13003530" cy="933450"/>
          </a:xfrm>
        </p:grpSpPr>
        <p:sp>
          <p:nvSpPr>
            <p:cNvPr name="Freeform 38" id="38"/>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39" id="39"/>
          <p:cNvGrpSpPr/>
          <p:nvPr/>
        </p:nvGrpSpPr>
        <p:grpSpPr>
          <a:xfrm rot="0">
            <a:off x="9848088" y="7447788"/>
            <a:ext cx="548640" cy="548640"/>
            <a:chOff x="0" y="0"/>
            <a:chExt cx="731520" cy="731520"/>
          </a:xfrm>
        </p:grpSpPr>
        <p:sp>
          <p:nvSpPr>
            <p:cNvPr name="Freeform 40" id="40"/>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41" id="41"/>
          <p:cNvGrpSpPr/>
          <p:nvPr/>
        </p:nvGrpSpPr>
        <p:grpSpPr>
          <a:xfrm rot="0">
            <a:off x="9985248" y="7584948"/>
            <a:ext cx="274320" cy="274320"/>
            <a:chOff x="0" y="0"/>
            <a:chExt cx="365760" cy="365760"/>
          </a:xfrm>
        </p:grpSpPr>
        <p:sp>
          <p:nvSpPr>
            <p:cNvPr name="Freeform 42" id="42"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9"/>
              <a:stretch>
                <a:fillRect l="0" t="0" r="0" b="0"/>
              </a:stretch>
            </a:blipFill>
          </p:spPr>
        </p:sp>
      </p:grpSp>
      <p:grpSp>
        <p:nvGrpSpPr>
          <p:cNvPr name="Group 43" id="43"/>
          <p:cNvGrpSpPr/>
          <p:nvPr/>
        </p:nvGrpSpPr>
        <p:grpSpPr>
          <a:xfrm rot="0">
            <a:off x="987552" y="7379208"/>
            <a:ext cx="8695944" cy="685800"/>
            <a:chOff x="0" y="0"/>
            <a:chExt cx="11594592" cy="914400"/>
          </a:xfrm>
        </p:grpSpPr>
        <p:sp>
          <p:nvSpPr>
            <p:cNvPr name="Freeform 44" id="44"/>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45" id="45"/>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ضيافة واستقبال وتوجيه للزوار</a:t>
              </a:r>
            </a:p>
          </p:txBody>
        </p:sp>
      </p:grpSp>
      <p:grpSp>
        <p:nvGrpSpPr>
          <p:cNvPr name="Group 46" id="46"/>
          <p:cNvGrpSpPr/>
          <p:nvPr/>
        </p:nvGrpSpPr>
        <p:grpSpPr>
          <a:xfrm rot="0">
            <a:off x="815816" y="8167592"/>
            <a:ext cx="9752648" cy="700088"/>
            <a:chOff x="0" y="0"/>
            <a:chExt cx="13003530" cy="933450"/>
          </a:xfrm>
        </p:grpSpPr>
        <p:sp>
          <p:nvSpPr>
            <p:cNvPr name="Freeform 47" id="47"/>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48" id="48"/>
          <p:cNvGrpSpPr/>
          <p:nvPr/>
        </p:nvGrpSpPr>
        <p:grpSpPr>
          <a:xfrm rot="0">
            <a:off x="9848088" y="8243316"/>
            <a:ext cx="548640" cy="548640"/>
            <a:chOff x="0" y="0"/>
            <a:chExt cx="731520" cy="731520"/>
          </a:xfrm>
        </p:grpSpPr>
        <p:sp>
          <p:nvSpPr>
            <p:cNvPr name="Freeform 49" id="49"/>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0" id="50"/>
          <p:cNvGrpSpPr/>
          <p:nvPr/>
        </p:nvGrpSpPr>
        <p:grpSpPr>
          <a:xfrm rot="0">
            <a:off x="9985248" y="8380476"/>
            <a:ext cx="274320" cy="274320"/>
            <a:chOff x="0" y="0"/>
            <a:chExt cx="365760" cy="365760"/>
          </a:xfrm>
        </p:grpSpPr>
        <p:sp>
          <p:nvSpPr>
            <p:cNvPr name="Freeform 51" id="51"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0"/>
              <a:stretch>
                <a:fillRect l="0" t="0" r="0" b="0"/>
              </a:stretch>
            </a:blipFill>
          </p:spPr>
        </p:sp>
      </p:grpSp>
      <p:grpSp>
        <p:nvGrpSpPr>
          <p:cNvPr name="Group 52" id="52"/>
          <p:cNvGrpSpPr/>
          <p:nvPr/>
        </p:nvGrpSpPr>
        <p:grpSpPr>
          <a:xfrm rot="0">
            <a:off x="987552" y="8174736"/>
            <a:ext cx="8695944" cy="685800"/>
            <a:chOff x="0" y="0"/>
            <a:chExt cx="11594592" cy="914400"/>
          </a:xfrm>
        </p:grpSpPr>
        <p:sp>
          <p:nvSpPr>
            <p:cNvPr name="Freeform 53" id="53"/>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54" id="54"/>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فريق مخصص للنظافة وجودة الموقع</a:t>
              </a:r>
            </a:p>
          </p:txBody>
        </p:sp>
      </p:grpSp>
      <p:grpSp>
        <p:nvGrpSpPr>
          <p:cNvPr name="Group 55" id="55"/>
          <p:cNvGrpSpPr/>
          <p:nvPr/>
        </p:nvGrpSpPr>
        <p:grpSpPr>
          <a:xfrm rot="0">
            <a:off x="815816" y="8963120"/>
            <a:ext cx="9752648" cy="700088"/>
            <a:chOff x="0" y="0"/>
            <a:chExt cx="13003530" cy="933450"/>
          </a:xfrm>
        </p:grpSpPr>
        <p:sp>
          <p:nvSpPr>
            <p:cNvPr name="Freeform 56" id="56"/>
            <p:cNvSpPr/>
            <p:nvPr/>
          </p:nvSpPr>
          <p:spPr>
            <a:xfrm flipH="false" flipV="false" rot="0">
              <a:off x="0" y="0"/>
              <a:ext cx="13003530" cy="933450"/>
            </a:xfrm>
            <a:custGeom>
              <a:avLst/>
              <a:gdLst/>
              <a:ahLst/>
              <a:cxnLst/>
              <a:rect r="r" b="b" t="t" l="l"/>
              <a:pathLst>
                <a:path h="933450" w="13003530">
                  <a:moveTo>
                    <a:pt x="0" y="261366"/>
                  </a:moveTo>
                  <a:cubicBezTo>
                    <a:pt x="0" y="116967"/>
                    <a:pt x="116967" y="0"/>
                    <a:pt x="261366" y="0"/>
                  </a:cubicBezTo>
                  <a:lnTo>
                    <a:pt x="12742164" y="0"/>
                  </a:lnTo>
                  <a:cubicBezTo>
                    <a:pt x="12886563" y="0"/>
                    <a:pt x="13003530" y="116967"/>
                    <a:pt x="13003530" y="261366"/>
                  </a:cubicBezTo>
                  <a:lnTo>
                    <a:pt x="13003530" y="672084"/>
                  </a:lnTo>
                  <a:cubicBezTo>
                    <a:pt x="13003530" y="816483"/>
                    <a:pt x="12886563" y="933450"/>
                    <a:pt x="12742164" y="933450"/>
                  </a:cubicBezTo>
                  <a:lnTo>
                    <a:pt x="261366" y="933450"/>
                  </a:lnTo>
                  <a:cubicBezTo>
                    <a:pt x="116967" y="933450"/>
                    <a:pt x="0" y="816483"/>
                    <a:pt x="0" y="672084"/>
                  </a:cubicBezTo>
                  <a:close/>
                </a:path>
              </a:pathLst>
            </a:custGeom>
            <a:solidFill>
              <a:srgbClr val="FBF6EE"/>
            </a:solidFill>
            <a:ln w="14288" cap="sq">
              <a:solidFill>
                <a:srgbClr val="E3D3BA"/>
              </a:solidFill>
              <a:prstDash val="solid"/>
              <a:miter/>
            </a:ln>
          </p:spPr>
        </p:sp>
      </p:grpSp>
      <p:grpSp>
        <p:nvGrpSpPr>
          <p:cNvPr name="Group 57" id="57"/>
          <p:cNvGrpSpPr/>
          <p:nvPr/>
        </p:nvGrpSpPr>
        <p:grpSpPr>
          <a:xfrm rot="0">
            <a:off x="9848088" y="9038844"/>
            <a:ext cx="548640" cy="548640"/>
            <a:chOff x="0" y="0"/>
            <a:chExt cx="731520" cy="731520"/>
          </a:xfrm>
        </p:grpSpPr>
        <p:sp>
          <p:nvSpPr>
            <p:cNvPr name="Freeform 58" id="58"/>
            <p:cNvSpPr/>
            <p:nvPr/>
          </p:nvSpPr>
          <p:spPr>
            <a:xfrm flipH="false" flipV="false" rot="0">
              <a:off x="0" y="0"/>
              <a:ext cx="731520" cy="731520"/>
            </a:xfrm>
            <a:custGeom>
              <a:avLst/>
              <a:gdLst/>
              <a:ahLst/>
              <a:cxnLst/>
              <a:rect r="r" b="b" t="t" l="l"/>
              <a:pathLst>
                <a:path h="731520" w="731520">
                  <a:moveTo>
                    <a:pt x="0" y="365760"/>
                  </a:moveTo>
                  <a:cubicBezTo>
                    <a:pt x="0" y="163703"/>
                    <a:pt x="163703" y="0"/>
                    <a:pt x="365760" y="0"/>
                  </a:cubicBezTo>
                  <a:cubicBezTo>
                    <a:pt x="567817" y="0"/>
                    <a:pt x="731520" y="163703"/>
                    <a:pt x="731520" y="365760"/>
                  </a:cubicBezTo>
                  <a:cubicBezTo>
                    <a:pt x="731520" y="567817"/>
                    <a:pt x="567817" y="731520"/>
                    <a:pt x="365760" y="731520"/>
                  </a:cubicBezTo>
                  <a:cubicBezTo>
                    <a:pt x="163703" y="731520"/>
                    <a:pt x="0" y="567817"/>
                    <a:pt x="0" y="365760"/>
                  </a:cubicBezTo>
                  <a:close/>
                </a:path>
              </a:pathLst>
            </a:custGeom>
            <a:solidFill>
              <a:srgbClr val="A05E3B"/>
            </a:solidFill>
          </p:spPr>
        </p:sp>
      </p:grpSp>
      <p:grpSp>
        <p:nvGrpSpPr>
          <p:cNvPr name="Group 59" id="59"/>
          <p:cNvGrpSpPr/>
          <p:nvPr/>
        </p:nvGrpSpPr>
        <p:grpSpPr>
          <a:xfrm rot="0">
            <a:off x="9985248" y="9176004"/>
            <a:ext cx="274320" cy="274320"/>
            <a:chOff x="0" y="0"/>
            <a:chExt cx="365760" cy="365760"/>
          </a:xfrm>
        </p:grpSpPr>
        <p:sp>
          <p:nvSpPr>
            <p:cNvPr name="Freeform 60" id="60" descr="preencoded.png"/>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lnTo>
                    <a:pt x="0" y="0"/>
                  </a:lnTo>
                  <a:close/>
                </a:path>
              </a:pathLst>
            </a:custGeom>
            <a:blipFill>
              <a:blip r:embed="rId11"/>
              <a:stretch>
                <a:fillRect l="0" t="0" r="0" b="0"/>
              </a:stretch>
            </a:blipFill>
          </p:spPr>
        </p:sp>
      </p:grpSp>
      <p:grpSp>
        <p:nvGrpSpPr>
          <p:cNvPr name="Group 61" id="61"/>
          <p:cNvGrpSpPr/>
          <p:nvPr/>
        </p:nvGrpSpPr>
        <p:grpSpPr>
          <a:xfrm rot="0">
            <a:off x="987552" y="8970264"/>
            <a:ext cx="8695944" cy="685800"/>
            <a:chOff x="0" y="0"/>
            <a:chExt cx="11594592" cy="914400"/>
          </a:xfrm>
        </p:grpSpPr>
        <p:sp>
          <p:nvSpPr>
            <p:cNvPr name="Freeform 62" id="62"/>
            <p:cNvSpPr/>
            <p:nvPr/>
          </p:nvSpPr>
          <p:spPr>
            <a:xfrm flipH="false" flipV="false" rot="0">
              <a:off x="0" y="0"/>
              <a:ext cx="11594592" cy="914400"/>
            </a:xfrm>
            <a:custGeom>
              <a:avLst/>
              <a:gdLst/>
              <a:ahLst/>
              <a:cxnLst/>
              <a:rect r="r" b="b" t="t" l="l"/>
              <a:pathLst>
                <a:path h="914400" w="11594592">
                  <a:moveTo>
                    <a:pt x="0" y="0"/>
                  </a:moveTo>
                  <a:lnTo>
                    <a:pt x="11594592" y="0"/>
                  </a:lnTo>
                  <a:lnTo>
                    <a:pt x="11594592" y="914400"/>
                  </a:lnTo>
                  <a:lnTo>
                    <a:pt x="0" y="914400"/>
                  </a:lnTo>
                  <a:close/>
                </a:path>
              </a:pathLst>
            </a:custGeom>
            <a:blipFill>
              <a:blip r:embed="rId6">
                <a:alphaModFix amt="0"/>
              </a:blip>
              <a:stretch>
                <a:fillRect l="0" t="-197070" r="0" b="-197070"/>
              </a:stretch>
            </a:blipFill>
          </p:spPr>
        </p:sp>
        <p:sp>
          <p:nvSpPr>
            <p:cNvPr name="TextBox 63" id="63"/>
            <p:cNvSpPr txBox="true"/>
            <p:nvPr/>
          </p:nvSpPr>
          <p:spPr>
            <a:xfrm>
              <a:off x="0" y="0"/>
              <a:ext cx="11594592" cy="914400"/>
            </a:xfrm>
            <a:prstGeom prst="rect">
              <a:avLst/>
            </a:prstGeom>
          </p:spPr>
          <p:txBody>
            <a:bodyPr anchor="ctr" rtlCol="false" tIns="0" lIns="0" bIns="0" rIns="0"/>
            <a:lstStyle/>
            <a:p>
              <a:pPr algn="r" rtl="true">
                <a:lnSpc>
                  <a:spcPts val="2520"/>
                </a:lnSpc>
              </a:pPr>
              <a:r>
                <a:rPr lang="ar-EG" sz="2100" spc="21">
                  <a:solidFill>
                    <a:srgbClr val="3B2A1E"/>
                  </a:solidFill>
                  <a:latin typeface="XM Traffic"/>
                  <a:ea typeface="XM Traffic"/>
                  <a:cs typeface="XM Traffic"/>
                  <a:sym typeface="XM Traffic"/>
                  <a:rtl val="true"/>
                </a:rPr>
                <a:t>إبراز الممرات والتفاصيل المعمارية التراثية</a:t>
              </a:r>
            </a:p>
          </p:txBody>
        </p:sp>
      </p:grpSp>
      <p:grpSp>
        <p:nvGrpSpPr>
          <p:cNvPr name="Group 64" id="64"/>
          <p:cNvGrpSpPr/>
          <p:nvPr/>
        </p:nvGrpSpPr>
        <p:grpSpPr>
          <a:xfrm rot="0">
            <a:off x="822960" y="9669780"/>
            <a:ext cx="9738360" cy="342900"/>
            <a:chOff x="0" y="0"/>
            <a:chExt cx="12984480" cy="457200"/>
          </a:xfrm>
        </p:grpSpPr>
        <p:sp>
          <p:nvSpPr>
            <p:cNvPr name="Freeform 65" id="65"/>
            <p:cNvSpPr/>
            <p:nvPr/>
          </p:nvSpPr>
          <p:spPr>
            <a:xfrm flipH="false" flipV="false" rot="0">
              <a:off x="0" y="0"/>
              <a:ext cx="12984480" cy="457200"/>
            </a:xfrm>
            <a:custGeom>
              <a:avLst/>
              <a:gdLst/>
              <a:ahLst/>
              <a:cxnLst/>
              <a:rect r="r" b="b" t="t" l="l"/>
              <a:pathLst>
                <a:path h="457200" w="12984480">
                  <a:moveTo>
                    <a:pt x="0" y="0"/>
                  </a:moveTo>
                  <a:lnTo>
                    <a:pt x="12984480" y="0"/>
                  </a:lnTo>
                  <a:lnTo>
                    <a:pt x="12984480" y="457200"/>
                  </a:lnTo>
                  <a:lnTo>
                    <a:pt x="0" y="457200"/>
                  </a:lnTo>
                  <a:close/>
                </a:path>
              </a:pathLst>
            </a:custGeom>
            <a:blipFill>
              <a:blip r:embed="rId6">
                <a:alphaModFix amt="0"/>
              </a:blip>
              <a:stretch>
                <a:fillRect l="0" t="-503375" r="0" b="-503375"/>
              </a:stretch>
            </a:blipFill>
          </p:spPr>
        </p:sp>
        <p:sp>
          <p:nvSpPr>
            <p:cNvPr name="TextBox 66" id="66"/>
            <p:cNvSpPr txBox="true"/>
            <p:nvPr/>
          </p:nvSpPr>
          <p:spPr>
            <a:xfrm>
              <a:off x="0" y="0"/>
              <a:ext cx="12984480" cy="457200"/>
            </a:xfrm>
            <a:prstGeom prst="rect">
              <a:avLst/>
            </a:prstGeom>
          </p:spPr>
          <p:txBody>
            <a:bodyPr anchor="ctr" rtlCol="false" tIns="0" lIns="0" bIns="0" rIns="0"/>
            <a:lstStyle/>
            <a:p>
              <a:pPr algn="r" rtl="true">
                <a:lnSpc>
                  <a:spcPts val="1800"/>
                </a:lnSpc>
              </a:pPr>
              <a:r>
                <a:rPr lang="ar-EG" sz="1500" spc="15">
                  <a:solidFill>
                    <a:srgbClr val="7A5C44"/>
                  </a:solidFill>
                  <a:latin typeface="XM Traffic"/>
                  <a:ea typeface="XM Traffic"/>
                  <a:cs typeface="XM Traffic"/>
                  <a:sym typeface="XM Traffic"/>
                  <a:rtl val="true"/>
                </a:rPr>
                <a:t>تصوّر تطويري مقترح</a:t>
              </a:r>
            </a:p>
          </p:txBody>
        </p:sp>
      </p:grpSp>
      <p:grpSp>
        <p:nvGrpSpPr>
          <p:cNvPr name="Group 67" id="67"/>
          <p:cNvGrpSpPr/>
          <p:nvPr/>
        </p:nvGrpSpPr>
        <p:grpSpPr>
          <a:xfrm rot="0">
            <a:off x="1724939" y="815816"/>
            <a:ext cx="3314290" cy="562928"/>
            <a:chOff x="0" y="0"/>
            <a:chExt cx="4419054" cy="750570"/>
          </a:xfrm>
        </p:grpSpPr>
        <p:sp>
          <p:nvSpPr>
            <p:cNvPr name="Freeform 68" id="68" descr="رابط الموقع على خرائط قوقل">
              <a:hlinkClick r:id="rId12" tooltip="https://www.google.com/maps/search/?api=1&amp;query=%D8%B4%D9%82%D8%B1%D8%A7%D8%A1"/>
            </p:cNvPr>
            <p:cNvSpPr/>
            <p:nvPr/>
          </p:nvSpPr>
          <p:spPr>
            <a:xfrm flipH="false" flipV="false" rot="0">
              <a:off x="0" y="0"/>
              <a:ext cx="4419092" cy="750570"/>
            </a:xfrm>
            <a:custGeom>
              <a:avLst/>
              <a:gdLst/>
              <a:ahLst/>
              <a:cxnLst/>
              <a:rect r="r" b="b" t="t" l="l"/>
              <a:pathLst>
                <a:path h="750570" w="4419092">
                  <a:moveTo>
                    <a:pt x="0" y="375285"/>
                  </a:moveTo>
                  <a:cubicBezTo>
                    <a:pt x="0" y="168021"/>
                    <a:pt x="168021" y="0"/>
                    <a:pt x="375285" y="0"/>
                  </a:cubicBezTo>
                  <a:lnTo>
                    <a:pt x="4043807" y="0"/>
                  </a:lnTo>
                  <a:cubicBezTo>
                    <a:pt x="4251071" y="0"/>
                    <a:pt x="4419092" y="168021"/>
                    <a:pt x="4419092" y="375285"/>
                  </a:cubicBezTo>
                  <a:cubicBezTo>
                    <a:pt x="4419092" y="582549"/>
                    <a:pt x="4251071" y="750570"/>
                    <a:pt x="4043807" y="750570"/>
                  </a:cubicBezTo>
                  <a:lnTo>
                    <a:pt x="375285" y="750570"/>
                  </a:lnTo>
                  <a:cubicBezTo>
                    <a:pt x="168021" y="750570"/>
                    <a:pt x="0" y="582549"/>
                    <a:pt x="0" y="375285"/>
                  </a:cubicBezTo>
                  <a:close/>
                </a:path>
              </a:pathLst>
            </a:custGeom>
            <a:solidFill>
              <a:srgbClr val="3E2D21"/>
            </a:solidFill>
            <a:ln w="14288" cap="sq">
              <a:solidFill>
                <a:srgbClr val="D9A66B"/>
              </a:solidFill>
              <a:prstDash val="solid"/>
              <a:miter/>
            </a:ln>
          </p:spPr>
        </p:sp>
      </p:grpSp>
      <p:grpSp>
        <p:nvGrpSpPr>
          <p:cNvPr name="Group 69" id="69"/>
          <p:cNvGrpSpPr/>
          <p:nvPr/>
        </p:nvGrpSpPr>
        <p:grpSpPr>
          <a:xfrm rot="0">
            <a:off x="4535329" y="946404"/>
            <a:ext cx="301752" cy="301752"/>
            <a:chOff x="0" y="0"/>
            <a:chExt cx="402336" cy="402336"/>
          </a:xfrm>
        </p:grpSpPr>
        <p:sp>
          <p:nvSpPr>
            <p:cNvPr name="Freeform 70" id="70"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13"/>
              <a:stretch>
                <a:fillRect l="0" t="0" r="0" b="0"/>
              </a:stretch>
            </a:blipFill>
          </p:spPr>
        </p:sp>
      </p:grpSp>
      <p:grpSp>
        <p:nvGrpSpPr>
          <p:cNvPr name="Group 71" id="71"/>
          <p:cNvGrpSpPr/>
          <p:nvPr/>
        </p:nvGrpSpPr>
        <p:grpSpPr>
          <a:xfrm rot="0">
            <a:off x="1882083" y="822960"/>
            <a:ext cx="2548252" cy="548640"/>
            <a:chOff x="0" y="0"/>
            <a:chExt cx="3397669" cy="731520"/>
          </a:xfrm>
        </p:grpSpPr>
        <p:sp>
          <p:nvSpPr>
            <p:cNvPr name="Freeform 72" id="72"/>
            <p:cNvSpPr/>
            <p:nvPr/>
          </p:nvSpPr>
          <p:spPr>
            <a:xfrm flipH="false" flipV="false" rot="0">
              <a:off x="0" y="0"/>
              <a:ext cx="3397664" cy="731520"/>
            </a:xfrm>
            <a:custGeom>
              <a:avLst/>
              <a:gdLst/>
              <a:ahLst/>
              <a:cxnLst/>
              <a:rect r="r" b="b" t="t" l="l"/>
              <a:pathLst>
                <a:path h="731520" w="3397664">
                  <a:moveTo>
                    <a:pt x="0" y="0"/>
                  </a:moveTo>
                  <a:lnTo>
                    <a:pt x="3397664" y="0"/>
                  </a:lnTo>
                  <a:lnTo>
                    <a:pt x="3397664" y="731520"/>
                  </a:lnTo>
                  <a:lnTo>
                    <a:pt x="0" y="731520"/>
                  </a:lnTo>
                  <a:close/>
                </a:path>
              </a:pathLst>
            </a:custGeom>
            <a:blipFill>
              <a:blip r:embed="rId6">
                <a:alphaModFix amt="0"/>
              </a:blip>
              <a:stretch>
                <a:fillRect l="0" t="-40501" r="0" b="-40501"/>
              </a:stretch>
            </a:blipFill>
          </p:spPr>
        </p:sp>
        <p:sp>
          <p:nvSpPr>
            <p:cNvPr name="TextBox 73" id="73"/>
            <p:cNvSpPr txBox="true"/>
            <p:nvPr/>
          </p:nvSpPr>
          <p:spPr>
            <a:xfrm>
              <a:off x="0" y="0"/>
              <a:ext cx="3397669" cy="731520"/>
            </a:xfrm>
            <a:prstGeom prst="rect">
              <a:avLst/>
            </a:prstGeom>
          </p:spPr>
          <p:txBody>
            <a:bodyPr anchor="ctr" rtlCol="false" tIns="0" lIns="0" bIns="0" rIns="0"/>
            <a:lstStyle/>
            <a:p>
              <a:pPr algn="r" rtl="true">
                <a:lnSpc>
                  <a:spcPts val="1980"/>
                </a:lnSpc>
              </a:pPr>
              <a:r>
                <a:rPr lang="ar-EG" sz="1650" spc="17" u="sng">
                  <a:solidFill>
                    <a:srgbClr val="F3E3C8"/>
                  </a:solidFill>
                  <a:latin typeface="XM Traffic"/>
                  <a:ea typeface="XM Traffic"/>
                  <a:cs typeface="XM Traffic"/>
                  <a:sym typeface="XM Traffic"/>
                  <a:hlinkClick r:id="rId14" tooltip="https://maps.app.goo.gl/9tJd7FBf5j8e6kVa6?g_st=iw"/>
                  <a:rtl val="true"/>
                </a:rPr>
                <a:t> موقع </a:t>
              </a:r>
              <a:r>
                <a:rPr lang="ar-EG" b="true" sz="1650" spc="17" u="sng">
                  <a:solidFill>
                    <a:srgbClr val="F3E3C8"/>
                  </a:solidFill>
                  <a:latin typeface="XM Traffic Bold"/>
                  <a:ea typeface="XM Traffic Bold"/>
                  <a:cs typeface="XM Traffic Bold"/>
                  <a:sym typeface="XM Traffic Bold"/>
                  <a:hlinkClick r:id="rId15" tooltip="https://maps.app.goo.gl/9tJd7FBf5j8e6kVa6?g_st=iw"/>
                  <a:rtl val="true"/>
                </a:rPr>
                <a:t>س</a:t>
              </a:r>
              <a:r>
                <a:rPr lang="ar-EG" b="true" sz="1650" spc="17" u="sng">
                  <a:solidFill>
                    <a:srgbClr val="F3E3C8"/>
                  </a:solidFill>
                  <a:latin typeface="XM Traffic Bold"/>
                  <a:ea typeface="XM Traffic Bold"/>
                  <a:cs typeface="XM Traffic Bold"/>
                  <a:sym typeface="XM Traffic Bold"/>
                  <a:hlinkClick r:id="rId16" tooltip="https://maps.app.goo.gl/9tJd7FBf5j8e6kVa6?g_st=iw"/>
                  <a:rtl val="true"/>
                </a:rPr>
                <a:t>وق المجلس بـ شقراء</a:t>
              </a:r>
            </a:p>
          </p:txBody>
        </p:sp>
      </p:grpSp>
      <p:grpSp>
        <p:nvGrpSpPr>
          <p:cNvPr name="Group 74" id="74"/>
          <p:cNvGrpSpPr/>
          <p:nvPr/>
        </p:nvGrpSpPr>
        <p:grpSpPr>
          <a:xfrm rot="0">
            <a:off x="11441761" y="5650992"/>
            <a:ext cx="6333172" cy="3906440"/>
            <a:chOff x="0" y="0"/>
            <a:chExt cx="8444230" cy="5208586"/>
          </a:xfrm>
        </p:grpSpPr>
        <p:sp>
          <p:nvSpPr>
            <p:cNvPr name="Freeform 75" id="75"/>
            <p:cNvSpPr/>
            <p:nvPr/>
          </p:nvSpPr>
          <p:spPr>
            <a:xfrm flipH="false" flipV="false" rot="0">
              <a:off x="0" y="0"/>
              <a:ext cx="8444230" cy="5208586"/>
            </a:xfrm>
            <a:custGeom>
              <a:avLst/>
              <a:gdLst/>
              <a:ahLst/>
              <a:cxnLst/>
              <a:rect r="r" b="b" t="t" l="l"/>
              <a:pathLst>
                <a:path h="5208586" w="8444230">
                  <a:moveTo>
                    <a:pt x="0" y="331055"/>
                  </a:moveTo>
                  <a:cubicBezTo>
                    <a:pt x="0" y="148236"/>
                    <a:pt x="328803" y="0"/>
                    <a:pt x="734314" y="0"/>
                  </a:cubicBezTo>
                  <a:lnTo>
                    <a:pt x="7709916" y="0"/>
                  </a:lnTo>
                  <a:cubicBezTo>
                    <a:pt x="8115427" y="0"/>
                    <a:pt x="8444230" y="148236"/>
                    <a:pt x="8444230" y="331055"/>
                  </a:cubicBezTo>
                  <a:lnTo>
                    <a:pt x="8444230" y="4877531"/>
                  </a:lnTo>
                  <a:cubicBezTo>
                    <a:pt x="8444230" y="5060350"/>
                    <a:pt x="8115427" y="5208586"/>
                    <a:pt x="7709916" y="5208586"/>
                  </a:cubicBezTo>
                  <a:lnTo>
                    <a:pt x="734314" y="5208586"/>
                  </a:lnTo>
                  <a:cubicBezTo>
                    <a:pt x="328803" y="5208586"/>
                    <a:pt x="0" y="5060350"/>
                    <a:pt x="0" y="4877531"/>
                  </a:cubicBezTo>
                  <a:close/>
                </a:path>
              </a:pathLst>
            </a:custGeom>
            <a:blipFill>
              <a:blip r:embed="rId17"/>
              <a:stretch>
                <a:fillRect l="-5073" t="0" r="-5073" b="0"/>
              </a:stretch>
            </a:blipFill>
            <a:ln w="23812" cap="sq">
              <a:solidFill>
                <a:srgbClr val="A68460"/>
              </a:solidFill>
              <a:prstDash val="dash"/>
              <a:miter/>
            </a:ln>
          </p:spPr>
        </p:sp>
      </p:grpSp>
      <p:sp>
        <p:nvSpPr>
          <p:cNvPr name="Freeform 76" id="76"/>
          <p:cNvSpPr/>
          <p:nvPr/>
        </p:nvSpPr>
        <p:spPr>
          <a:xfrm flipH="false" flipV="false" rot="0">
            <a:off x="179617" y="283957"/>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18"/>
            <a:stretch>
              <a:fillRect l="0" t="-22113" r="0" b="-17967"/>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929765" y="7534275"/>
            <a:ext cx="4956810" cy="4956810"/>
            <a:chOff x="0" y="0"/>
            <a:chExt cx="6609080" cy="6609080"/>
          </a:xfrm>
        </p:grpSpPr>
        <p:sp>
          <p:nvSpPr>
            <p:cNvPr name="Freeform 4" id="4"/>
            <p:cNvSpPr/>
            <p:nvPr/>
          </p:nvSpPr>
          <p:spPr>
            <a:xfrm flipH="false" flipV="false" rot="0">
              <a:off x="0" y="0"/>
              <a:ext cx="6609080" cy="6609080"/>
            </a:xfrm>
            <a:custGeom>
              <a:avLst/>
              <a:gdLst/>
              <a:ahLst/>
              <a:cxnLst/>
              <a:rect r="r" b="b" t="t" l="l"/>
              <a:pathLst>
                <a:path h="6609080" w="6609080">
                  <a:moveTo>
                    <a:pt x="0" y="3304540"/>
                  </a:moveTo>
                  <a:cubicBezTo>
                    <a:pt x="0" y="1479550"/>
                    <a:pt x="1479550" y="0"/>
                    <a:pt x="3304540" y="0"/>
                  </a:cubicBezTo>
                  <a:cubicBezTo>
                    <a:pt x="5129530" y="0"/>
                    <a:pt x="6609080" y="1479550"/>
                    <a:pt x="6609080" y="3304540"/>
                  </a:cubicBezTo>
                  <a:cubicBezTo>
                    <a:pt x="6609080" y="5129530"/>
                    <a:pt x="5129530" y="6609080"/>
                    <a:pt x="3304540" y="6609080"/>
                  </a:cubicBezTo>
                  <a:cubicBezTo>
                    <a:pt x="1479550" y="6609080"/>
                    <a:pt x="0" y="5129530"/>
                    <a:pt x="0" y="3304540"/>
                  </a:cubicBezTo>
                  <a:close/>
                </a:path>
              </a:pathLst>
            </a:custGeom>
            <a:solidFill>
              <a:srgbClr val="C49A7A">
                <a:alpha val="1176"/>
              </a:srgbClr>
            </a:solidFill>
          </p:spPr>
        </p:sp>
      </p:grpSp>
      <p:grpSp>
        <p:nvGrpSpPr>
          <p:cNvPr name="Group 5" id="5"/>
          <p:cNvGrpSpPr/>
          <p:nvPr/>
        </p:nvGrpSpPr>
        <p:grpSpPr>
          <a:xfrm rot="0">
            <a:off x="10040112" y="946404"/>
            <a:ext cx="301752" cy="301752"/>
            <a:chOff x="0" y="0"/>
            <a:chExt cx="402336" cy="402336"/>
          </a:xfrm>
        </p:grpSpPr>
        <p:sp>
          <p:nvSpPr>
            <p:cNvPr name="Freeform 6" id="6" descr="preencoded.png"/>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4"/>
              <a:stretch>
                <a:fillRect l="0" t="0" r="0" b="0"/>
              </a:stretch>
            </a:blipFill>
          </p:spPr>
        </p:sp>
      </p:grpSp>
      <p:grpSp>
        <p:nvGrpSpPr>
          <p:cNvPr name="Group 7" id="7"/>
          <p:cNvGrpSpPr/>
          <p:nvPr/>
        </p:nvGrpSpPr>
        <p:grpSpPr>
          <a:xfrm rot="0">
            <a:off x="3383185" y="946404"/>
            <a:ext cx="301752" cy="301752"/>
            <a:chOff x="0" y="0"/>
            <a:chExt cx="402336" cy="402336"/>
          </a:xfrm>
        </p:grpSpPr>
        <p:sp>
          <p:nvSpPr>
            <p:cNvPr name="Freeform 8" id="8" descr="أيقونة موقع"/>
            <p:cNvSpPr/>
            <p:nvPr/>
          </p:nvSpPr>
          <p:spPr>
            <a:xfrm flipH="false" flipV="false" rot="0">
              <a:off x="0" y="0"/>
              <a:ext cx="402336" cy="402336"/>
            </a:xfrm>
            <a:custGeom>
              <a:avLst/>
              <a:gdLst/>
              <a:ahLst/>
              <a:cxnLst/>
              <a:rect r="r" b="b" t="t" l="l"/>
              <a:pathLst>
                <a:path h="402336" w="402336">
                  <a:moveTo>
                    <a:pt x="0" y="0"/>
                  </a:moveTo>
                  <a:lnTo>
                    <a:pt x="402336" y="0"/>
                  </a:lnTo>
                  <a:lnTo>
                    <a:pt x="402336" y="402336"/>
                  </a:lnTo>
                  <a:lnTo>
                    <a:pt x="0" y="402336"/>
                  </a:lnTo>
                  <a:lnTo>
                    <a:pt x="0" y="0"/>
                  </a:lnTo>
                  <a:close/>
                </a:path>
              </a:pathLst>
            </a:custGeom>
            <a:blipFill>
              <a:blip r:embed="rId5"/>
              <a:stretch>
                <a:fillRect l="0" t="0" r="0" b="0"/>
              </a:stretch>
            </a:blipFill>
          </p:spPr>
        </p:sp>
      </p:grpSp>
      <p:sp>
        <p:nvSpPr>
          <p:cNvPr name="Freeform 9" id="9"/>
          <p:cNvSpPr/>
          <p:nvPr/>
        </p:nvSpPr>
        <p:spPr>
          <a:xfrm flipH="false" flipV="false" rot="0">
            <a:off x="16912690" y="152056"/>
            <a:ext cx="1002397" cy="958103"/>
          </a:xfrm>
          <a:custGeom>
            <a:avLst/>
            <a:gdLst/>
            <a:ahLst/>
            <a:cxnLst/>
            <a:rect r="r" b="b" t="t" l="l"/>
            <a:pathLst>
              <a:path h="958103" w="1002397">
                <a:moveTo>
                  <a:pt x="0" y="0"/>
                </a:moveTo>
                <a:lnTo>
                  <a:pt x="1002397" y="0"/>
                </a:lnTo>
                <a:lnTo>
                  <a:pt x="1002397" y="958103"/>
                </a:lnTo>
                <a:lnTo>
                  <a:pt x="0" y="958103"/>
                </a:lnTo>
                <a:lnTo>
                  <a:pt x="0" y="0"/>
                </a:lnTo>
                <a:close/>
              </a:path>
            </a:pathLst>
          </a:custGeom>
          <a:blipFill>
            <a:blip r:embed="rId6"/>
            <a:stretch>
              <a:fillRect l="0" t="-22113" r="0" b="-17967"/>
            </a:stretch>
          </a:blipFill>
        </p:spPr>
      </p:sp>
      <p:grpSp>
        <p:nvGrpSpPr>
          <p:cNvPr name="Group 10" id="10"/>
          <p:cNvGrpSpPr/>
          <p:nvPr/>
        </p:nvGrpSpPr>
        <p:grpSpPr>
          <a:xfrm rot="0">
            <a:off x="914400" y="548640"/>
            <a:ext cx="16459200" cy="1280160"/>
            <a:chOff x="0" y="0"/>
            <a:chExt cx="21945600" cy="1706880"/>
          </a:xfrm>
        </p:grpSpPr>
        <p:sp>
          <p:nvSpPr>
            <p:cNvPr name="Freeform 11" id="11"/>
            <p:cNvSpPr/>
            <p:nvPr/>
          </p:nvSpPr>
          <p:spPr>
            <a:xfrm flipH="false" flipV="false" rot="0">
              <a:off x="0" y="0"/>
              <a:ext cx="21945600" cy="1706880"/>
            </a:xfrm>
            <a:custGeom>
              <a:avLst/>
              <a:gdLst/>
              <a:ahLst/>
              <a:cxnLst/>
              <a:rect r="r" b="b" t="t" l="l"/>
              <a:pathLst>
                <a:path h="1706880" w="21945600">
                  <a:moveTo>
                    <a:pt x="0" y="0"/>
                  </a:moveTo>
                  <a:lnTo>
                    <a:pt x="21945600" y="0"/>
                  </a:lnTo>
                  <a:lnTo>
                    <a:pt x="21945600" y="1706880"/>
                  </a:lnTo>
                  <a:lnTo>
                    <a:pt x="0" y="1706880"/>
                  </a:lnTo>
                  <a:close/>
                </a:path>
              </a:pathLst>
            </a:custGeom>
            <a:blipFill>
              <a:blip r:embed="rId7">
                <a:alphaModFix amt="0"/>
              </a:blip>
              <a:stretch>
                <a:fillRect l="0" t="-200521" r="0" b="-200521"/>
              </a:stretch>
            </a:blipFill>
          </p:spPr>
        </p:sp>
        <p:sp>
          <p:nvSpPr>
            <p:cNvPr name="TextBox 12" id="12"/>
            <p:cNvSpPr txBox="true"/>
            <p:nvPr/>
          </p:nvSpPr>
          <p:spPr>
            <a:xfrm>
              <a:off x="0" y="-28575"/>
              <a:ext cx="21945600" cy="1735455"/>
            </a:xfrm>
            <a:prstGeom prst="rect">
              <a:avLst/>
            </a:prstGeom>
          </p:spPr>
          <p:txBody>
            <a:bodyPr anchor="ctr" rtlCol="false" tIns="0" lIns="0" bIns="0" rIns="0"/>
            <a:lstStyle/>
            <a:p>
              <a:pPr algn="r" rtl="true">
                <a:lnSpc>
                  <a:spcPts val="8160"/>
                </a:lnSpc>
              </a:pPr>
              <a:r>
                <a:rPr lang="ar-EG" b="true" sz="6800">
                  <a:solidFill>
                    <a:srgbClr val="3E2A1E"/>
                  </a:solidFill>
                  <a:latin typeface="Arial Bold"/>
                  <a:ea typeface="Arial Bold"/>
                  <a:cs typeface="Arial Bold"/>
                  <a:sym typeface="Arial Bold"/>
                  <a:rtl val="true"/>
                </a:rPr>
                <a:t>التوجيه العام للمصمم</a:t>
              </a:r>
            </a:p>
          </p:txBody>
        </p:sp>
      </p:grpSp>
      <p:grpSp>
        <p:nvGrpSpPr>
          <p:cNvPr name="Group 13" id="13"/>
          <p:cNvGrpSpPr/>
          <p:nvPr/>
        </p:nvGrpSpPr>
        <p:grpSpPr>
          <a:xfrm rot="0">
            <a:off x="914400" y="1828800"/>
            <a:ext cx="16459200" cy="731520"/>
            <a:chOff x="0" y="0"/>
            <a:chExt cx="21945600" cy="975360"/>
          </a:xfrm>
        </p:grpSpPr>
        <p:sp>
          <p:nvSpPr>
            <p:cNvPr name="Freeform 14" id="14"/>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7">
                <a:alphaModFix amt="0"/>
              </a:blip>
              <a:stretch>
                <a:fillRect l="0" t="-388413" r="0" b="-388413"/>
              </a:stretch>
            </a:blipFill>
          </p:spPr>
        </p:sp>
        <p:sp>
          <p:nvSpPr>
            <p:cNvPr name="TextBox 15" id="15"/>
            <p:cNvSpPr txBox="true"/>
            <p:nvPr/>
          </p:nvSpPr>
          <p:spPr>
            <a:xfrm>
              <a:off x="0" y="-19050"/>
              <a:ext cx="21945600" cy="994410"/>
            </a:xfrm>
            <a:prstGeom prst="rect">
              <a:avLst/>
            </a:prstGeom>
          </p:spPr>
          <p:txBody>
            <a:bodyPr anchor="ctr" rtlCol="false" tIns="0" lIns="0" bIns="0" rIns="0"/>
            <a:lstStyle/>
            <a:p>
              <a:pPr algn="r" rtl="true">
                <a:lnSpc>
                  <a:spcPts val="3359"/>
                </a:lnSpc>
              </a:pPr>
              <a:r>
                <a:rPr lang="ar-EG" sz="2799">
                  <a:solidFill>
                    <a:srgbClr val="5E4B3C"/>
                  </a:solidFill>
                  <a:latin typeface="Arial"/>
                  <a:ea typeface="Arial"/>
                  <a:cs typeface="Arial"/>
                  <a:sym typeface="Arial"/>
                  <a:rtl val="true"/>
                </a:rPr>
                <a:t>المطلوب تصور متكامل للمواقع الخمسة، لكل موقع هوية مستقلة ترتبط بالمظلة العامة لمسار الشمال.</a:t>
              </a:r>
            </a:p>
          </p:txBody>
        </p:sp>
      </p:grpSp>
      <p:grpSp>
        <p:nvGrpSpPr>
          <p:cNvPr name="Group 16" id="16"/>
          <p:cNvGrpSpPr/>
          <p:nvPr/>
        </p:nvGrpSpPr>
        <p:grpSpPr>
          <a:xfrm rot="0">
            <a:off x="901703" y="2821943"/>
            <a:ext cx="16484603" cy="1195835"/>
            <a:chOff x="0" y="0"/>
            <a:chExt cx="21979471" cy="1594447"/>
          </a:xfrm>
        </p:grpSpPr>
        <p:sp>
          <p:nvSpPr>
            <p:cNvPr name="Freeform 17" id="17"/>
            <p:cNvSpPr/>
            <p:nvPr/>
          </p:nvSpPr>
          <p:spPr>
            <a:xfrm flipH="false" flipV="false" rot="0">
              <a:off x="0" y="0"/>
              <a:ext cx="21979510" cy="1594485"/>
            </a:xfrm>
            <a:custGeom>
              <a:avLst/>
              <a:gdLst/>
              <a:ahLst/>
              <a:cxnLst/>
              <a:rect r="r" b="b" t="t" l="l"/>
              <a:pathLst>
                <a:path h="1594485" w="21979510">
                  <a:moveTo>
                    <a:pt x="0" y="249174"/>
                  </a:moveTo>
                  <a:cubicBezTo>
                    <a:pt x="0" y="111506"/>
                    <a:pt x="111506" y="0"/>
                    <a:pt x="249174" y="0"/>
                  </a:cubicBezTo>
                  <a:lnTo>
                    <a:pt x="21730336" y="0"/>
                  </a:lnTo>
                  <a:cubicBezTo>
                    <a:pt x="21867876" y="0"/>
                    <a:pt x="21979510" y="111506"/>
                    <a:pt x="21979510" y="249174"/>
                  </a:cubicBezTo>
                  <a:lnTo>
                    <a:pt x="21979510" y="1345311"/>
                  </a:lnTo>
                  <a:cubicBezTo>
                    <a:pt x="21979510" y="1482852"/>
                    <a:pt x="21868003" y="1594485"/>
                    <a:pt x="21730336" y="1594485"/>
                  </a:cubicBezTo>
                  <a:lnTo>
                    <a:pt x="249174" y="1594485"/>
                  </a:lnTo>
                  <a:cubicBezTo>
                    <a:pt x="111506" y="1594485"/>
                    <a:pt x="0" y="1482852"/>
                    <a:pt x="0" y="1345311"/>
                  </a:cubicBezTo>
                  <a:close/>
                </a:path>
              </a:pathLst>
            </a:custGeom>
            <a:solidFill>
              <a:srgbClr val="F1E6D3"/>
            </a:solidFill>
            <a:ln w="25400" cap="sq">
              <a:solidFill>
                <a:srgbClr val="F1E6D3"/>
              </a:solidFill>
              <a:prstDash val="solid"/>
              <a:miter/>
            </a:ln>
          </p:spPr>
        </p:sp>
      </p:grpSp>
      <p:grpSp>
        <p:nvGrpSpPr>
          <p:cNvPr name="Group 18" id="18"/>
          <p:cNvGrpSpPr/>
          <p:nvPr/>
        </p:nvGrpSpPr>
        <p:grpSpPr>
          <a:xfrm rot="0">
            <a:off x="16080743" y="3041399"/>
            <a:ext cx="756923" cy="756923"/>
            <a:chOff x="0" y="0"/>
            <a:chExt cx="1009231" cy="1009231"/>
          </a:xfrm>
        </p:grpSpPr>
        <p:sp>
          <p:nvSpPr>
            <p:cNvPr name="Freeform 19" id="19"/>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7A5230"/>
            </a:solidFill>
            <a:ln w="25400" cap="sq">
              <a:solidFill>
                <a:srgbClr val="7A5230"/>
              </a:solidFill>
              <a:prstDash val="solid"/>
              <a:miter/>
            </a:ln>
          </p:spPr>
        </p:sp>
      </p:grpSp>
      <p:grpSp>
        <p:nvGrpSpPr>
          <p:cNvPr name="Group 20" id="20"/>
          <p:cNvGrpSpPr/>
          <p:nvPr/>
        </p:nvGrpSpPr>
        <p:grpSpPr>
          <a:xfrm rot="0">
            <a:off x="16239744" y="3200400"/>
            <a:ext cx="438912" cy="438912"/>
            <a:chOff x="0" y="0"/>
            <a:chExt cx="585216" cy="585216"/>
          </a:xfrm>
        </p:grpSpPr>
        <p:sp>
          <p:nvSpPr>
            <p:cNvPr name="Freeform 21" id="21"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8"/>
              <a:stretch>
                <a:fillRect l="0" t="0" r="0" b="0"/>
              </a:stretch>
            </a:blipFill>
          </p:spPr>
        </p:sp>
      </p:grpSp>
      <p:grpSp>
        <p:nvGrpSpPr>
          <p:cNvPr name="Group 22" id="22"/>
          <p:cNvGrpSpPr/>
          <p:nvPr/>
        </p:nvGrpSpPr>
        <p:grpSpPr>
          <a:xfrm rot="0">
            <a:off x="1280160" y="2834640"/>
            <a:ext cx="14447520" cy="1170432"/>
            <a:chOff x="0" y="0"/>
            <a:chExt cx="19263360" cy="1560576"/>
          </a:xfrm>
        </p:grpSpPr>
        <p:sp>
          <p:nvSpPr>
            <p:cNvPr name="Freeform 23" id="23"/>
            <p:cNvSpPr/>
            <p:nvPr/>
          </p:nvSpPr>
          <p:spPr>
            <a:xfrm flipH="false" flipV="false" rot="0">
              <a:off x="0" y="0"/>
              <a:ext cx="19263361" cy="1560576"/>
            </a:xfrm>
            <a:custGeom>
              <a:avLst/>
              <a:gdLst/>
              <a:ahLst/>
              <a:cxnLst/>
              <a:rect r="r" b="b" t="t" l="l"/>
              <a:pathLst>
                <a:path h="1560576" w="19263361">
                  <a:moveTo>
                    <a:pt x="0" y="0"/>
                  </a:moveTo>
                  <a:lnTo>
                    <a:pt x="19263361" y="0"/>
                  </a:lnTo>
                  <a:lnTo>
                    <a:pt x="19263361" y="1560576"/>
                  </a:lnTo>
                  <a:lnTo>
                    <a:pt x="0" y="1560576"/>
                  </a:lnTo>
                  <a:close/>
                </a:path>
              </a:pathLst>
            </a:custGeom>
            <a:blipFill>
              <a:blip r:embed="rId7">
                <a:alphaModFix amt="0"/>
              </a:blip>
              <a:stretch>
                <a:fillRect l="0" t="-190518" r="0" b="-190518"/>
              </a:stretch>
            </a:blipFill>
          </p:spPr>
        </p:sp>
        <p:sp>
          <p:nvSpPr>
            <p:cNvPr name="TextBox 24" id="24"/>
            <p:cNvSpPr txBox="true"/>
            <p:nvPr/>
          </p:nvSpPr>
          <p:spPr>
            <a:xfrm>
              <a:off x="0" y="-19050"/>
              <a:ext cx="19263360" cy="1579626"/>
            </a:xfrm>
            <a:prstGeom prst="rect">
              <a:avLst/>
            </a:prstGeom>
          </p:spPr>
          <p:txBody>
            <a:bodyPr anchor="ctr" rtlCol="false" tIns="0" lIns="0" bIns="0" rIns="0"/>
            <a:lstStyle/>
            <a:p>
              <a:pPr algn="r" rtl="true">
                <a:lnSpc>
                  <a:spcPts val="3359"/>
                </a:lnSpc>
              </a:pPr>
              <a:r>
                <a:rPr lang="ar-EG" sz="2799">
                  <a:solidFill>
                    <a:srgbClr val="3E2A1E"/>
                  </a:solidFill>
                  <a:latin typeface="Arial"/>
                  <a:ea typeface="Arial"/>
                  <a:cs typeface="Arial"/>
                  <a:sym typeface="Arial"/>
                  <a:rtl val="true"/>
                </a:rPr>
                <a:t>هوية بصرية مستقلة لكل موقع تشمل الشعار والألوان والخطوط والسلوغن.</a:t>
              </a:r>
            </a:p>
          </p:txBody>
        </p:sp>
      </p:grpSp>
      <p:grpSp>
        <p:nvGrpSpPr>
          <p:cNvPr name="Group 25" id="25"/>
          <p:cNvGrpSpPr/>
          <p:nvPr/>
        </p:nvGrpSpPr>
        <p:grpSpPr>
          <a:xfrm rot="0">
            <a:off x="901703" y="4175255"/>
            <a:ext cx="16484603" cy="1195835"/>
            <a:chOff x="0" y="0"/>
            <a:chExt cx="21979471" cy="1594447"/>
          </a:xfrm>
        </p:grpSpPr>
        <p:sp>
          <p:nvSpPr>
            <p:cNvPr name="Freeform 26" id="26"/>
            <p:cNvSpPr/>
            <p:nvPr/>
          </p:nvSpPr>
          <p:spPr>
            <a:xfrm flipH="false" flipV="false" rot="0">
              <a:off x="0" y="0"/>
              <a:ext cx="21979510" cy="1594485"/>
            </a:xfrm>
            <a:custGeom>
              <a:avLst/>
              <a:gdLst/>
              <a:ahLst/>
              <a:cxnLst/>
              <a:rect r="r" b="b" t="t" l="l"/>
              <a:pathLst>
                <a:path h="1594485" w="21979510">
                  <a:moveTo>
                    <a:pt x="0" y="249174"/>
                  </a:moveTo>
                  <a:cubicBezTo>
                    <a:pt x="0" y="111506"/>
                    <a:pt x="111506" y="0"/>
                    <a:pt x="249174" y="0"/>
                  </a:cubicBezTo>
                  <a:lnTo>
                    <a:pt x="21730336" y="0"/>
                  </a:lnTo>
                  <a:cubicBezTo>
                    <a:pt x="21867876" y="0"/>
                    <a:pt x="21979510" y="111506"/>
                    <a:pt x="21979510" y="249174"/>
                  </a:cubicBezTo>
                  <a:lnTo>
                    <a:pt x="21979510" y="1345311"/>
                  </a:lnTo>
                  <a:cubicBezTo>
                    <a:pt x="21979510" y="1482852"/>
                    <a:pt x="21868003" y="1594485"/>
                    <a:pt x="21730336" y="1594485"/>
                  </a:cubicBezTo>
                  <a:lnTo>
                    <a:pt x="249174" y="1594485"/>
                  </a:lnTo>
                  <a:cubicBezTo>
                    <a:pt x="111506" y="1594485"/>
                    <a:pt x="0" y="1482852"/>
                    <a:pt x="0" y="1345311"/>
                  </a:cubicBezTo>
                  <a:close/>
                </a:path>
              </a:pathLst>
            </a:custGeom>
            <a:solidFill>
              <a:srgbClr val="EEDFC8"/>
            </a:solidFill>
            <a:ln w="25400" cap="sq">
              <a:solidFill>
                <a:srgbClr val="EEDFC8"/>
              </a:solidFill>
              <a:prstDash val="solid"/>
              <a:miter/>
            </a:ln>
          </p:spPr>
        </p:sp>
      </p:grpSp>
      <p:grpSp>
        <p:nvGrpSpPr>
          <p:cNvPr name="Group 27" id="27"/>
          <p:cNvGrpSpPr/>
          <p:nvPr/>
        </p:nvGrpSpPr>
        <p:grpSpPr>
          <a:xfrm rot="0">
            <a:off x="16080743" y="4394711"/>
            <a:ext cx="756923" cy="756923"/>
            <a:chOff x="0" y="0"/>
            <a:chExt cx="1009231" cy="1009231"/>
          </a:xfrm>
        </p:grpSpPr>
        <p:sp>
          <p:nvSpPr>
            <p:cNvPr name="Freeform 28" id="28"/>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9A5B34"/>
            </a:solidFill>
            <a:ln w="25400" cap="sq">
              <a:solidFill>
                <a:srgbClr val="9A5B34"/>
              </a:solidFill>
              <a:prstDash val="solid"/>
              <a:miter/>
            </a:ln>
          </p:spPr>
        </p:sp>
      </p:grpSp>
      <p:grpSp>
        <p:nvGrpSpPr>
          <p:cNvPr name="Group 29" id="29"/>
          <p:cNvGrpSpPr/>
          <p:nvPr/>
        </p:nvGrpSpPr>
        <p:grpSpPr>
          <a:xfrm rot="0">
            <a:off x="16239744" y="4553712"/>
            <a:ext cx="438912" cy="438912"/>
            <a:chOff x="0" y="0"/>
            <a:chExt cx="585216" cy="585216"/>
          </a:xfrm>
        </p:grpSpPr>
        <p:sp>
          <p:nvSpPr>
            <p:cNvPr name="Freeform 30" id="30"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9"/>
              <a:stretch>
                <a:fillRect l="0" t="0" r="0" b="0"/>
              </a:stretch>
            </a:blipFill>
          </p:spPr>
        </p:sp>
      </p:grpSp>
      <p:grpSp>
        <p:nvGrpSpPr>
          <p:cNvPr name="Group 31" id="31"/>
          <p:cNvGrpSpPr/>
          <p:nvPr/>
        </p:nvGrpSpPr>
        <p:grpSpPr>
          <a:xfrm rot="0">
            <a:off x="1280160" y="4187952"/>
            <a:ext cx="14447520" cy="1170432"/>
            <a:chOff x="0" y="0"/>
            <a:chExt cx="19263360" cy="1560576"/>
          </a:xfrm>
        </p:grpSpPr>
        <p:sp>
          <p:nvSpPr>
            <p:cNvPr name="Freeform 32" id="32"/>
            <p:cNvSpPr/>
            <p:nvPr/>
          </p:nvSpPr>
          <p:spPr>
            <a:xfrm flipH="false" flipV="false" rot="0">
              <a:off x="0" y="0"/>
              <a:ext cx="19263361" cy="1560576"/>
            </a:xfrm>
            <a:custGeom>
              <a:avLst/>
              <a:gdLst/>
              <a:ahLst/>
              <a:cxnLst/>
              <a:rect r="r" b="b" t="t" l="l"/>
              <a:pathLst>
                <a:path h="1560576" w="19263361">
                  <a:moveTo>
                    <a:pt x="0" y="0"/>
                  </a:moveTo>
                  <a:lnTo>
                    <a:pt x="19263361" y="0"/>
                  </a:lnTo>
                  <a:lnTo>
                    <a:pt x="19263361" y="1560576"/>
                  </a:lnTo>
                  <a:lnTo>
                    <a:pt x="0" y="1560576"/>
                  </a:lnTo>
                  <a:close/>
                </a:path>
              </a:pathLst>
            </a:custGeom>
            <a:blipFill>
              <a:blip r:embed="rId7">
                <a:alphaModFix amt="0"/>
              </a:blip>
              <a:stretch>
                <a:fillRect l="0" t="-190518" r="0" b="-190518"/>
              </a:stretch>
            </a:blipFill>
          </p:spPr>
        </p:sp>
        <p:sp>
          <p:nvSpPr>
            <p:cNvPr name="TextBox 33" id="33"/>
            <p:cNvSpPr txBox="true"/>
            <p:nvPr/>
          </p:nvSpPr>
          <p:spPr>
            <a:xfrm>
              <a:off x="0" y="-19050"/>
              <a:ext cx="19263360" cy="1579626"/>
            </a:xfrm>
            <a:prstGeom prst="rect">
              <a:avLst/>
            </a:prstGeom>
          </p:spPr>
          <p:txBody>
            <a:bodyPr anchor="ctr" rtlCol="false" tIns="0" lIns="0" bIns="0" rIns="0"/>
            <a:lstStyle/>
            <a:p>
              <a:pPr algn="r" rtl="true">
                <a:lnSpc>
                  <a:spcPts val="3359"/>
                </a:lnSpc>
              </a:pPr>
              <a:r>
                <a:rPr lang="ar-EG" sz="2799">
                  <a:solidFill>
                    <a:srgbClr val="3E2A1E"/>
                  </a:solidFill>
                  <a:latin typeface="Arial"/>
                  <a:ea typeface="Arial"/>
                  <a:cs typeface="Arial"/>
                  <a:sym typeface="Arial"/>
                  <a:rtl val="true"/>
                </a:rPr>
                <a:t>تطبيقات الهوية على اللوحات والأكشاك والمتاجر والجلسات والأكواب والتغليف والأكياس والملابس والمنتجات.</a:t>
              </a:r>
            </a:p>
          </p:txBody>
        </p:sp>
      </p:grpSp>
      <p:grpSp>
        <p:nvGrpSpPr>
          <p:cNvPr name="Group 34" id="34"/>
          <p:cNvGrpSpPr/>
          <p:nvPr/>
        </p:nvGrpSpPr>
        <p:grpSpPr>
          <a:xfrm rot="0">
            <a:off x="901703" y="5528567"/>
            <a:ext cx="16484603" cy="1195835"/>
            <a:chOff x="0" y="0"/>
            <a:chExt cx="21979471" cy="1594447"/>
          </a:xfrm>
        </p:grpSpPr>
        <p:sp>
          <p:nvSpPr>
            <p:cNvPr name="Freeform 35" id="35"/>
            <p:cNvSpPr/>
            <p:nvPr/>
          </p:nvSpPr>
          <p:spPr>
            <a:xfrm flipH="false" flipV="false" rot="0">
              <a:off x="0" y="0"/>
              <a:ext cx="21979510" cy="1594485"/>
            </a:xfrm>
            <a:custGeom>
              <a:avLst/>
              <a:gdLst/>
              <a:ahLst/>
              <a:cxnLst/>
              <a:rect r="r" b="b" t="t" l="l"/>
              <a:pathLst>
                <a:path h="1594485" w="21979510">
                  <a:moveTo>
                    <a:pt x="0" y="249174"/>
                  </a:moveTo>
                  <a:cubicBezTo>
                    <a:pt x="0" y="111506"/>
                    <a:pt x="111506" y="0"/>
                    <a:pt x="249174" y="0"/>
                  </a:cubicBezTo>
                  <a:lnTo>
                    <a:pt x="21730336" y="0"/>
                  </a:lnTo>
                  <a:cubicBezTo>
                    <a:pt x="21867876" y="0"/>
                    <a:pt x="21979510" y="111506"/>
                    <a:pt x="21979510" y="249174"/>
                  </a:cubicBezTo>
                  <a:lnTo>
                    <a:pt x="21979510" y="1345311"/>
                  </a:lnTo>
                  <a:cubicBezTo>
                    <a:pt x="21979510" y="1482852"/>
                    <a:pt x="21868003" y="1594485"/>
                    <a:pt x="21730336" y="1594485"/>
                  </a:cubicBezTo>
                  <a:lnTo>
                    <a:pt x="249174" y="1594485"/>
                  </a:lnTo>
                  <a:cubicBezTo>
                    <a:pt x="111506" y="1594485"/>
                    <a:pt x="0" y="1482852"/>
                    <a:pt x="0" y="1345311"/>
                  </a:cubicBezTo>
                  <a:close/>
                </a:path>
              </a:pathLst>
            </a:custGeom>
            <a:solidFill>
              <a:srgbClr val="F4EAD9"/>
            </a:solidFill>
            <a:ln w="25400" cap="sq">
              <a:solidFill>
                <a:srgbClr val="F4EAD9"/>
              </a:solidFill>
              <a:prstDash val="solid"/>
              <a:miter/>
            </a:ln>
          </p:spPr>
        </p:sp>
      </p:grpSp>
      <p:grpSp>
        <p:nvGrpSpPr>
          <p:cNvPr name="Group 36" id="36"/>
          <p:cNvGrpSpPr/>
          <p:nvPr/>
        </p:nvGrpSpPr>
        <p:grpSpPr>
          <a:xfrm rot="0">
            <a:off x="16080743" y="5748023"/>
            <a:ext cx="756923" cy="756923"/>
            <a:chOff x="0" y="0"/>
            <a:chExt cx="1009231" cy="1009231"/>
          </a:xfrm>
        </p:grpSpPr>
        <p:sp>
          <p:nvSpPr>
            <p:cNvPr name="Freeform 37" id="37"/>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A06F36"/>
            </a:solidFill>
            <a:ln w="25400" cap="sq">
              <a:solidFill>
                <a:srgbClr val="A06F36"/>
              </a:solidFill>
              <a:prstDash val="solid"/>
              <a:miter/>
            </a:ln>
          </p:spPr>
        </p:sp>
      </p:grpSp>
      <p:grpSp>
        <p:nvGrpSpPr>
          <p:cNvPr name="Group 38" id="38"/>
          <p:cNvGrpSpPr/>
          <p:nvPr/>
        </p:nvGrpSpPr>
        <p:grpSpPr>
          <a:xfrm rot="0">
            <a:off x="16239744" y="5907024"/>
            <a:ext cx="438912" cy="438912"/>
            <a:chOff x="0" y="0"/>
            <a:chExt cx="585216" cy="585216"/>
          </a:xfrm>
        </p:grpSpPr>
        <p:sp>
          <p:nvSpPr>
            <p:cNvPr name="Freeform 39" id="39"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10"/>
              <a:stretch>
                <a:fillRect l="0" t="0" r="0" b="0"/>
              </a:stretch>
            </a:blipFill>
          </p:spPr>
        </p:sp>
      </p:grpSp>
      <p:grpSp>
        <p:nvGrpSpPr>
          <p:cNvPr name="Group 40" id="40"/>
          <p:cNvGrpSpPr/>
          <p:nvPr/>
        </p:nvGrpSpPr>
        <p:grpSpPr>
          <a:xfrm rot="0">
            <a:off x="1280160" y="5541264"/>
            <a:ext cx="14447520" cy="1170432"/>
            <a:chOff x="0" y="0"/>
            <a:chExt cx="19263360" cy="1560576"/>
          </a:xfrm>
        </p:grpSpPr>
        <p:sp>
          <p:nvSpPr>
            <p:cNvPr name="Freeform 41" id="41"/>
            <p:cNvSpPr/>
            <p:nvPr/>
          </p:nvSpPr>
          <p:spPr>
            <a:xfrm flipH="false" flipV="false" rot="0">
              <a:off x="0" y="0"/>
              <a:ext cx="19263361" cy="1560576"/>
            </a:xfrm>
            <a:custGeom>
              <a:avLst/>
              <a:gdLst/>
              <a:ahLst/>
              <a:cxnLst/>
              <a:rect r="r" b="b" t="t" l="l"/>
              <a:pathLst>
                <a:path h="1560576" w="19263361">
                  <a:moveTo>
                    <a:pt x="0" y="0"/>
                  </a:moveTo>
                  <a:lnTo>
                    <a:pt x="19263361" y="0"/>
                  </a:lnTo>
                  <a:lnTo>
                    <a:pt x="19263361" y="1560576"/>
                  </a:lnTo>
                  <a:lnTo>
                    <a:pt x="0" y="1560576"/>
                  </a:lnTo>
                  <a:close/>
                </a:path>
              </a:pathLst>
            </a:custGeom>
            <a:blipFill>
              <a:blip r:embed="rId7">
                <a:alphaModFix amt="0"/>
              </a:blip>
              <a:stretch>
                <a:fillRect l="0" t="-190518" r="0" b="-190518"/>
              </a:stretch>
            </a:blipFill>
          </p:spPr>
        </p:sp>
        <p:sp>
          <p:nvSpPr>
            <p:cNvPr name="TextBox 42" id="42"/>
            <p:cNvSpPr txBox="true"/>
            <p:nvPr/>
          </p:nvSpPr>
          <p:spPr>
            <a:xfrm>
              <a:off x="0" y="-19050"/>
              <a:ext cx="19263360" cy="1579626"/>
            </a:xfrm>
            <a:prstGeom prst="rect">
              <a:avLst/>
            </a:prstGeom>
          </p:spPr>
          <p:txBody>
            <a:bodyPr anchor="ctr" rtlCol="false" tIns="0" lIns="0" bIns="0" rIns="0"/>
            <a:lstStyle/>
            <a:p>
              <a:pPr algn="r" rtl="true">
                <a:lnSpc>
                  <a:spcPts val="3359"/>
                </a:lnSpc>
              </a:pPr>
              <a:r>
                <a:rPr lang="ar-EG" sz="2799">
                  <a:solidFill>
                    <a:srgbClr val="3E2A1E"/>
                  </a:solidFill>
                  <a:latin typeface="Arial"/>
                  <a:ea typeface="Arial"/>
                  <a:cs typeface="Arial"/>
                  <a:sym typeface="Arial"/>
                  <a:rtl val="true"/>
                </a:rPr>
                <a:t>مخطط عام (</a:t>
              </a:r>
              <a:r>
                <a:rPr lang="en-US" sz="2799">
                  <a:solidFill>
                    <a:srgbClr val="3E2A1E"/>
                  </a:solidFill>
                  <a:latin typeface="Arial"/>
                  <a:ea typeface="Arial"/>
                  <a:cs typeface="Arial"/>
                  <a:sym typeface="Arial"/>
                </a:rPr>
                <a:t>Masterplan</a:t>
              </a:r>
              <a:r>
                <a:rPr lang="ar-EG" sz="2799">
                  <a:solidFill>
                    <a:srgbClr val="3E2A1E"/>
                  </a:solidFill>
                  <a:latin typeface="Arial"/>
                  <a:ea typeface="Arial"/>
                  <a:cs typeface="Arial"/>
                  <a:sym typeface="Arial"/>
                  <a:rtl val="true"/>
                </a:rPr>
                <a:t>) يوضح توزيع التجارب والخدمات والحركة التجارية.</a:t>
              </a:r>
            </a:p>
          </p:txBody>
        </p:sp>
      </p:grpSp>
      <p:grpSp>
        <p:nvGrpSpPr>
          <p:cNvPr name="Group 43" id="43"/>
          <p:cNvGrpSpPr/>
          <p:nvPr/>
        </p:nvGrpSpPr>
        <p:grpSpPr>
          <a:xfrm rot="0">
            <a:off x="901703" y="6881879"/>
            <a:ext cx="16484603" cy="1195835"/>
            <a:chOff x="0" y="0"/>
            <a:chExt cx="21979471" cy="1594447"/>
          </a:xfrm>
        </p:grpSpPr>
        <p:sp>
          <p:nvSpPr>
            <p:cNvPr name="Freeform 44" id="44"/>
            <p:cNvSpPr/>
            <p:nvPr/>
          </p:nvSpPr>
          <p:spPr>
            <a:xfrm flipH="false" flipV="false" rot="0">
              <a:off x="0" y="0"/>
              <a:ext cx="21979510" cy="1594485"/>
            </a:xfrm>
            <a:custGeom>
              <a:avLst/>
              <a:gdLst/>
              <a:ahLst/>
              <a:cxnLst/>
              <a:rect r="r" b="b" t="t" l="l"/>
              <a:pathLst>
                <a:path h="1594485" w="21979510">
                  <a:moveTo>
                    <a:pt x="0" y="249174"/>
                  </a:moveTo>
                  <a:cubicBezTo>
                    <a:pt x="0" y="111506"/>
                    <a:pt x="111506" y="0"/>
                    <a:pt x="249174" y="0"/>
                  </a:cubicBezTo>
                  <a:lnTo>
                    <a:pt x="21730336" y="0"/>
                  </a:lnTo>
                  <a:cubicBezTo>
                    <a:pt x="21867876" y="0"/>
                    <a:pt x="21979510" y="111506"/>
                    <a:pt x="21979510" y="249174"/>
                  </a:cubicBezTo>
                  <a:lnTo>
                    <a:pt x="21979510" y="1345311"/>
                  </a:lnTo>
                  <a:cubicBezTo>
                    <a:pt x="21979510" y="1482852"/>
                    <a:pt x="21868003" y="1594485"/>
                    <a:pt x="21730336" y="1594485"/>
                  </a:cubicBezTo>
                  <a:lnTo>
                    <a:pt x="249174" y="1594485"/>
                  </a:lnTo>
                  <a:cubicBezTo>
                    <a:pt x="111506" y="1594485"/>
                    <a:pt x="0" y="1482852"/>
                    <a:pt x="0" y="1345311"/>
                  </a:cubicBezTo>
                  <a:close/>
                </a:path>
              </a:pathLst>
            </a:custGeom>
            <a:solidFill>
              <a:srgbClr val="EADBC4"/>
            </a:solidFill>
            <a:ln w="25400" cap="sq">
              <a:solidFill>
                <a:srgbClr val="EADBC4"/>
              </a:solidFill>
              <a:prstDash val="solid"/>
              <a:miter/>
            </a:ln>
          </p:spPr>
        </p:sp>
      </p:grpSp>
      <p:grpSp>
        <p:nvGrpSpPr>
          <p:cNvPr name="Group 45" id="45"/>
          <p:cNvGrpSpPr/>
          <p:nvPr/>
        </p:nvGrpSpPr>
        <p:grpSpPr>
          <a:xfrm rot="0">
            <a:off x="16080743" y="7101335"/>
            <a:ext cx="756923" cy="756923"/>
            <a:chOff x="0" y="0"/>
            <a:chExt cx="1009231" cy="1009231"/>
          </a:xfrm>
        </p:grpSpPr>
        <p:sp>
          <p:nvSpPr>
            <p:cNvPr name="Freeform 46" id="46"/>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855F45"/>
            </a:solidFill>
            <a:ln w="25400" cap="sq">
              <a:solidFill>
                <a:srgbClr val="855F45"/>
              </a:solidFill>
              <a:prstDash val="solid"/>
              <a:miter/>
            </a:ln>
          </p:spPr>
        </p:sp>
      </p:grpSp>
      <p:grpSp>
        <p:nvGrpSpPr>
          <p:cNvPr name="Group 47" id="47"/>
          <p:cNvGrpSpPr/>
          <p:nvPr/>
        </p:nvGrpSpPr>
        <p:grpSpPr>
          <a:xfrm rot="0">
            <a:off x="16239744" y="7260336"/>
            <a:ext cx="438912" cy="438912"/>
            <a:chOff x="0" y="0"/>
            <a:chExt cx="585216" cy="585216"/>
          </a:xfrm>
        </p:grpSpPr>
        <p:sp>
          <p:nvSpPr>
            <p:cNvPr name="Freeform 48" id="48"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11"/>
              <a:stretch>
                <a:fillRect l="0" t="0" r="0" b="0"/>
              </a:stretch>
            </a:blipFill>
          </p:spPr>
        </p:sp>
      </p:grpSp>
      <p:grpSp>
        <p:nvGrpSpPr>
          <p:cNvPr name="Group 49" id="49"/>
          <p:cNvGrpSpPr/>
          <p:nvPr/>
        </p:nvGrpSpPr>
        <p:grpSpPr>
          <a:xfrm rot="0">
            <a:off x="1280160" y="6894576"/>
            <a:ext cx="14447520" cy="1170432"/>
            <a:chOff x="0" y="0"/>
            <a:chExt cx="19263360" cy="1560576"/>
          </a:xfrm>
        </p:grpSpPr>
        <p:sp>
          <p:nvSpPr>
            <p:cNvPr name="Freeform 50" id="50"/>
            <p:cNvSpPr/>
            <p:nvPr/>
          </p:nvSpPr>
          <p:spPr>
            <a:xfrm flipH="false" flipV="false" rot="0">
              <a:off x="0" y="0"/>
              <a:ext cx="19263361" cy="1560576"/>
            </a:xfrm>
            <a:custGeom>
              <a:avLst/>
              <a:gdLst/>
              <a:ahLst/>
              <a:cxnLst/>
              <a:rect r="r" b="b" t="t" l="l"/>
              <a:pathLst>
                <a:path h="1560576" w="19263361">
                  <a:moveTo>
                    <a:pt x="0" y="0"/>
                  </a:moveTo>
                  <a:lnTo>
                    <a:pt x="19263361" y="0"/>
                  </a:lnTo>
                  <a:lnTo>
                    <a:pt x="19263361" y="1560576"/>
                  </a:lnTo>
                  <a:lnTo>
                    <a:pt x="0" y="1560576"/>
                  </a:lnTo>
                  <a:close/>
                </a:path>
              </a:pathLst>
            </a:custGeom>
            <a:blipFill>
              <a:blip r:embed="rId7">
                <a:alphaModFix amt="0"/>
              </a:blip>
              <a:stretch>
                <a:fillRect l="0" t="-190518" r="0" b="-190518"/>
              </a:stretch>
            </a:blipFill>
          </p:spPr>
        </p:sp>
        <p:sp>
          <p:nvSpPr>
            <p:cNvPr name="TextBox 51" id="51"/>
            <p:cNvSpPr txBox="true"/>
            <p:nvPr/>
          </p:nvSpPr>
          <p:spPr>
            <a:xfrm>
              <a:off x="0" y="-19050"/>
              <a:ext cx="19263360" cy="1579626"/>
            </a:xfrm>
            <a:prstGeom prst="rect">
              <a:avLst/>
            </a:prstGeom>
          </p:spPr>
          <p:txBody>
            <a:bodyPr anchor="ctr" rtlCol="false" tIns="0" lIns="0" bIns="0" rIns="0"/>
            <a:lstStyle/>
            <a:p>
              <a:pPr algn="r" rtl="true">
                <a:lnSpc>
                  <a:spcPts val="3359"/>
                </a:lnSpc>
              </a:pPr>
              <a:r>
                <a:rPr lang="ar-EG" sz="2799">
                  <a:solidFill>
                    <a:srgbClr val="3E2A1E"/>
                  </a:solidFill>
                  <a:latin typeface="Arial"/>
                  <a:ea typeface="Arial"/>
                  <a:cs typeface="Arial"/>
                  <a:sym typeface="Arial"/>
                  <a:rtl val="true"/>
                </a:rPr>
                <a:t>تصورات ثلاثية الأبعاد (</a:t>
              </a:r>
              <a:r>
                <a:rPr lang="en-US" sz="2799">
                  <a:solidFill>
                    <a:srgbClr val="3E2A1E"/>
                  </a:solidFill>
                  <a:latin typeface="Arial"/>
                  <a:ea typeface="Arial"/>
                  <a:cs typeface="Arial"/>
                  <a:sym typeface="Arial"/>
                </a:rPr>
                <a:t>3D Visuals</a:t>
              </a:r>
              <a:r>
                <a:rPr lang="ar-EG" sz="2799">
                  <a:solidFill>
                    <a:srgbClr val="3E2A1E"/>
                  </a:solidFill>
                  <a:latin typeface="Arial"/>
                  <a:ea typeface="Arial"/>
                  <a:cs typeface="Arial"/>
                  <a:sym typeface="Arial"/>
                  <a:rtl val="true"/>
                </a:rPr>
                <a:t>) توضح شكل الموقع بعد التطوير.</a:t>
              </a:r>
            </a:p>
          </p:txBody>
        </p:sp>
      </p:grpSp>
      <p:grpSp>
        <p:nvGrpSpPr>
          <p:cNvPr name="Group 52" id="52"/>
          <p:cNvGrpSpPr/>
          <p:nvPr/>
        </p:nvGrpSpPr>
        <p:grpSpPr>
          <a:xfrm rot="0">
            <a:off x="901703" y="8235191"/>
            <a:ext cx="16484603" cy="1195835"/>
            <a:chOff x="0" y="0"/>
            <a:chExt cx="21979471" cy="1594447"/>
          </a:xfrm>
        </p:grpSpPr>
        <p:sp>
          <p:nvSpPr>
            <p:cNvPr name="Freeform 53" id="53"/>
            <p:cNvSpPr/>
            <p:nvPr/>
          </p:nvSpPr>
          <p:spPr>
            <a:xfrm flipH="false" flipV="false" rot="0">
              <a:off x="0" y="0"/>
              <a:ext cx="21979510" cy="1594485"/>
            </a:xfrm>
            <a:custGeom>
              <a:avLst/>
              <a:gdLst/>
              <a:ahLst/>
              <a:cxnLst/>
              <a:rect r="r" b="b" t="t" l="l"/>
              <a:pathLst>
                <a:path h="1594485" w="21979510">
                  <a:moveTo>
                    <a:pt x="0" y="249174"/>
                  </a:moveTo>
                  <a:cubicBezTo>
                    <a:pt x="0" y="111506"/>
                    <a:pt x="111506" y="0"/>
                    <a:pt x="249174" y="0"/>
                  </a:cubicBezTo>
                  <a:lnTo>
                    <a:pt x="21730336" y="0"/>
                  </a:lnTo>
                  <a:cubicBezTo>
                    <a:pt x="21867876" y="0"/>
                    <a:pt x="21979510" y="111506"/>
                    <a:pt x="21979510" y="249174"/>
                  </a:cubicBezTo>
                  <a:lnTo>
                    <a:pt x="21979510" y="1345311"/>
                  </a:lnTo>
                  <a:cubicBezTo>
                    <a:pt x="21979510" y="1482852"/>
                    <a:pt x="21868003" y="1594485"/>
                    <a:pt x="21730336" y="1594485"/>
                  </a:cubicBezTo>
                  <a:lnTo>
                    <a:pt x="249174" y="1594485"/>
                  </a:lnTo>
                  <a:cubicBezTo>
                    <a:pt x="111506" y="1594485"/>
                    <a:pt x="0" y="1482852"/>
                    <a:pt x="0" y="1345311"/>
                  </a:cubicBezTo>
                  <a:close/>
                </a:path>
              </a:pathLst>
            </a:custGeom>
            <a:solidFill>
              <a:srgbClr val="F0E4D2"/>
            </a:solidFill>
            <a:ln w="25400" cap="sq">
              <a:solidFill>
                <a:srgbClr val="F0E4D2"/>
              </a:solidFill>
              <a:prstDash val="solid"/>
              <a:miter/>
            </a:ln>
          </p:spPr>
        </p:sp>
      </p:grpSp>
      <p:grpSp>
        <p:nvGrpSpPr>
          <p:cNvPr name="Group 54" id="54"/>
          <p:cNvGrpSpPr/>
          <p:nvPr/>
        </p:nvGrpSpPr>
        <p:grpSpPr>
          <a:xfrm rot="0">
            <a:off x="16080743" y="8454647"/>
            <a:ext cx="756923" cy="756923"/>
            <a:chOff x="0" y="0"/>
            <a:chExt cx="1009231" cy="1009231"/>
          </a:xfrm>
        </p:grpSpPr>
        <p:sp>
          <p:nvSpPr>
            <p:cNvPr name="Freeform 55" id="55"/>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5C3D2A"/>
            </a:solidFill>
            <a:ln w="25400" cap="sq">
              <a:solidFill>
                <a:srgbClr val="5C3D2A"/>
              </a:solidFill>
              <a:prstDash val="solid"/>
              <a:miter/>
            </a:ln>
          </p:spPr>
        </p:sp>
      </p:grpSp>
      <p:grpSp>
        <p:nvGrpSpPr>
          <p:cNvPr name="Group 56" id="56"/>
          <p:cNvGrpSpPr/>
          <p:nvPr/>
        </p:nvGrpSpPr>
        <p:grpSpPr>
          <a:xfrm rot="0">
            <a:off x="16239744" y="8613648"/>
            <a:ext cx="438912" cy="438912"/>
            <a:chOff x="0" y="0"/>
            <a:chExt cx="585216" cy="585216"/>
          </a:xfrm>
        </p:grpSpPr>
        <p:sp>
          <p:nvSpPr>
            <p:cNvPr name="Freeform 57" id="57" descr="preencoded.png"/>
            <p:cNvSpPr/>
            <p:nvPr/>
          </p:nvSpPr>
          <p:spPr>
            <a:xfrm flipH="false" flipV="false" rot="0">
              <a:off x="0" y="0"/>
              <a:ext cx="585216" cy="585216"/>
            </a:xfrm>
            <a:custGeom>
              <a:avLst/>
              <a:gdLst/>
              <a:ahLst/>
              <a:cxnLst/>
              <a:rect r="r" b="b" t="t" l="l"/>
              <a:pathLst>
                <a:path h="585216" w="585216">
                  <a:moveTo>
                    <a:pt x="0" y="0"/>
                  </a:moveTo>
                  <a:lnTo>
                    <a:pt x="585216" y="0"/>
                  </a:lnTo>
                  <a:lnTo>
                    <a:pt x="585216" y="585216"/>
                  </a:lnTo>
                  <a:lnTo>
                    <a:pt x="0" y="585216"/>
                  </a:lnTo>
                  <a:lnTo>
                    <a:pt x="0" y="0"/>
                  </a:lnTo>
                  <a:close/>
                </a:path>
              </a:pathLst>
            </a:custGeom>
            <a:blipFill>
              <a:blip r:embed="rId12"/>
              <a:stretch>
                <a:fillRect l="0" t="0" r="0" b="0"/>
              </a:stretch>
            </a:blipFill>
          </p:spPr>
        </p:sp>
      </p:grpSp>
      <p:grpSp>
        <p:nvGrpSpPr>
          <p:cNvPr name="Group 58" id="58"/>
          <p:cNvGrpSpPr/>
          <p:nvPr/>
        </p:nvGrpSpPr>
        <p:grpSpPr>
          <a:xfrm rot="0">
            <a:off x="1280160" y="8247888"/>
            <a:ext cx="14447520" cy="1170432"/>
            <a:chOff x="0" y="0"/>
            <a:chExt cx="19263360" cy="1560576"/>
          </a:xfrm>
        </p:grpSpPr>
        <p:sp>
          <p:nvSpPr>
            <p:cNvPr name="Freeform 59" id="59"/>
            <p:cNvSpPr/>
            <p:nvPr/>
          </p:nvSpPr>
          <p:spPr>
            <a:xfrm flipH="false" flipV="false" rot="0">
              <a:off x="0" y="0"/>
              <a:ext cx="19263361" cy="1560576"/>
            </a:xfrm>
            <a:custGeom>
              <a:avLst/>
              <a:gdLst/>
              <a:ahLst/>
              <a:cxnLst/>
              <a:rect r="r" b="b" t="t" l="l"/>
              <a:pathLst>
                <a:path h="1560576" w="19263361">
                  <a:moveTo>
                    <a:pt x="0" y="0"/>
                  </a:moveTo>
                  <a:lnTo>
                    <a:pt x="19263361" y="0"/>
                  </a:lnTo>
                  <a:lnTo>
                    <a:pt x="19263361" y="1560576"/>
                  </a:lnTo>
                  <a:lnTo>
                    <a:pt x="0" y="1560576"/>
                  </a:lnTo>
                  <a:close/>
                </a:path>
              </a:pathLst>
            </a:custGeom>
            <a:blipFill>
              <a:blip r:embed="rId7">
                <a:alphaModFix amt="0"/>
              </a:blip>
              <a:stretch>
                <a:fillRect l="0" t="-190518" r="0" b="-190518"/>
              </a:stretch>
            </a:blipFill>
          </p:spPr>
        </p:sp>
        <p:sp>
          <p:nvSpPr>
            <p:cNvPr name="TextBox 60" id="60"/>
            <p:cNvSpPr txBox="true"/>
            <p:nvPr/>
          </p:nvSpPr>
          <p:spPr>
            <a:xfrm>
              <a:off x="0" y="-19050"/>
              <a:ext cx="19263360" cy="1579626"/>
            </a:xfrm>
            <a:prstGeom prst="rect">
              <a:avLst/>
            </a:prstGeom>
          </p:spPr>
          <p:txBody>
            <a:bodyPr anchor="ctr" rtlCol="false" tIns="0" lIns="0" bIns="0" rIns="0"/>
            <a:lstStyle/>
            <a:p>
              <a:pPr algn="r" rtl="true">
                <a:lnSpc>
                  <a:spcPts val="3359"/>
                </a:lnSpc>
              </a:pPr>
              <a:r>
                <a:rPr lang="ar-EG" sz="2799">
                  <a:solidFill>
                    <a:srgbClr val="3E2A1E"/>
                  </a:solidFill>
                  <a:latin typeface="Arial"/>
                  <a:ea typeface="Arial"/>
                  <a:cs typeface="Arial"/>
                  <a:sym typeface="Arial"/>
                  <a:rtl val="true"/>
                </a:rPr>
                <a:t>إبراز المرافق والتجارب القائمة والاستفادة منها قبل اقتراح إنشاءات جديدة.</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DAHZOY9WpdU</dc:identifier>
  <dcterms:modified xsi:type="dcterms:W3CDTF">2011-08-01T06:04:30Z</dcterms:modified>
  <cp:revision>1</cp:revision>
  <dc:title>Rewan_Presentation</dc:title>
</cp:coreProperties>
</file>